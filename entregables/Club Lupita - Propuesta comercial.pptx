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81fce544e94dad" /><Relationship Type="http://schemas.openxmlformats.org/officeDocument/2006/relationships/extended-properties" Target="/docProps/app.xml" Id="Rf45c0b15ae4d4aa0" /><Relationship Type="http://schemas.openxmlformats.org/officeDocument/2006/relationships/officeDocument" Target="/ppt/presentation.xml" Id="Rb72933ac21b64646" /></Relationships>
</file>

<file path=ppt/presentation.xml><?xml version="1.0" encoding="utf-8"?>
<p:presentation xmlns:p="http://schemas.openxmlformats.org/presentationml/2006/main">
  <p:sldMasterIdLst>
    <p:sldMasterId xmlns:r="http://schemas.openxmlformats.org/officeDocument/2006/relationships" id="2147483648" r:id="R61f1f8d2107144e6"/>
  </p:sldMasterIdLst>
  <p:notesMasterIdLst>
    <p:notesMasterId xmlns:r="http://schemas.openxmlformats.org/officeDocument/2006/relationships" r:id="R09d24ea87a8548da"/>
  </p:notesMasterIdLst>
  <p:sldIdLst>
    <p:sldId xmlns:r="http://schemas.openxmlformats.org/officeDocument/2006/relationships" id="256" r:id="R3f3c552fe7fd4f02"/>
    <p:sldId xmlns:r="http://schemas.openxmlformats.org/officeDocument/2006/relationships" id="257" r:id="Rbf7c21fa42be49a7"/>
  </p:sldIdLst>
  <p:sldSz cx="10058400" cy="7772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127df5042004d9d" /><Relationship Type="http://schemas.openxmlformats.org/officeDocument/2006/relationships/slideMaster" Target="/ppt/slideMasters/slideMaster1.xml" Id="R61f1f8d2107144e6" /><Relationship Type="http://schemas.openxmlformats.org/officeDocument/2006/relationships/notesMaster" Target="/ppt/notesMasters/notesMaster1.xml" Id="R09d24ea87a8548da" /><Relationship Type="http://schemas.openxmlformats.org/officeDocument/2006/relationships/presProps" Target="/ppt/presProps.xml" Id="Rce09f729a9a44ac2" /><Relationship Type="http://schemas.openxmlformats.org/officeDocument/2006/relationships/tableStyles" Target="/ppt/tableStyles.xml" Id="R3f192d942dc14a90" /><Relationship Type="http://schemas.openxmlformats.org/officeDocument/2006/relationships/slide" Target="/ppt/slides/slide1.xml" Id="R3f3c552fe7fd4f02" /><Relationship Type="http://schemas.openxmlformats.org/officeDocument/2006/relationships/slide" Target="/ppt/slides/slide2.xml" Id="Rbf7c21fa42be49a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f84b9e5d1940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12750fbb6a541ce" /><Relationship Type="http://schemas.openxmlformats.org/officeDocument/2006/relationships/notesMaster" Target="/ppt/notesMasters/notesMaster1.xml" Id="Rb838248236a340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999e9944014c23" /><Relationship Type="http://schemas.openxmlformats.org/officeDocument/2006/relationships/notesMaster" Target="/ppt/notesMasters/notesMaster1.xml" Id="Rf28b6f55243f42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PROPUESTA COMERCIAL</a:t>
            </a:r>
          </a:p>
          <a:p xmlns:a="http://schemas.openxmlformats.org/drawingml/2006/main">
            <a:r>
              <a:t>La app reúne la experiencia del socio y la operación del negocio. Los beneficios descritos son objetivos de diseño y operación, no resultados de ventas ya medidos.</a:t>
            </a:r>
          </a:p>
          <a:p xmlns:a="http://schemas.openxmlformats.org/drawingml/2006/main">
            <a:r>
              <a:t/>
            </a:r>
          </a:p>
          <a:p xmlns:a="http://schemas.openxmlformats.org/drawingml/2006/main">
            <a:r>
              <a:t>Alcance: registro y cuenta del socio; tarjeta digital; sellos nueve más una cortesía; puntos y niveles; retos y referidos con validación; monedero y bonos con recargas en caja; Mesa Fundadora con vigencia, renovaciones y control de beneficios; pedidos para retiro; reserva de café de la finca; cotización asistida de regalos por WhatsApp; reservas de mesas y Salón VIP; cupos para experiencias; preferencias y alergias; panel operativo y métricas de gestión.</a:t>
            </a:r>
          </a:p>
          <a:p xmlns:a="http://schemas.openxmlformats.org/drawingml/2006/main">
            <a:r>
              <a:t/>
            </a:r>
          </a:p>
          <a:p xmlns:a="http://schemas.openxmlformats.org/drawingml/2006/main">
            <a:r>
              <a:t>Fuentes internas: PRD.txt; club-lupita/SPEC.md, apartados 1, 5–8 y 12; club-lupita/src/casa/App.tsx; club-lupita/src/worker/index.ts; club-lupita/db/001_schema.sql. La bitácora de desarrollo registra funciones todavía pendientes de completar. La propuesta comprende creación e implementación del alcance descrito y no certifica que todo esté terminado hoy. Las reglas comerciales se confirman durante la definición del proyecto.</a:t>
            </a:r>
          </a:p>
          <a:p xmlns:a="http://schemas.openxmlformats.org/drawingml/2006/main">
            <a:r>
              <a:t/>
            </a:r>
          </a:p>
          <a:p xmlns:a="http://schemas.openxmlformats.org/drawingml/2006/main">
            <a:r>
              <a:t>Imagen original del proyecto: club-lupita/public/images/latte-logo-mesa-960.webp. No se usan como evidencia de resultados las cifras de demostración de las pantallas.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DESGLOSE COMERCIAL PROPUESTO</a:t>
            </a:r>
          </a:p>
          <a:p xmlns:a="http://schemas.openxmlformats.org/drawingml/2006/main">
            <a:r>
              <a:t>El usuario fijó el precio objetivo de creación e implementación en US$15,000. La distribución por rubro es una propuesta comercial elaborada para explicar el alcance. No representa horas ejecutadas, cotizaciones externas ni una valoración de mercado. Suma comprobada: 1,500 + 2,000 + 4,000 + 4,000 + 2,000 + 1,500 = US$15,000.</a:t>
            </a:r>
          </a:p>
          <a:p xmlns:a="http://schemas.openxmlformats.org/drawingml/2006/main">
            <a:r>
              <a:t/>
            </a:r>
          </a:p>
          <a:p xmlns:a="http://schemas.openxmlformats.org/drawingml/2006/main">
            <a:r>
              <a:t>1. Estrategia y reglas: confirmar cuota y beneficios de la membresía, condiciones de canje, devoluciones y depósitos, catálogo, aforos, responsables de caja y criterios de entrega.</a:t>
            </a:r>
          </a:p>
          <a:p xmlns:a="http://schemas.openxmlformats.org/drawingml/2006/main">
            <a:r>
              <a:t>2. Diseño: adaptar la identidad de La Bella Lupita, detallar pantallas y estados, redactar textos, revisar navegación y accesibilidad.</a:t>
            </a:r>
          </a:p>
          <a:p xmlns:a="http://schemas.openxmlformats.org/drawingml/2006/main">
            <a:r>
              <a:t>3. App del socio: integrar los módulos descritos en la diapositiva anterior, completar las funciones pendientes y conectar las pantallas con los datos operativos.</a:t>
            </a:r>
          </a:p>
          <a:p xmlns:a="http://schemas.openxmlformats.org/drawingml/2006/main">
            <a:r>
              <a:t>4. Motor y panel: modelo de datos, API, autenticación, permisos del equipo, gestión de socios y transacciones, historial de movimientos, reportes e indicadores. Controles para evitar cargos repetidos, canjes duplicados y sobreventa de cupos. Implementar vigencia y renovación de membresías con el modelo de recarga en caja.</a:t>
            </a:r>
          </a:p>
          <a:p xmlns:a="http://schemas.openxmlformats.org/drawingml/2006/main">
            <a:r>
              <a:t>5. Pruebas: revisar recorridos completos, permisos, errores y recuperación, compatibilidad móvil, integridad de saldos, concurrencia de reservas y aceptación del negocio.</a:t>
            </a:r>
          </a:p>
          <a:p xmlns:a="http://schemas.openxmlformats.org/drawingml/2006/main">
            <a:r>
              <a:t>6. Implementación: configurar entornos y despliegue, cargar contenido inicial aprobado, preparar manuales de uso, capacitar al personal y acompañar el arranque.</a:t>
            </a:r>
          </a:p>
          <a:p xmlns:a="http://schemas.openxmlformats.org/drawingml/2006/main">
            <a:r>
              <a:t/>
            </a:r>
          </a:p>
          <a:p xmlns:a="http://schemas.openxmlformats.org/drawingml/2006/main">
            <a:r>
              <a:t>Los costos operativos recurrentes de nube y servicios externos, comisiones, mensajería y mantenimiento continuo no forman parte del pago por creación e implementación. Se trata de una aplicación web móvil, no de publicación nativa en App Store o Google Play. La recarga se registra desde caja. El alcance no presupone una pasarela de pago por Internet ni una integración con el POS existente. Forma de pago, fechas, duración del acompañamiento e impuestos se acuerdan en la contratación.</a:t>
            </a:r>
          </a:p>
          <a:p xmlns:a="http://schemas.openxmlformats.org/drawingml/2006/main">
            <a:r>
              <a:t/>
            </a:r>
          </a:p>
          <a:p xmlns:a="http://schemas.openxmlformats.org/drawingml/2006/main">
            <a:r>
              <a:t>Fuentes de alcance: PRD.txt; club-lupita/SPEC.md; club-lupita/BITACORA.md; club-lupita/src/worker/index.ts; club-lupita/db/001_schema.sql. El precio total proviene de la instrucción del usuario.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9a8ddc7f8e4f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e13f801d404117" /><Relationship Type="http://schemas.openxmlformats.org/officeDocument/2006/relationships/slideLayout" Target="/ppt/slideLayouts/slideLayout1.xml" Id="R233fc8a9007648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3fc8a9007648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503956a3944650" /><Relationship Type="http://schemas.openxmlformats.org/officeDocument/2006/relationships/image" Target="/ppt/media/image.png" Id="Rc77d26941b454011" /><Relationship Type="http://schemas.openxmlformats.org/officeDocument/2006/relationships/notesSlide" Target="/ppt/notesSlides/notesSlide1.xml" Id="Rf7b0266b608d4f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144f96ea8ed47d8" /><Relationship Type="http://schemas.openxmlformats.org/officeDocument/2006/relationships/notesSlide" Target="/ppt/notesSlides/notesSlide2.xml" Id="R19e5e47071d64828" /></Relationships>
</file>

<file path=ppt/slides/slide1.xml><?xml version="1.0" encoding="utf-8"?>
<p:sld xmlns:p="http://schemas.openxmlformats.org/presentationml/2006/main">
  <p:cSld>
    <p:bg>
      <p:bgPr>
        <a:solidFill xmlns:a="http://schemas.openxmlformats.org/drawingml/2006/main">
          <a:srgbClr val="F8F3E7"/>
        </a:solidFill>
      </p:bgPr>
    </p:bg>
    <p:spTree>
      <p:nvGrpSpPr>
        <p:cNvPr id="1" name=""/>
        <p:cNvGrpSpPr/>
        <p:nvPr/>
      </p:nvGrpSpPr>
      <p:grpSpPr>
        <a:xfrm xmlns:a="http://schemas.openxmlformats.org/drawingml/2006/main"/>
      </p:grpSpPr>
      <p:sp>
        <p:nvSpPr>
          <p:cNvPr id="20" name="proposal-label">
            <a:extLst xmlns:a="http://schemas.openxmlformats.org/drawingml/2006/main">
              <a:ext uri="{FF2B5EF4-FFF2-40B4-BE49-F238E27FC236}">
                <a16:creationId xmlns:a16="http://schemas.microsoft.com/office/drawing/2014/main" id="{BAC88B1C-A7A1-47B8-9A74-39142899797F}"/>
              </a:ext>
            </a:extLst>
          </p:cNvPr>
          <p:cNvSpPr>
            <a:spLocks xmlns:a="http://schemas.openxmlformats.org/drawingml/2006/main" noGrp="1"/>
          </p:cNvSpPr>
          <p:nvPr/>
        </p:nvSpPr>
        <p:spPr>
          <a:xfrm xmlns:a="http://schemas.openxmlformats.org/drawingml/2006/main">
            <a:off x="457200" y="3619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1D4632"/>
                </a:solidFill>
                <a:latin typeface="Arial"/>
                <a:ea typeface="Arial"/>
                <a:cs typeface="Arial"/>
              </a:defRPr>
            </a:pPr>
            <a:r>
              <a:rPr sz="1125" b="1">
                <a:solidFill>
                  <a:srgbClr val="1D4632"/>
                </a:solidFill>
                <a:latin typeface="Arial"/>
                <a:ea typeface="Arial"/>
                <a:cs typeface="Arial"/>
              </a:rPr>
              <a:t>PROPUESTA DE CREACIÓN E IMPLEMENTACIÓN</a:t>
            </a:r>
          </a:p>
        </p:txBody>
      </p:sp>
      <p:sp>
        <p:nvSpPr>
          <p:cNvPr id="2" name="product-title">
            <a:extLst xmlns:a="http://schemas.openxmlformats.org/drawingml/2006/main">
              <a:ext uri="{FF2B5EF4-FFF2-40B4-BE49-F238E27FC236}">
                <a16:creationId xmlns:a16="http://schemas.microsoft.com/office/drawing/2014/main" id="{31538BE6-0CD7-4F9F-A2B7-647A64D1C13C}"/>
              </a:ext>
            </a:extLst>
          </p:cNvPr>
          <p:cNvSpPr>
            <a:spLocks xmlns:a="http://schemas.openxmlformats.org/drawingml/2006/main" noGrp="1"/>
          </p:cNvSpPr>
          <p:nvPr/>
        </p:nvSpPr>
        <p:spPr>
          <a:xfrm xmlns:a="http://schemas.openxmlformats.org/drawingml/2006/main">
            <a:off x="457200" y="695325"/>
            <a:ext cx="914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500">
                <a:solidFill>
                  <a:srgbClr val="1D4632"/>
                </a:solidFill>
                <a:latin typeface="Georgia"/>
                <a:ea typeface="Georgia"/>
                <a:cs typeface="Georgia"/>
              </a:defRPr>
            </a:pPr>
            <a:r>
              <a:rPr sz="4500">
                <a:solidFill>
                  <a:srgbClr val="1D4632"/>
                </a:solidFill>
                <a:latin typeface="Georgia"/>
                <a:ea typeface="Georgia"/>
                <a:cs typeface="Georgia"/>
              </a:rPr>
              <a:t>Club Lupita</a:t>
            </a:r>
          </a:p>
        </p:txBody>
      </p:sp>
      <p:sp>
        <p:nvSpPr>
          <p:cNvPr id="3" name="value-subtitle">
            <a:extLst xmlns:a="http://schemas.openxmlformats.org/drawingml/2006/main">
              <a:ext uri="{FF2B5EF4-FFF2-40B4-BE49-F238E27FC236}">
                <a16:creationId xmlns:a16="http://schemas.microsoft.com/office/drawing/2014/main" id="{C666EBE9-D30B-47C9-84A2-E4A627F182C6}"/>
              </a:ext>
            </a:extLst>
          </p:cNvPr>
          <p:cNvSpPr>
            <a:spLocks xmlns:a="http://schemas.openxmlformats.org/drawingml/2006/main" noGrp="1"/>
          </p:cNvSpPr>
          <p:nvPr/>
        </p:nvSpPr>
        <p:spPr>
          <a:xfrm xmlns:a="http://schemas.openxmlformats.org/drawingml/2006/main">
            <a:off x="457200" y="1428750"/>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6120F"/>
                </a:solidFill>
                <a:latin typeface="Arial"/>
                <a:ea typeface="Arial"/>
                <a:cs typeface="Arial"/>
              </a:defRPr>
            </a:pPr>
            <a:r>
              <a:rPr sz="2250">
                <a:solidFill>
                  <a:srgbClr val="16120F"/>
                </a:solidFill>
                <a:latin typeface="Arial"/>
                <a:ea typeface="Arial"/>
                <a:cs typeface="Arial"/>
              </a:rPr>
              <a:t>Valor para La Bella Lupita</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77d26941b454011"/>
          <a:srcRect xmlns:a="http://schemas.openxmlformats.org/drawingml/2006/main" l="6291" t="0" r="6291" b="0"/>
          <a:stretch xmlns:a="http://schemas.openxmlformats.org/drawingml/2006/main">
            <a:fillRect l="0" t="0" r="0" b="0"/>
          </a:stretch>
        </p:blipFill>
        <p:spPr>
          <a:xfrm xmlns:a="http://schemas.openxmlformats.org/drawingml/2006/main">
            <a:off x="457200" y="2152650"/>
            <a:ext cx="2514600" cy="2876550"/>
          </a:xfrm>
          <a:prstGeom xmlns:a="http://schemas.openxmlformats.org/drawingml/2006/main" prst="rect">
            <a:avLst/>
          </a:prstGeom>
        </p:spPr>
      </p:pic>
      <p:sp>
        <p:nvSpPr>
          <p:cNvPr id="5" name="business-summary">
            <a:extLst xmlns:a="http://schemas.openxmlformats.org/drawingml/2006/main">
              <a:ext uri="{FF2B5EF4-FFF2-40B4-BE49-F238E27FC236}">
                <a16:creationId xmlns:a16="http://schemas.microsoft.com/office/drawing/2014/main" id="{624E1FB5-138C-4D0D-8652-6DB5A02C1C0A}"/>
              </a:ext>
            </a:extLst>
          </p:cNvPr>
          <p:cNvSpPr>
            <a:spLocks xmlns:a="http://schemas.openxmlformats.org/drawingml/2006/main" noGrp="1"/>
          </p:cNvSpPr>
          <p:nvPr/>
        </p:nvSpPr>
        <p:spPr>
          <a:xfrm xmlns:a="http://schemas.openxmlformats.org/drawingml/2006/main">
            <a:off x="457200" y="5257800"/>
            <a:ext cx="2552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a:solidFill>
                  <a:srgbClr val="1D4632"/>
                </a:solidFill>
                <a:latin typeface="Georgia"/>
                <a:ea typeface="Georgia"/>
                <a:cs typeface="Georgia"/>
              </a:defRPr>
            </a:pPr>
            <a:r>
              <a:rPr sz="2250">
                <a:solidFill>
                  <a:srgbClr val="1D4632"/>
                </a:solidFill>
                <a:latin typeface="Georgia"/>
                <a:ea typeface="Georgia"/>
                <a:cs typeface="Georgia"/>
              </a:rPr>
              <a:t>Cada visita puede</a:t>
            </a:r>
          </a:p>
          <a:p xmlns:a="http://schemas.openxmlformats.org/drawingml/2006/main">
            <a:pPr>
              <a:defRPr sz="2250">
                <a:solidFill>
                  <a:srgbClr val="1D4632"/>
                </a:solidFill>
                <a:latin typeface="Georgia"/>
                <a:ea typeface="Georgia"/>
                <a:cs typeface="Georgia"/>
              </a:defRPr>
            </a:pPr>
            <a:r>
              <a:rPr sz="2250">
                <a:solidFill>
                  <a:srgbClr val="1D4632"/>
                </a:solidFill>
                <a:latin typeface="Georgia"/>
                <a:ea typeface="Georgia"/>
                <a:cs typeface="Georgia"/>
              </a:rPr>
              <a:t>convertirse en una</a:t>
            </a:r>
          </a:p>
          <a:p xmlns:a="http://schemas.openxmlformats.org/drawingml/2006/main">
            <a:pPr>
              <a:defRPr sz="2250">
                <a:solidFill>
                  <a:srgbClr val="1D4632"/>
                </a:solidFill>
                <a:latin typeface="Georgia"/>
                <a:ea typeface="Georgia"/>
                <a:cs typeface="Georgia"/>
              </a:defRPr>
            </a:pPr>
            <a:r>
              <a:rPr sz="2250">
                <a:solidFill>
                  <a:srgbClr val="1D4632"/>
                </a:solidFill>
                <a:latin typeface="Georgia"/>
                <a:ea typeface="Georgia"/>
                <a:cs typeface="Georgia"/>
              </a:rPr>
              <a:t>relación duradera</a:t>
            </a:r>
          </a:p>
        </p:txBody>
      </p:sp>
      <p:sp>
        <p:nvSpPr>
          <p:cNvPr id="6" name="product-surface">
            <a:extLst xmlns:a="http://schemas.openxmlformats.org/drawingml/2006/main">
              <a:ext uri="{FF2B5EF4-FFF2-40B4-BE49-F238E27FC236}">
                <a16:creationId xmlns:a16="http://schemas.microsoft.com/office/drawing/2014/main" id="{A409421E-8F00-42B0-9807-AF1A2D82BEED}"/>
              </a:ext>
            </a:extLst>
          </p:cNvPr>
          <p:cNvSpPr>
            <a:spLocks xmlns:a="http://schemas.openxmlformats.org/drawingml/2006/main" noGrp="1"/>
          </p:cNvSpPr>
          <p:nvPr/>
        </p:nvSpPr>
        <p:spPr>
          <a:xfrm xmlns:a="http://schemas.openxmlformats.org/drawingml/2006/main">
            <a:off x="457200" y="6648450"/>
            <a:ext cx="257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C5347"/>
                </a:solidFill>
                <a:latin typeface="Arial"/>
                <a:ea typeface="Arial"/>
                <a:cs typeface="Arial"/>
              </a:defRPr>
            </a:pPr>
            <a:r>
              <a:rPr sz="1650">
                <a:solidFill>
                  <a:srgbClr val="5C5347"/>
                </a:solidFill>
                <a:latin typeface="Arial"/>
                <a:ea typeface="Arial"/>
                <a:cs typeface="Arial"/>
              </a:rPr>
              <a:t>App web para socios</a:t>
            </a:r>
          </a:p>
          <a:p xmlns:a="http://schemas.openxmlformats.org/drawingml/2006/main">
            <a:pPr>
              <a:defRPr sz="1650">
                <a:solidFill>
                  <a:srgbClr val="5C5347"/>
                </a:solidFill>
                <a:latin typeface="Arial"/>
                <a:ea typeface="Arial"/>
                <a:cs typeface="Arial"/>
              </a:defRPr>
            </a:pPr>
            <a:r>
              <a:rPr sz="1650">
                <a:solidFill>
                  <a:srgbClr val="5C5347"/>
                </a:solidFill>
                <a:latin typeface="Arial"/>
                <a:ea typeface="Arial"/>
                <a:cs typeface="Arial"/>
              </a:rPr>
              <a:t>y panel para el negocio</a:t>
            </a:r>
          </a:p>
        </p:txBody>
      </p:sp>
      <p:sp>
        <p:nvSpPr>
          <p:cNvPr id="7" name="value-1-title">
            <a:extLst xmlns:a="http://schemas.openxmlformats.org/drawingml/2006/main">
              <a:ext uri="{FF2B5EF4-FFF2-40B4-BE49-F238E27FC236}">
                <a16:creationId xmlns:a16="http://schemas.microsoft.com/office/drawing/2014/main" id="{39E6AA0B-55CD-4A0A-973E-5C3380F93418}"/>
              </a:ext>
            </a:extLst>
          </p:cNvPr>
          <p:cNvSpPr>
            <a:spLocks xmlns:a="http://schemas.openxmlformats.org/drawingml/2006/main" noGrp="1"/>
          </p:cNvSpPr>
          <p:nvPr/>
        </p:nvSpPr>
        <p:spPr>
          <a:xfrm xmlns:a="http://schemas.openxmlformats.org/drawingml/2006/main">
            <a:off x="3390900" y="2095500"/>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Clientes que vuelven</a:t>
            </a:r>
          </a:p>
        </p:txBody>
      </p:sp>
      <p:sp>
        <p:nvSpPr>
          <p:cNvPr id="8" name="value-1-body">
            <a:extLst xmlns:a="http://schemas.openxmlformats.org/drawingml/2006/main">
              <a:ext uri="{FF2B5EF4-FFF2-40B4-BE49-F238E27FC236}">
                <a16:creationId xmlns:a16="http://schemas.microsoft.com/office/drawing/2014/main" id="{B35757E5-2229-4674-BB0F-541643AAFA2D}"/>
              </a:ext>
            </a:extLst>
          </p:cNvPr>
          <p:cNvSpPr>
            <a:spLocks xmlns:a="http://schemas.openxmlformats.org/drawingml/2006/main" noGrp="1"/>
          </p:cNvSpPr>
          <p:nvPr/>
        </p:nvSpPr>
        <p:spPr>
          <a:xfrm xmlns:a="http://schemas.openxmlformats.org/drawingml/2006/main">
            <a:off x="3390900" y="2419350"/>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Sellos 9+1, puntos y niveles, retos y referidos para dar motivos concretos de regresar.</a:t>
            </a:r>
          </a:p>
        </p:txBody>
      </p:sp>
      <p:sp>
        <p:nvSpPr>
          <p:cNvPr id="9" name="value-2-title">
            <a:extLst xmlns:a="http://schemas.openxmlformats.org/drawingml/2006/main">
              <a:ext uri="{FF2B5EF4-FFF2-40B4-BE49-F238E27FC236}">
                <a16:creationId xmlns:a16="http://schemas.microsoft.com/office/drawing/2014/main" id="{46666592-5829-412C-85B9-69BD95A1A2D6}"/>
              </a:ext>
            </a:extLst>
          </p:cNvPr>
          <p:cNvSpPr>
            <a:spLocks xmlns:a="http://schemas.openxmlformats.org/drawingml/2006/main" noGrp="1"/>
          </p:cNvSpPr>
          <p:nvPr/>
        </p:nvSpPr>
        <p:spPr>
          <a:xfrm xmlns:a="http://schemas.openxmlformats.org/drawingml/2006/main">
            <a:off x="3390900" y="2962275"/>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Prepago y membresía</a:t>
            </a:r>
          </a:p>
        </p:txBody>
      </p:sp>
      <p:sp>
        <p:nvSpPr>
          <p:cNvPr id="10" name="value-2-body">
            <a:extLst xmlns:a="http://schemas.openxmlformats.org/drawingml/2006/main">
              <a:ext uri="{FF2B5EF4-FFF2-40B4-BE49-F238E27FC236}">
                <a16:creationId xmlns:a16="http://schemas.microsoft.com/office/drawing/2014/main" id="{BC1C778B-E818-4268-8DC1-213AAE06F14C}"/>
              </a:ext>
            </a:extLst>
          </p:cNvPr>
          <p:cNvSpPr>
            <a:spLocks xmlns:a="http://schemas.openxmlformats.org/drawingml/2006/main" noGrp="1"/>
          </p:cNvSpPr>
          <p:nvPr/>
        </p:nvSpPr>
        <p:spPr>
          <a:xfrm xmlns:a="http://schemas.openxmlformats.org/drawingml/2006/main">
            <a:off x="3390900" y="3286125"/>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Monedero con bonos y Mesa Fundadora con beneficios y bolsa mensual para anticipar consumo.</a:t>
            </a:r>
          </a:p>
        </p:txBody>
      </p:sp>
      <p:sp>
        <p:nvSpPr>
          <p:cNvPr id="11" name="value-3-title">
            <a:extLst xmlns:a="http://schemas.openxmlformats.org/drawingml/2006/main">
              <a:ext uri="{FF2B5EF4-FFF2-40B4-BE49-F238E27FC236}">
                <a16:creationId xmlns:a16="http://schemas.microsoft.com/office/drawing/2014/main" id="{66A1E3D9-52DC-4982-8C6B-AEFF622AE76A}"/>
              </a:ext>
            </a:extLst>
          </p:cNvPr>
          <p:cNvSpPr>
            <a:spLocks xmlns:a="http://schemas.openxmlformats.org/drawingml/2006/main" noGrp="1"/>
          </p:cNvSpPr>
          <p:nvPr/>
        </p:nvSpPr>
        <p:spPr>
          <a:xfrm xmlns:a="http://schemas.openxmlformats.org/drawingml/2006/main">
            <a:off x="3390900" y="3829050"/>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Venta desde el celular</a:t>
            </a:r>
          </a:p>
        </p:txBody>
      </p:sp>
      <p:sp>
        <p:nvSpPr>
          <p:cNvPr id="12" name="value-3-body">
            <a:extLst xmlns:a="http://schemas.openxmlformats.org/drawingml/2006/main">
              <a:ext uri="{FF2B5EF4-FFF2-40B4-BE49-F238E27FC236}">
                <a16:creationId xmlns:a16="http://schemas.microsoft.com/office/drawing/2014/main" id="{3DD2741F-0967-4670-A838-E5E4D544A276}"/>
              </a:ext>
            </a:extLst>
          </p:cNvPr>
          <p:cNvSpPr>
            <a:spLocks xmlns:a="http://schemas.openxmlformats.org/drawingml/2006/main" noGrp="1"/>
          </p:cNvSpPr>
          <p:nvPr/>
        </p:nvSpPr>
        <p:spPr>
          <a:xfrm xmlns:a="http://schemas.openxmlformats.org/drawingml/2006/main">
            <a:off x="3390900" y="4152900"/>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Menú con fotos, pedidos para llevar y lotes de café con origen. Kits corporativos por WhatsApp.</a:t>
            </a:r>
          </a:p>
        </p:txBody>
      </p:sp>
      <p:sp>
        <p:nvSpPr>
          <p:cNvPr id="13" name="value-4-title">
            <a:extLst xmlns:a="http://schemas.openxmlformats.org/drawingml/2006/main">
              <a:ext uri="{FF2B5EF4-FFF2-40B4-BE49-F238E27FC236}">
                <a16:creationId xmlns:a16="http://schemas.microsoft.com/office/drawing/2014/main" id="{B2CB1DC0-F540-48E4-B189-FB33E54A61BD}"/>
              </a:ext>
            </a:extLst>
          </p:cNvPr>
          <p:cNvSpPr>
            <a:spLocks xmlns:a="http://schemas.openxmlformats.org/drawingml/2006/main" noGrp="1"/>
          </p:cNvSpPr>
          <p:nvPr/>
        </p:nvSpPr>
        <p:spPr>
          <a:xfrm xmlns:a="http://schemas.openxmlformats.org/drawingml/2006/main">
            <a:off x="3390900" y="4695825"/>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Reservas y experiencias</a:t>
            </a:r>
          </a:p>
        </p:txBody>
      </p:sp>
      <p:sp>
        <p:nvSpPr>
          <p:cNvPr id="14" name="value-4-body">
            <a:extLst xmlns:a="http://schemas.openxmlformats.org/drawingml/2006/main">
              <a:ext uri="{FF2B5EF4-FFF2-40B4-BE49-F238E27FC236}">
                <a16:creationId xmlns:a16="http://schemas.microsoft.com/office/drawing/2014/main" id="{15C0ADDD-74E3-4D03-B244-9B454C01E737}"/>
              </a:ext>
            </a:extLst>
          </p:cNvPr>
          <p:cNvSpPr>
            <a:spLocks xmlns:a="http://schemas.openxmlformats.org/drawingml/2006/main" noGrp="1"/>
          </p:cNvSpPr>
          <p:nvPr/>
        </p:nvSpPr>
        <p:spPr>
          <a:xfrm xmlns:a="http://schemas.openxmlformats.org/drawingml/2006/main">
            <a:off x="3390900" y="5019675"/>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Mesas, Salón VIP y catas con horarios, cupos y depósitos para organizar mejor la ocupación.</a:t>
            </a:r>
          </a:p>
        </p:txBody>
      </p:sp>
      <p:sp>
        <p:nvSpPr>
          <p:cNvPr id="15" name="value-5-title">
            <a:extLst xmlns:a="http://schemas.openxmlformats.org/drawingml/2006/main">
              <a:ext uri="{FF2B5EF4-FFF2-40B4-BE49-F238E27FC236}">
                <a16:creationId xmlns:a16="http://schemas.microsoft.com/office/drawing/2014/main" id="{0E4716BD-9651-4F48-A35F-773A694924DB}"/>
              </a:ext>
            </a:extLst>
          </p:cNvPr>
          <p:cNvSpPr>
            <a:spLocks xmlns:a="http://schemas.openxmlformats.org/drawingml/2006/main" noGrp="1"/>
          </p:cNvSpPr>
          <p:nvPr/>
        </p:nvSpPr>
        <p:spPr>
          <a:xfrm xmlns:a="http://schemas.openxmlformats.org/drawingml/2006/main">
            <a:off x="3390900" y="5562600"/>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Atención personalizada</a:t>
            </a:r>
          </a:p>
        </p:txBody>
      </p:sp>
      <p:sp>
        <p:nvSpPr>
          <p:cNvPr id="16" name="value-5-body">
            <a:extLst xmlns:a="http://schemas.openxmlformats.org/drawingml/2006/main">
              <a:ext uri="{FF2B5EF4-FFF2-40B4-BE49-F238E27FC236}">
                <a16:creationId xmlns:a16="http://schemas.microsoft.com/office/drawing/2014/main" id="{E15469DF-685F-4D20-83C8-B60D2257F53F}"/>
              </a:ext>
            </a:extLst>
          </p:cNvPr>
          <p:cNvSpPr>
            <a:spLocks xmlns:a="http://schemas.openxmlformats.org/drawingml/2006/main" noGrp="1"/>
          </p:cNvSpPr>
          <p:nvPr/>
        </p:nvSpPr>
        <p:spPr>
          <a:xfrm xmlns:a="http://schemas.openxmlformats.org/drawingml/2006/main">
            <a:off x="3390900" y="5886450"/>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Perfil, preferencias, alergias e historial del socio para que el equipo reconozca a cada cliente.</a:t>
            </a:r>
          </a:p>
        </p:txBody>
      </p:sp>
      <p:sp>
        <p:nvSpPr>
          <p:cNvPr id="17" name="value-6-title">
            <a:extLst xmlns:a="http://schemas.openxmlformats.org/drawingml/2006/main">
              <a:ext uri="{FF2B5EF4-FFF2-40B4-BE49-F238E27FC236}">
                <a16:creationId xmlns:a16="http://schemas.microsoft.com/office/drawing/2014/main" id="{32B482FC-DFAD-4B18-A255-1D6FBC4E631C}"/>
              </a:ext>
            </a:extLst>
          </p:cNvPr>
          <p:cNvSpPr>
            <a:spLocks xmlns:a="http://schemas.openxmlformats.org/drawingml/2006/main" noGrp="1"/>
          </p:cNvSpPr>
          <p:nvPr/>
        </p:nvSpPr>
        <p:spPr>
          <a:xfrm xmlns:a="http://schemas.openxmlformats.org/drawingml/2006/main">
            <a:off x="3390900" y="6429375"/>
            <a:ext cx="6210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D4632"/>
                </a:solidFill>
                <a:latin typeface="Arial"/>
                <a:ea typeface="Arial"/>
                <a:cs typeface="Arial"/>
              </a:defRPr>
            </a:pPr>
            <a:r>
              <a:rPr sz="1800" b="1">
                <a:solidFill>
                  <a:srgbClr val="1D4632"/>
                </a:solidFill>
                <a:latin typeface="Arial"/>
                <a:ea typeface="Arial"/>
                <a:cs typeface="Arial"/>
              </a:rPr>
              <a:t>Control del negocio</a:t>
            </a:r>
          </a:p>
        </p:txBody>
      </p:sp>
      <p:sp>
        <p:nvSpPr>
          <p:cNvPr id="18" name="value-6-body">
            <a:extLst xmlns:a="http://schemas.openxmlformats.org/drawingml/2006/main">
              <a:ext uri="{FF2B5EF4-FFF2-40B4-BE49-F238E27FC236}">
                <a16:creationId xmlns:a16="http://schemas.microsoft.com/office/drawing/2014/main" id="{89FA4084-1F67-4DCE-8F66-873AFE7929F0}"/>
              </a:ext>
            </a:extLst>
          </p:cNvPr>
          <p:cNvSpPr>
            <a:spLocks xmlns:a="http://schemas.openxmlformats.org/drawingml/2006/main" noGrp="1"/>
          </p:cNvSpPr>
          <p:nvPr/>
        </p:nvSpPr>
        <p:spPr>
          <a:xfrm xmlns:a="http://schemas.openxmlformats.org/drawingml/2006/main">
            <a:off x="3390900" y="6753225"/>
            <a:ext cx="6210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16120F"/>
                </a:solidFill>
                <a:latin typeface="Arial"/>
                <a:ea typeface="Arial"/>
                <a:cs typeface="Arial"/>
              </a:defRPr>
            </a:pPr>
            <a:r>
              <a:rPr sz="1650">
                <a:solidFill>
                  <a:srgbClr val="16120F"/>
                </a:solidFill>
                <a:latin typeface="Arial"/>
                <a:ea typeface="Arial"/>
                <a:cs typeface="Arial"/>
              </a:rPr>
              <a:t>Panel de caja y gerencia con canjes, movimientos y métricas de visitas, membresías y prepago.</a:t>
            </a:r>
          </a:p>
        </p:txBody>
      </p:sp>
      <p:sp>
        <p:nvSpPr>
          <p:cNvPr id="19" name="scope-note">
            <a:extLst xmlns:a="http://schemas.openxmlformats.org/drawingml/2006/main">
              <a:ext uri="{FF2B5EF4-FFF2-40B4-BE49-F238E27FC236}">
                <a16:creationId xmlns:a16="http://schemas.microsoft.com/office/drawing/2014/main" id="{DD6868DD-F57C-4D8E-8A46-AECAC35561C0}"/>
              </a:ext>
            </a:extLst>
          </p:cNvPr>
          <p:cNvSpPr>
            <a:spLocks xmlns:a="http://schemas.openxmlformats.org/drawingml/2006/main" noGrp="1"/>
          </p:cNvSpPr>
          <p:nvPr/>
        </p:nvSpPr>
        <p:spPr>
          <a:xfrm xmlns:a="http://schemas.openxmlformats.org/drawingml/2006/main">
            <a:off x="457200" y="7429500"/>
            <a:ext cx="85725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050">
                <a:solidFill>
                  <a:srgbClr val="5C5347"/>
                </a:solidFill>
                <a:latin typeface="Arial"/>
                <a:ea typeface="Arial"/>
                <a:cs typeface="Arial"/>
              </a:defRPr>
            </a:pPr>
            <a:r>
              <a:rPr sz="1050">
                <a:solidFill>
                  <a:srgbClr val="5C5347"/>
                </a:solidFill>
                <a:latin typeface="Arial"/>
                <a:ea typeface="Arial"/>
                <a:cs typeface="Arial"/>
              </a:rPr>
              <a:t>Alcance propuesto de la solución</a:t>
            </a:r>
          </a:p>
        </p:txBody>
      </p:sp>
    </p:spTree>
    <p:extLst>
      <p:ext uri="{BB962C8B-B14F-4D97-AF65-F5344CB8AC3E}">
        <p14:creationId xmlns:p14="http://schemas.microsoft.com/office/powerpoint/2010/main" val="1235921981"/>
      </p:ext>
    </p:extLst>
  </p:cSld>
</p:sld>
</file>

<file path=ppt/slides/slide2.xml><?xml version="1.0" encoding="utf-8"?>
<p:sld xmlns:p="http://schemas.openxmlformats.org/presentationml/2006/main">
  <p:cSld>
    <p:bg>
      <p:bgPr>
        <a:solidFill xmlns:a="http://schemas.openxmlformats.org/drawingml/2006/main">
          <a:srgbClr val="F8F3E7"/>
        </a:solidFill>
      </p:bgPr>
    </p:bg>
    <p:spTree>
      <p:nvGrpSpPr>
        <p:cNvPr id="1" name=""/>
        <p:cNvGrpSpPr/>
        <p:nvPr/>
      </p:nvGrpSpPr>
      <p:grpSpPr>
        <a:xfrm xmlns:a="http://schemas.openxmlformats.org/drawingml/2006/main"/>
      </p:grpSpPr>
      <p:sp>
        <p:nvSpPr>
          <p:cNvPr id="8" name="investment-label">
            <a:extLst xmlns:a="http://schemas.openxmlformats.org/drawingml/2006/main">
              <a:ext uri="{FF2B5EF4-FFF2-40B4-BE49-F238E27FC236}">
                <a16:creationId xmlns:a16="http://schemas.microsoft.com/office/drawing/2014/main" id="{A7AFCD8F-8B89-426A-9C8C-A6DED3EA9963}"/>
              </a:ext>
            </a:extLst>
          </p:cNvPr>
          <p:cNvSpPr>
            <a:spLocks xmlns:a="http://schemas.openxmlformats.org/drawingml/2006/main" noGrp="1"/>
          </p:cNvSpPr>
          <p:nvPr/>
        </p:nvSpPr>
        <p:spPr>
          <a:xfrm xmlns:a="http://schemas.openxmlformats.org/drawingml/2006/main">
            <a:off x="457200" y="361950"/>
            <a:ext cx="552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1">
                <a:solidFill>
                  <a:srgbClr val="1D4632"/>
                </a:solidFill>
                <a:latin typeface="Arial"/>
                <a:ea typeface="Arial"/>
                <a:cs typeface="Arial"/>
              </a:defRPr>
            </a:pPr>
            <a:r>
              <a:rPr sz="1125" b="1">
                <a:solidFill>
                  <a:srgbClr val="1D4632"/>
                </a:solidFill>
                <a:latin typeface="Arial"/>
                <a:ea typeface="Arial"/>
                <a:cs typeface="Arial"/>
              </a:rPr>
              <a:t>CLUB LUPITA</a:t>
            </a:r>
          </a:p>
        </p:txBody>
      </p:sp>
      <p:sp>
        <p:nvSpPr>
          <p:cNvPr id="2" name="delivery-title">
            <a:extLst xmlns:a="http://schemas.openxmlformats.org/drawingml/2006/main">
              <a:ext uri="{FF2B5EF4-FFF2-40B4-BE49-F238E27FC236}">
                <a16:creationId xmlns:a16="http://schemas.microsoft.com/office/drawing/2014/main" id="{DA362585-5EB5-4013-854C-9F9A379D9670}"/>
              </a:ext>
            </a:extLst>
          </p:cNvPr>
          <p:cNvSpPr>
            <a:spLocks xmlns:a="http://schemas.openxmlformats.org/drawingml/2006/main" noGrp="1"/>
          </p:cNvSpPr>
          <p:nvPr/>
        </p:nvSpPr>
        <p:spPr>
          <a:xfrm xmlns:a="http://schemas.openxmlformats.org/drawingml/2006/main">
            <a:off x="457200" y="781050"/>
            <a:ext cx="58102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a:solidFill>
                  <a:srgbClr val="1D4632"/>
                </a:solidFill>
                <a:latin typeface="Georgia"/>
                <a:ea typeface="Georgia"/>
                <a:cs typeface="Georgia"/>
              </a:defRPr>
            </a:pPr>
            <a:r>
              <a:rPr sz="3225">
                <a:solidFill>
                  <a:srgbClr val="1D4632"/>
                </a:solidFill>
                <a:latin typeface="Georgia"/>
                <a:ea typeface="Georgia"/>
                <a:cs typeface="Georgia"/>
              </a:rPr>
              <a:t>Creación e</a:t>
            </a:r>
          </a:p>
          <a:p xmlns:a="http://schemas.openxmlformats.org/drawingml/2006/main">
            <a:pPr>
              <a:defRPr sz="3225">
                <a:solidFill>
                  <a:srgbClr val="1D4632"/>
                </a:solidFill>
                <a:latin typeface="Georgia"/>
                <a:ea typeface="Georgia"/>
                <a:cs typeface="Georgia"/>
              </a:defRPr>
            </a:pPr>
            <a:r>
              <a:rPr sz="3225">
                <a:solidFill>
                  <a:srgbClr val="1D4632"/>
                </a:solidFill>
                <a:latin typeface="Georgia"/>
                <a:ea typeface="Georgia"/>
                <a:cs typeface="Georgia"/>
              </a:rPr>
              <a:t>implementación</a:t>
            </a:r>
          </a:p>
        </p:txBody>
      </p:sp>
      <p:sp>
        <p:nvSpPr>
          <p:cNvPr id="3" name="investment-subtitle">
            <a:extLst xmlns:a="http://schemas.openxmlformats.org/drawingml/2006/main">
              <a:ext uri="{FF2B5EF4-FFF2-40B4-BE49-F238E27FC236}">
                <a16:creationId xmlns:a16="http://schemas.microsoft.com/office/drawing/2014/main" id="{AEE2B7F3-AE8F-4294-99E4-DAE183368605}"/>
              </a:ext>
            </a:extLst>
          </p:cNvPr>
          <p:cNvSpPr>
            <a:spLocks xmlns:a="http://schemas.openxmlformats.org/drawingml/2006/main" noGrp="1"/>
          </p:cNvSpPr>
          <p:nvPr/>
        </p:nvSpPr>
        <p:spPr>
          <a:xfrm xmlns:a="http://schemas.openxmlformats.org/drawingml/2006/main">
            <a:off x="457200" y="1895475"/>
            <a:ext cx="638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a:solidFill>
                  <a:srgbClr val="5C5347"/>
                </a:solidFill>
                <a:latin typeface="Arial"/>
                <a:ea typeface="Arial"/>
                <a:cs typeface="Arial"/>
              </a:defRPr>
            </a:pPr>
            <a:r>
              <a:rPr sz="1650">
                <a:solidFill>
                  <a:srgbClr val="5C5347"/>
                </a:solidFill>
                <a:latin typeface="Arial"/>
                <a:ea typeface="Arial"/>
                <a:cs typeface="Arial"/>
              </a:rPr>
              <a:t>Desglose propuesto de la inversión</a:t>
            </a:r>
          </a:p>
        </p:txBody>
      </p:sp>
      <p:sp>
        <p:nvSpPr>
          <p:cNvPr id="4" name="investment-total">
            <a:extLst xmlns:a="http://schemas.openxmlformats.org/drawingml/2006/main">
              <a:ext uri="{FF2B5EF4-FFF2-40B4-BE49-F238E27FC236}">
                <a16:creationId xmlns:a16="http://schemas.microsoft.com/office/drawing/2014/main" id="{95414F58-8234-446C-8AEC-4A3A8B7848D7}"/>
              </a:ext>
            </a:extLst>
          </p:cNvPr>
          <p:cNvSpPr>
            <a:spLocks xmlns:a="http://schemas.openxmlformats.org/drawingml/2006/main" noGrp="1"/>
          </p:cNvSpPr>
          <p:nvPr/>
        </p:nvSpPr>
        <p:spPr>
          <a:xfrm xmlns:a="http://schemas.openxmlformats.org/drawingml/2006/main">
            <a:off x="6105525" y="809625"/>
            <a:ext cx="3495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4200" b="1">
                <a:solidFill>
                  <a:srgbClr val="1D4632"/>
                </a:solidFill>
                <a:latin typeface="Arial"/>
                <a:ea typeface="Arial"/>
                <a:cs typeface="Arial"/>
              </a:defRPr>
            </a:pPr>
            <a:r>
              <a:rPr sz="4200" b="1">
                <a:solidFill>
                  <a:srgbClr val="1D4632"/>
                </a:solidFill>
                <a:latin typeface="Arial"/>
                <a:ea typeface="Arial"/>
                <a:cs typeface="Arial"/>
              </a:rPr>
              <a:t>US$15,000</a:t>
            </a:r>
          </a:p>
        </p:txBody>
      </p:sp>
      <p:sp>
        <p:nvSpPr>
          <p:cNvPr id="5" name="investment-unit">
            <a:extLst xmlns:a="http://schemas.openxmlformats.org/drawingml/2006/main">
              <a:ext uri="{FF2B5EF4-FFF2-40B4-BE49-F238E27FC236}">
                <a16:creationId xmlns:a16="http://schemas.microsoft.com/office/drawing/2014/main" id="{8A7831A6-8EA0-425D-9746-FCF9A74DD7FC}"/>
              </a:ext>
            </a:extLst>
          </p:cNvPr>
          <p:cNvSpPr>
            <a:spLocks xmlns:a="http://schemas.openxmlformats.org/drawingml/2006/main" noGrp="1"/>
          </p:cNvSpPr>
          <p:nvPr/>
        </p:nvSpPr>
        <p:spPr>
          <a:xfrm xmlns:a="http://schemas.openxmlformats.org/drawingml/2006/main">
            <a:off x="6105525" y="1571625"/>
            <a:ext cx="34956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a:solidFill>
                  <a:srgbClr val="5C5347"/>
                </a:solidFill>
                <a:latin typeface="Arial"/>
                <a:ea typeface="Arial"/>
                <a:cs typeface="Arial"/>
              </a:defRPr>
            </a:pPr>
            <a:r>
              <a:rPr sz="1500">
                <a:solidFill>
                  <a:srgbClr val="5C5347"/>
                </a:solidFill>
                <a:latin typeface="Arial"/>
                <a:ea typeface="Arial"/>
                <a:cs typeface="Arial"/>
              </a:rPr>
              <a:t>Inversión total del proyecto</a:t>
            </a:r>
          </a:p>
        </p:txBody>
      </p:sp>
      <p:graphicFrame>
        <p:nvGraphicFramePr>
          <p:cNvPr id="13" name=""/>
          <p:cNvGraphicFramePr/>
          <p:nvPr/>
        </p:nvGraphicFramePr>
        <p:xfrm>
          <a:off xmlns:a="http://schemas.openxmlformats.org/drawingml/2006/main" x="457200" y="2409825"/>
          <a:ext xmlns:a="http://schemas.openxmlformats.org/drawingml/2006/main" cx="9144000" cy="4248150"/>
        </p:xfrm>
        <a:graphic xmlns:a="http://schemas.openxmlformats.org/drawingml/2006/main">
          <a:graphicData uri="http://schemas.openxmlformats.org/drawingml/2006/table">
            <a:tbl>
              <a:tblPr firstRow="0" lastRow="0" bandRow="0"/>
              <a:tblGrid>
                <a:gridCol w="2400300"/>
                <a:gridCol w="5133975"/>
                <a:gridCol w="1609725"/>
              </a:tblGrid>
              <a:tr h="361950">
                <a:tc>
                  <a:txBody>
                    <a:bodyPr/>
                    <a:lstStyle/>
                    <a:p>
                      <a:pPr algn="l"/>
                      <a:r>
                        <a:rPr sz="1275" b="1">
                          <a:solidFill>
                            <a:srgbClr val="F8F3E7"/>
                          </a:solidFill>
                          <a:latin typeface="Arial"/>
                          <a:ea typeface="Arial"/>
                          <a:cs typeface="Arial"/>
                        </a:rPr>
                        <a:t>Trabajo</a:t>
                      </a:r>
                    </a:p>
                  </a:txBody>
                  <a:tcPr marL="114300" marR="114300" marT="38100" marB="38100" anchor="ctr">
                    <a:solidFill>
                      <a:srgbClr val="1D4632"/>
                    </a:solidFill>
                  </a:tcPr>
                </a:tc>
                <a:tc>
                  <a:txBody>
                    <a:bodyPr/>
                    <a:lstStyle/>
                    <a:p>
                      <a:pPr algn="l"/>
                      <a:r>
                        <a:rPr sz="1275" b="1">
                          <a:solidFill>
                            <a:srgbClr val="F8F3E7"/>
                          </a:solidFill>
                          <a:latin typeface="Arial"/>
                          <a:ea typeface="Arial"/>
                          <a:cs typeface="Arial"/>
                        </a:rPr>
                        <a:t>Entregables</a:t>
                      </a:r>
                    </a:p>
                  </a:txBody>
                  <a:tcPr marL="114300" marR="114300" marT="38100" marB="38100" anchor="ctr">
                    <a:solidFill>
                      <a:srgbClr val="1D4632"/>
                    </a:solidFill>
                  </a:tcPr>
                </a:tc>
                <a:tc>
                  <a:txBody>
                    <a:bodyPr/>
                    <a:lstStyle/>
                    <a:p>
                      <a:pPr algn="r"/>
                      <a:r>
                        <a:rPr sz="1275" b="1">
                          <a:solidFill>
                            <a:srgbClr val="F8F3E7"/>
                          </a:solidFill>
                          <a:latin typeface="Arial"/>
                          <a:ea typeface="Arial"/>
                          <a:cs typeface="Arial"/>
                        </a:rPr>
                        <a:t>Inversión (US$)</a:t>
                      </a:r>
                    </a:p>
                  </a:txBody>
                  <a:tcPr marL="114300" marR="114300" marT="38100" marB="38100" anchor="ctr">
                    <a:solidFill>
                      <a:srgbClr val="1D4632"/>
                    </a:solidFill>
                  </a:tcPr>
                </a:tc>
              </a:tr>
              <a:tr h="581025">
                <a:tc>
                  <a:txBody>
                    <a:bodyPr/>
                    <a:lstStyle/>
                    <a:p>
                      <a:pPr algn="l"/>
                      <a:r>
                        <a:rPr sz="1500" b="1">
                          <a:solidFill>
                            <a:srgbClr val="16120F"/>
                          </a:solidFill>
                          <a:latin typeface="Arial"/>
                          <a:ea typeface="Arial"/>
                          <a:cs typeface="Arial"/>
                        </a:rPr>
                        <a:t>Estrategia y reglas</a:t>
                      </a:r>
                    </a:p>
                    <a:p>
                      <a:pPr algn="l"/>
                      <a:r>
                        <a:rPr sz="1500" b="1">
                          <a:solidFill>
                            <a:srgbClr val="16120F"/>
                          </a:solidFill>
                          <a:latin typeface="Arial"/>
                          <a:ea typeface="Arial"/>
                          <a:cs typeface="Arial"/>
                        </a:rPr>
                        <a:t>del negocio</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Beneficios, precios y cupos. Definición de flujos de compra y de operación en caja.</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1,500</a:t>
                      </a:r>
                    </a:p>
                  </a:txBody>
                  <a:tcPr marL="114300" marR="114300" marT="38100" marB="38100" anchor="ctr">
                    <a:solidFill>
                      <a:srgbClr val="F8F3E7"/>
                    </a:solidFill>
                  </a:tcPr>
                </a:tc>
              </a:tr>
              <a:tr h="581025">
                <a:tc>
                  <a:txBody>
                    <a:bodyPr/>
                    <a:lstStyle/>
                    <a:p>
                      <a:pPr algn="l"/>
                      <a:r>
                        <a:rPr sz="1500" b="1">
                          <a:solidFill>
                            <a:srgbClr val="16120F"/>
                          </a:solidFill>
                          <a:latin typeface="Arial"/>
                          <a:ea typeface="Arial"/>
                          <a:cs typeface="Arial"/>
                        </a:rPr>
                        <a:t>Diseño y experiencia</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Identidad visual, navegación móvil, prototipos y textos de todas las pantallas.</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2,000</a:t>
                      </a:r>
                    </a:p>
                  </a:txBody>
                  <a:tcPr marL="114300" marR="114300" marT="38100" marB="38100" anchor="ctr">
                    <a:solidFill>
                      <a:srgbClr val="F8F3E7"/>
                    </a:solidFill>
                  </a:tcPr>
                </a:tc>
              </a:tr>
              <a:tr h="581025">
                <a:tc>
                  <a:txBody>
                    <a:bodyPr/>
                    <a:lstStyle/>
                    <a:p>
                      <a:pPr algn="l"/>
                      <a:r>
                        <a:rPr sz="1500" b="1">
                          <a:solidFill>
                            <a:srgbClr val="16120F"/>
                          </a:solidFill>
                          <a:latin typeface="Arial"/>
                          <a:ea typeface="Arial"/>
                          <a:cs typeface="Arial"/>
                        </a:rPr>
                        <a:t>App del socio</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Cuenta, lealtad, monedero, membresía, pedidos, tienda, reservas y experiencias.</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4,000</a:t>
                      </a:r>
                    </a:p>
                  </a:txBody>
                  <a:tcPr marL="114300" marR="114300" marT="38100" marB="38100" anchor="ctr">
                    <a:solidFill>
                      <a:srgbClr val="F8F3E7"/>
                    </a:solidFill>
                  </a:tcPr>
                </a:tc>
              </a:tr>
              <a:tr h="581025">
                <a:tc>
                  <a:txBody>
                    <a:bodyPr/>
                    <a:lstStyle/>
                    <a:p>
                      <a:pPr algn="l"/>
                      <a:r>
                        <a:rPr sz="1500" b="1">
                          <a:solidFill>
                            <a:srgbClr val="16120F"/>
                          </a:solidFill>
                          <a:latin typeface="Arial"/>
                          <a:ea typeface="Arial"/>
                          <a:cs typeface="Arial"/>
                        </a:rPr>
                        <a:t>Motor y panel</a:t>
                      </a:r>
                    </a:p>
                    <a:p>
                      <a:pPr algn="l"/>
                      <a:r>
                        <a:rPr sz="1500" b="1">
                          <a:solidFill>
                            <a:srgbClr val="16120F"/>
                          </a:solidFill>
                          <a:latin typeface="Arial"/>
                          <a:ea typeface="Arial"/>
                          <a:cs typeface="Arial"/>
                        </a:rPr>
                        <a:t>del negocio</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Base de datos, API, accesos por rol, caja, reportes y controles de saldos y cupos.</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4,000</a:t>
                      </a:r>
                    </a:p>
                  </a:txBody>
                  <a:tcPr marL="114300" marR="114300" marT="38100" marB="38100" anchor="ctr">
                    <a:solidFill>
                      <a:srgbClr val="F8F3E7"/>
                    </a:solidFill>
                  </a:tcPr>
                </a:tc>
              </a:tr>
              <a:tr h="581025">
                <a:tc>
                  <a:txBody>
                    <a:bodyPr/>
                    <a:lstStyle/>
                    <a:p>
                      <a:pPr algn="l"/>
                      <a:r>
                        <a:rPr sz="1500" b="1">
                          <a:solidFill>
                            <a:srgbClr val="16120F"/>
                          </a:solidFill>
                          <a:latin typeface="Arial"/>
                          <a:ea typeface="Arial"/>
                          <a:cs typeface="Arial"/>
                        </a:rPr>
                        <a:t>Pruebas y preparación</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Validación de cobros, canjes y reservas. Seguridad, accesibilidad y uso en celular.</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2,000</a:t>
                      </a:r>
                    </a:p>
                  </a:txBody>
                  <a:tcPr marL="114300" marR="114300" marT="38100" marB="38100" anchor="ctr">
                    <a:solidFill>
                      <a:srgbClr val="F8F3E7"/>
                    </a:solidFill>
                  </a:tcPr>
                </a:tc>
              </a:tr>
              <a:tr h="581025">
                <a:tc>
                  <a:txBody>
                    <a:bodyPr/>
                    <a:lstStyle/>
                    <a:p>
                      <a:pPr algn="l"/>
                      <a:r>
                        <a:rPr sz="1500" b="1">
                          <a:solidFill>
                            <a:srgbClr val="16120F"/>
                          </a:solidFill>
                          <a:latin typeface="Arial"/>
                          <a:ea typeface="Arial"/>
                          <a:cs typeface="Arial"/>
                        </a:rPr>
                        <a:t>Puesta en marcha</a:t>
                      </a:r>
                    </a:p>
                    <a:p>
                      <a:pPr algn="l"/>
                      <a:r>
                        <a:rPr sz="1500" b="1">
                          <a:solidFill>
                            <a:srgbClr val="16120F"/>
                          </a:solidFill>
                          <a:latin typeface="Arial"/>
                          <a:ea typeface="Arial"/>
                          <a:cs typeface="Arial"/>
                        </a:rPr>
                        <a:t>y entrega</a:t>
                      </a:r>
                    </a:p>
                  </a:txBody>
                  <a:tcPr marL="114300" marR="114300" marT="38100" marB="38100" anchor="ctr">
                    <a:solidFill>
                      <a:srgbClr val="F8F3E7"/>
                    </a:solidFill>
                  </a:tcPr>
                </a:tc>
                <a:tc>
                  <a:txBody>
                    <a:bodyPr/>
                    <a:lstStyle/>
                    <a:p>
                      <a:pPr algn="l"/>
                      <a:r>
                        <a:rPr sz="1500" b="0">
                          <a:solidFill>
                            <a:srgbClr val="16120F"/>
                          </a:solidFill>
                          <a:latin typeface="Arial"/>
                          <a:ea typeface="Arial"/>
                          <a:cs typeface="Arial"/>
                        </a:rPr>
                        <a:t>Nube, carga inicial, capacitación, manuales y acompañamiento al arranque.</a:t>
                      </a:r>
                    </a:p>
                  </a:txBody>
                  <a:tcPr marL="114300" marR="114300" marT="38100" marB="38100" anchor="ctr">
                    <a:solidFill>
                      <a:srgbClr val="F8F3E7"/>
                    </a:solidFill>
                  </a:tcPr>
                </a:tc>
                <a:tc>
                  <a:txBody>
                    <a:bodyPr/>
                    <a:lstStyle/>
                    <a:p>
                      <a:pPr algn="r"/>
                      <a:r>
                        <a:rPr sz="1500" b="0">
                          <a:solidFill>
                            <a:srgbClr val="16120F"/>
                          </a:solidFill>
                          <a:latin typeface="Arial"/>
                          <a:ea typeface="Arial"/>
                          <a:cs typeface="Arial"/>
                        </a:rPr>
                        <a:t>1,500</a:t>
                      </a:r>
                    </a:p>
                  </a:txBody>
                  <a:tcPr marL="114300" marR="114300" marT="38100" marB="38100" anchor="ctr">
                    <a:solidFill>
                      <a:srgbClr val="F8F3E7"/>
                    </a:solidFill>
                  </a:tcPr>
                </a:tc>
              </a:tr>
              <a:tr h="400050">
                <a:tc>
                  <a:txBody>
                    <a:bodyPr/>
                    <a:lstStyle/>
                    <a:p>
                      <a:pPr algn="l"/>
                      <a:r>
                        <a:rPr sz="1575" b="1">
                          <a:solidFill>
                            <a:srgbClr val="F8F3E7"/>
                          </a:solidFill>
                          <a:latin typeface="Arial"/>
                          <a:ea typeface="Arial"/>
                          <a:cs typeface="Arial"/>
                        </a:rPr>
                        <a:t>TOTAL</a:t>
                      </a:r>
                    </a:p>
                  </a:txBody>
                  <a:tcPr marL="114300" marR="114300" marT="38100" marB="38100" anchor="ctr">
                    <a:solidFill>
                      <a:srgbClr val="1D4632"/>
                    </a:solidFill>
                  </a:tcPr>
                </a:tc>
                <a:tc>
                  <a:txBody>
                    <a:bodyPr/>
                    <a:lstStyle/>
                    <a:p>
                      <a:pPr algn="l"/>
                      <a:r>
                        <a:rPr sz="1575" b="1">
                          <a:solidFill>
                            <a:srgbClr val="F8F3E7"/>
                          </a:solidFill>
                          <a:latin typeface="Arial"/>
                          <a:ea typeface="Arial"/>
                          <a:cs typeface="Arial"/>
                        </a:rPr>
                        <a:t>Creación e implementación</a:t>
                      </a:r>
                    </a:p>
                  </a:txBody>
                  <a:tcPr marL="114300" marR="114300" marT="38100" marB="38100" anchor="ctr">
                    <a:solidFill>
                      <a:srgbClr val="1D4632"/>
                    </a:solidFill>
                  </a:tcPr>
                </a:tc>
                <a:tc>
                  <a:txBody>
                    <a:bodyPr/>
                    <a:lstStyle/>
                    <a:p>
                      <a:pPr algn="r"/>
                      <a:r>
                        <a:rPr sz="1575" b="1">
                          <a:solidFill>
                            <a:srgbClr val="F8F3E7"/>
                          </a:solidFill>
                          <a:latin typeface="Arial"/>
                          <a:ea typeface="Arial"/>
                          <a:cs typeface="Arial"/>
                        </a:rPr>
                        <a:t>15,000</a:t>
                      </a:r>
                    </a:p>
                  </a:txBody>
                  <a:tcPr marL="114300" marR="114300" marT="38100" marB="38100" anchor="ctr">
                    <a:solidFill>
                      <a:srgbClr val="1D4632"/>
                    </a:solidFill>
                  </a:tcPr>
                </a:tc>
              </a:tr>
            </a:tbl>
          </a:graphicData>
        </a:graphic>
      </p:graphicFrame>
      <p:sp>
        <p:nvSpPr>
          <p:cNvPr id="7" name="scope-boundaries">
            <a:extLst xmlns:a="http://schemas.openxmlformats.org/drawingml/2006/main">
              <a:ext uri="{FF2B5EF4-FFF2-40B4-BE49-F238E27FC236}">
                <a16:creationId xmlns:a16="http://schemas.microsoft.com/office/drawing/2014/main" id="{F9230FB6-0C1F-481B-B119-92B11AA7989E}"/>
              </a:ext>
            </a:extLst>
          </p:cNvPr>
          <p:cNvSpPr>
            <a:spLocks xmlns:a="http://schemas.openxmlformats.org/drawingml/2006/main" noGrp="1"/>
          </p:cNvSpPr>
          <p:nvPr/>
        </p:nvSpPr>
        <p:spPr>
          <a:xfrm xmlns:a="http://schemas.openxmlformats.org/drawingml/2006/main">
            <a:off x="457200" y="7258050"/>
            <a:ext cx="914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a:solidFill>
                  <a:srgbClr val="5C5347"/>
                </a:solidFill>
                <a:latin typeface="Arial"/>
                <a:ea typeface="Arial"/>
                <a:cs typeface="Arial"/>
              </a:defRPr>
            </a:pPr>
            <a:r>
              <a:rPr sz="1200">
                <a:solidFill>
                  <a:srgbClr val="5C5347"/>
                </a:solidFill>
                <a:latin typeface="Arial"/>
                <a:ea typeface="Arial"/>
                <a:cs typeface="Arial"/>
              </a:rPr>
              <a:t>Alcance web móvil con recargas en caja. Hosting, mensajería y mantenimiento se cotizan aparte.</a:t>
            </a:r>
          </a:p>
          <a:p xmlns:a="http://schemas.openxmlformats.org/drawingml/2006/main">
            <a:pPr>
              <a:defRPr sz="1200">
                <a:solidFill>
                  <a:srgbClr val="5C5347"/>
                </a:solidFill>
                <a:latin typeface="Arial"/>
                <a:ea typeface="Arial"/>
                <a:cs typeface="Arial"/>
              </a:defRPr>
            </a:pPr>
            <a:r>
              <a:rPr sz="1200">
                <a:solidFill>
                  <a:srgbClr val="5C5347"/>
                </a:solidFill>
                <a:latin typeface="Arial"/>
                <a:ea typeface="Arial"/>
                <a:cs typeface="Arial"/>
              </a:rPr>
              <a:t>Pasarela en línea, integración con POS y apps nativas quedan fuera de esta propuesta.</a:t>
            </a:r>
          </a:p>
        </p:txBody>
      </p:sp>
    </p:spTree>
    <p:extLst>
      <p:ext uri="{BB962C8B-B14F-4D97-AF65-F5344CB8AC3E}">
        <p14:creationId xmlns:p14="http://schemas.microsoft.com/office/powerpoint/2010/main" val="18202495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2026-09-10T23:28:45.8600000Z</dcterms:created>
  <dcterms:modified xsi:type="dcterms:W3CDTF">2026-09-10T23:28:45.8600000Z</dcterms:modified>
</coreProperties>
</file>