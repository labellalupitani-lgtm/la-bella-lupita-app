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3cbe3a0d1d4183" /><Relationship Type="http://schemas.openxmlformats.org/officeDocument/2006/relationships/extended-properties" Target="/docProps/app.xml" Id="R416c02584f2049fd" /><Relationship Type="http://schemas.openxmlformats.org/officeDocument/2006/relationships/officeDocument" Target="/ppt/presentation.xml" Id="R652880e252f64d17" /></Relationships>
</file>

<file path=ppt/presentation.xml><?xml version="1.0" encoding="utf-8"?>
<p:presentation xmlns:p="http://schemas.openxmlformats.org/presentationml/2006/main">
  <p:sldMasterIdLst>
    <p:sldMasterId xmlns:r="http://schemas.openxmlformats.org/officeDocument/2006/relationships" id="2147483648" r:id="R2b344edf9bb34f7c"/>
  </p:sldMasterIdLst>
  <p:notesMasterIdLst>
    <p:notesMasterId xmlns:r="http://schemas.openxmlformats.org/officeDocument/2006/relationships" r:id="R408c8a751e86427b"/>
  </p:notesMasterIdLst>
  <p:sldIdLst>
    <p:sldId xmlns:r="http://schemas.openxmlformats.org/officeDocument/2006/relationships" id="256" r:id="R239709e0b34e4573"/>
    <p:sldId xmlns:r="http://schemas.openxmlformats.org/officeDocument/2006/relationships" id="257" r:id="Rb604bae464c54185"/>
    <p:sldId xmlns:r="http://schemas.openxmlformats.org/officeDocument/2006/relationships" id="258" r:id="R6c67387d30de4e1f"/>
    <p:sldId xmlns:r="http://schemas.openxmlformats.org/officeDocument/2006/relationships" id="259" r:id="R3acf0981c3da43e1"/>
    <p:sldId xmlns:r="http://schemas.openxmlformats.org/officeDocument/2006/relationships" id="260" r:id="Rae4551d50fad4f64"/>
    <p:sldId xmlns:r="http://schemas.openxmlformats.org/officeDocument/2006/relationships" id="261" r:id="Rd9142742db3641d8"/>
    <p:sldId xmlns:r="http://schemas.openxmlformats.org/officeDocument/2006/relationships" id="262" r:id="Re2f4c8d2cedd4f1b"/>
    <p:sldId xmlns:r="http://schemas.openxmlformats.org/officeDocument/2006/relationships" id="263" r:id="R74cd4a2192cb4d43"/>
    <p:sldId xmlns:r="http://schemas.openxmlformats.org/officeDocument/2006/relationships" id="264" r:id="R96210bb0bd6c40e1"/>
    <p:sldId xmlns:r="http://schemas.openxmlformats.org/officeDocument/2006/relationships" id="265" r:id="Rf9380e0f17034d1f"/>
    <p:sldId xmlns:r="http://schemas.openxmlformats.org/officeDocument/2006/relationships" id="266" r:id="Rd7be1beab9f84fac"/>
    <p:sldId xmlns:r="http://schemas.openxmlformats.org/officeDocument/2006/relationships" id="267" r:id="R199f5caa97384ae0"/>
    <p:sldId xmlns:r="http://schemas.openxmlformats.org/officeDocument/2006/relationships" id="268" r:id="R881896d7eb1f4e24"/>
    <p:sldId xmlns:r="http://schemas.openxmlformats.org/officeDocument/2006/relationships" id="269" r:id="Rbdfa76f7055742ac"/>
    <p:sldId xmlns:r="http://schemas.openxmlformats.org/officeDocument/2006/relationships" id="270" r:id="R8814195faa6440ad"/>
    <p:sldId xmlns:r="http://schemas.openxmlformats.org/officeDocument/2006/relationships" id="271" r:id="R829786e3cf1249f1"/>
    <p:sldId xmlns:r="http://schemas.openxmlformats.org/officeDocument/2006/relationships" id="272" r:id="Rfbe105cdcc554530"/>
    <p:sldId xmlns:r="http://schemas.openxmlformats.org/officeDocument/2006/relationships" id="273" r:id="R5c500711a4864dfe"/>
    <p:sldId xmlns:r="http://schemas.openxmlformats.org/officeDocument/2006/relationships" id="274" r:id="R226bad5ebcab4913"/>
    <p:sldId xmlns:r="http://schemas.openxmlformats.org/officeDocument/2006/relationships" id="275" r:id="R1004afafb8034fea"/>
    <p:sldId xmlns:r="http://schemas.openxmlformats.org/officeDocument/2006/relationships" id="276" r:id="Rc702e3f9bc0a4cb1"/>
    <p:sldId xmlns:r="http://schemas.openxmlformats.org/officeDocument/2006/relationships" id="277" r:id="R39f2d887fefe4fd3"/>
    <p:sldId xmlns:r="http://schemas.openxmlformats.org/officeDocument/2006/relationships" id="278" r:id="R3515b59e679e4dfb"/>
    <p:sldId xmlns:r="http://schemas.openxmlformats.org/officeDocument/2006/relationships" id="279" r:id="R59e994fd30554ce6"/>
    <p:sldId xmlns:r="http://schemas.openxmlformats.org/officeDocument/2006/relationships" id="280" r:id="Rf156819842744076"/>
    <p:sldId xmlns:r="http://schemas.openxmlformats.org/officeDocument/2006/relationships" id="281" r:id="R890af02d0f144ef7"/>
    <p:sldId xmlns:r="http://schemas.openxmlformats.org/officeDocument/2006/relationships" id="282" r:id="R61fd15adaeb74366"/>
    <p:sldId xmlns:r="http://schemas.openxmlformats.org/officeDocument/2006/relationships" id="283" r:id="R6761786b0c674ccc"/>
    <p:sldId xmlns:r="http://schemas.openxmlformats.org/officeDocument/2006/relationships" id="284" r:id="R0ae7cd36bf354e56"/>
    <p:sldId xmlns:r="http://schemas.openxmlformats.org/officeDocument/2006/relationships" id="285" r:id="R68306af68d9c454a"/>
    <p:sldId xmlns:r="http://schemas.openxmlformats.org/officeDocument/2006/relationships" id="286" r:id="Raaf24efb77fe44e7"/>
    <p:sldId xmlns:r="http://schemas.openxmlformats.org/officeDocument/2006/relationships" id="287" r:id="Ra94bacddebf8496a"/>
    <p:sldId xmlns:r="http://schemas.openxmlformats.org/officeDocument/2006/relationships" id="288" r:id="R9d195b43665441fa"/>
    <p:sldId xmlns:r="http://schemas.openxmlformats.org/officeDocument/2006/relationships" id="289" r:id="R779667e0456d4264"/>
    <p:sldId xmlns:r="http://schemas.openxmlformats.org/officeDocument/2006/relationships" id="290" r:id="R97ff5ca0935e406f"/>
    <p:sldId xmlns:r="http://schemas.openxmlformats.org/officeDocument/2006/relationships" id="291" r:id="Rf0df0429ec2647b0"/>
    <p:sldId xmlns:r="http://schemas.openxmlformats.org/officeDocument/2006/relationships" id="292" r:id="R92c45d67a63d4b50"/>
    <p:sldId xmlns:r="http://schemas.openxmlformats.org/officeDocument/2006/relationships" id="293" r:id="R84f52d517d0e4198"/>
    <p:sldId xmlns:r="http://schemas.openxmlformats.org/officeDocument/2006/relationships" id="294" r:id="Rec7637c817734594"/>
    <p:sldId xmlns:r="http://schemas.openxmlformats.org/officeDocument/2006/relationships" id="295" r:id="Rc19d1697b3594b13"/>
    <p:sldId xmlns:r="http://schemas.openxmlformats.org/officeDocument/2006/relationships" id="296" r:id="Rfc001cd713bf403e"/>
    <p:sldId xmlns:r="http://schemas.openxmlformats.org/officeDocument/2006/relationships" id="297" r:id="R8c33eff1275845d2"/>
    <p:sldId xmlns:r="http://schemas.openxmlformats.org/officeDocument/2006/relationships" id="298" r:id="R5e4eaedb2638409c"/>
    <p:sldId xmlns:r="http://schemas.openxmlformats.org/officeDocument/2006/relationships" id="299" r:id="Rc9d03bfc2298492c"/>
    <p:sldId xmlns:r="http://schemas.openxmlformats.org/officeDocument/2006/relationships" id="300" r:id="R749052811c764767"/>
    <p:sldId xmlns:r="http://schemas.openxmlformats.org/officeDocument/2006/relationships" id="301" r:id="Rf9883186f4b042cb"/>
    <p:sldId xmlns:r="http://schemas.openxmlformats.org/officeDocument/2006/relationships" id="302" r:id="Rb08c14a7121d4696"/>
    <p:sldId xmlns:r="http://schemas.openxmlformats.org/officeDocument/2006/relationships" id="303" r:id="Ra293919b93c84464"/>
    <p:sldId xmlns:r="http://schemas.openxmlformats.org/officeDocument/2006/relationships" id="304" r:id="Rb012b48a58c949ac"/>
    <p:sldId xmlns:r="http://schemas.openxmlformats.org/officeDocument/2006/relationships" id="305" r:id="Ra7a9f27ccf26438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013bb2cea0475d" /><Relationship Type="http://schemas.openxmlformats.org/officeDocument/2006/relationships/slideMaster" Target="/ppt/slideMasters/slideMaster1.xml" Id="R2b344edf9bb34f7c" /><Relationship Type="http://schemas.openxmlformats.org/officeDocument/2006/relationships/notesMaster" Target="/ppt/notesMasters/notesMaster1.xml" Id="R408c8a751e86427b" /><Relationship Type="http://schemas.openxmlformats.org/officeDocument/2006/relationships/presProps" Target="/ppt/presProps.xml" Id="R138a432914c0415b" /><Relationship Type="http://schemas.openxmlformats.org/officeDocument/2006/relationships/tableStyles" Target="/ppt/tableStyles.xml" Id="Rfcdc5eeb58074b11" /><Relationship Type="http://schemas.openxmlformats.org/officeDocument/2006/relationships/slide" Target="/ppt/slides/slide1.xml" Id="R239709e0b34e4573" /><Relationship Type="http://schemas.openxmlformats.org/officeDocument/2006/relationships/slide" Target="/ppt/slides/slide2.xml" Id="Rb604bae464c54185" /><Relationship Type="http://schemas.openxmlformats.org/officeDocument/2006/relationships/slide" Target="/ppt/slides/slide3.xml" Id="R6c67387d30de4e1f" /><Relationship Type="http://schemas.openxmlformats.org/officeDocument/2006/relationships/slide" Target="/ppt/slides/slide4.xml" Id="R3acf0981c3da43e1" /><Relationship Type="http://schemas.openxmlformats.org/officeDocument/2006/relationships/slide" Target="/ppt/slides/slide5.xml" Id="Rae4551d50fad4f64" /><Relationship Type="http://schemas.openxmlformats.org/officeDocument/2006/relationships/slide" Target="/ppt/slides/slide6.xml" Id="Rd9142742db3641d8" /><Relationship Type="http://schemas.openxmlformats.org/officeDocument/2006/relationships/slide" Target="/ppt/slides/slide7.xml" Id="Re2f4c8d2cedd4f1b" /><Relationship Type="http://schemas.openxmlformats.org/officeDocument/2006/relationships/slide" Target="/ppt/slides/slide8.xml" Id="R74cd4a2192cb4d43" /><Relationship Type="http://schemas.openxmlformats.org/officeDocument/2006/relationships/slide" Target="/ppt/slides/slide9.xml" Id="R96210bb0bd6c40e1" /><Relationship Type="http://schemas.openxmlformats.org/officeDocument/2006/relationships/slide" Target="/ppt/slides/slide10.xml" Id="Rf9380e0f17034d1f" /><Relationship Type="http://schemas.openxmlformats.org/officeDocument/2006/relationships/slide" Target="/ppt/slides/slide11.xml" Id="Rd7be1beab9f84fac" /><Relationship Type="http://schemas.openxmlformats.org/officeDocument/2006/relationships/slide" Target="/ppt/slides/slide12.xml" Id="R199f5caa97384ae0" /><Relationship Type="http://schemas.openxmlformats.org/officeDocument/2006/relationships/slide" Target="/ppt/slides/slide13.xml" Id="R881896d7eb1f4e24" /><Relationship Type="http://schemas.openxmlformats.org/officeDocument/2006/relationships/slide" Target="/ppt/slides/slide14.xml" Id="Rbdfa76f7055742ac" /><Relationship Type="http://schemas.openxmlformats.org/officeDocument/2006/relationships/slide" Target="/ppt/slides/slide15.xml" Id="R8814195faa6440ad" /><Relationship Type="http://schemas.openxmlformats.org/officeDocument/2006/relationships/slide" Target="/ppt/slides/slide16.xml" Id="R829786e3cf1249f1" /><Relationship Type="http://schemas.openxmlformats.org/officeDocument/2006/relationships/slide" Target="/ppt/slides/slide17.xml" Id="Rfbe105cdcc554530" /><Relationship Type="http://schemas.openxmlformats.org/officeDocument/2006/relationships/slide" Target="/ppt/slides/slide18.xml" Id="R5c500711a4864dfe" /><Relationship Type="http://schemas.openxmlformats.org/officeDocument/2006/relationships/slide" Target="/ppt/slides/slide19.xml" Id="R226bad5ebcab4913" /><Relationship Type="http://schemas.openxmlformats.org/officeDocument/2006/relationships/slide" Target="/ppt/slides/slide20.xml" Id="R1004afafb8034fea" /><Relationship Type="http://schemas.openxmlformats.org/officeDocument/2006/relationships/slide" Target="/ppt/slides/slide21.xml" Id="Rc702e3f9bc0a4cb1" /><Relationship Type="http://schemas.openxmlformats.org/officeDocument/2006/relationships/slide" Target="/ppt/slides/slide22.xml" Id="R39f2d887fefe4fd3" /><Relationship Type="http://schemas.openxmlformats.org/officeDocument/2006/relationships/slide" Target="/ppt/slides/slide23.xml" Id="R3515b59e679e4dfb" /><Relationship Type="http://schemas.openxmlformats.org/officeDocument/2006/relationships/slide" Target="/ppt/slides/slide24.xml" Id="R59e994fd30554ce6" /><Relationship Type="http://schemas.openxmlformats.org/officeDocument/2006/relationships/slide" Target="/ppt/slides/slide25.xml" Id="Rf156819842744076" /><Relationship Type="http://schemas.openxmlformats.org/officeDocument/2006/relationships/slide" Target="/ppt/slides/slide26.xml" Id="R890af02d0f144ef7" /><Relationship Type="http://schemas.openxmlformats.org/officeDocument/2006/relationships/slide" Target="/ppt/slides/slide27.xml" Id="R61fd15adaeb74366" /><Relationship Type="http://schemas.openxmlformats.org/officeDocument/2006/relationships/slide" Target="/ppt/slides/slide28.xml" Id="R6761786b0c674ccc" /><Relationship Type="http://schemas.openxmlformats.org/officeDocument/2006/relationships/slide" Target="/ppt/slides/slide29.xml" Id="R0ae7cd36bf354e56" /><Relationship Type="http://schemas.openxmlformats.org/officeDocument/2006/relationships/slide" Target="/ppt/slides/slide30.xml" Id="R68306af68d9c454a" /><Relationship Type="http://schemas.openxmlformats.org/officeDocument/2006/relationships/slide" Target="/ppt/slides/slide31.xml" Id="Raaf24efb77fe44e7" /><Relationship Type="http://schemas.openxmlformats.org/officeDocument/2006/relationships/slide" Target="/ppt/slides/slide32.xml" Id="Ra94bacddebf8496a" /><Relationship Type="http://schemas.openxmlformats.org/officeDocument/2006/relationships/slide" Target="/ppt/slides/slide33.xml" Id="R9d195b43665441fa" /><Relationship Type="http://schemas.openxmlformats.org/officeDocument/2006/relationships/slide" Target="/ppt/slides/slide34.xml" Id="R779667e0456d4264" /><Relationship Type="http://schemas.openxmlformats.org/officeDocument/2006/relationships/slide" Target="/ppt/slides/slide35.xml" Id="R97ff5ca0935e406f" /><Relationship Type="http://schemas.openxmlformats.org/officeDocument/2006/relationships/slide" Target="/ppt/slides/slide36.xml" Id="Rf0df0429ec2647b0" /><Relationship Type="http://schemas.openxmlformats.org/officeDocument/2006/relationships/slide" Target="/ppt/slides/slide37.xml" Id="R92c45d67a63d4b50" /><Relationship Type="http://schemas.openxmlformats.org/officeDocument/2006/relationships/slide" Target="/ppt/slides/slide38.xml" Id="R84f52d517d0e4198" /><Relationship Type="http://schemas.openxmlformats.org/officeDocument/2006/relationships/slide" Target="/ppt/slides/slide39.xml" Id="Rec7637c817734594" /><Relationship Type="http://schemas.openxmlformats.org/officeDocument/2006/relationships/slide" Target="/ppt/slides/slide40.xml" Id="Rc19d1697b3594b13" /><Relationship Type="http://schemas.openxmlformats.org/officeDocument/2006/relationships/slide" Target="/ppt/slides/slide41.xml" Id="Rfc001cd713bf403e" /><Relationship Type="http://schemas.openxmlformats.org/officeDocument/2006/relationships/slide" Target="/ppt/slides/slide42.xml" Id="R8c33eff1275845d2" /><Relationship Type="http://schemas.openxmlformats.org/officeDocument/2006/relationships/slide" Target="/ppt/slides/slide43.xml" Id="R5e4eaedb2638409c" /><Relationship Type="http://schemas.openxmlformats.org/officeDocument/2006/relationships/slide" Target="/ppt/slides/slide44.xml" Id="Rc9d03bfc2298492c" /><Relationship Type="http://schemas.openxmlformats.org/officeDocument/2006/relationships/slide" Target="/ppt/slides/slide45.xml" Id="R749052811c764767" /><Relationship Type="http://schemas.openxmlformats.org/officeDocument/2006/relationships/slide" Target="/ppt/slides/slide46.xml" Id="Rf9883186f4b042cb" /><Relationship Type="http://schemas.openxmlformats.org/officeDocument/2006/relationships/slide" Target="/ppt/slides/slide47.xml" Id="Rb08c14a7121d4696" /><Relationship Type="http://schemas.openxmlformats.org/officeDocument/2006/relationships/slide" Target="/ppt/slides/slide48.xml" Id="Ra293919b93c84464" /><Relationship Type="http://schemas.openxmlformats.org/officeDocument/2006/relationships/slide" Target="/ppt/slides/slide49.xml" Id="Rb012b48a58c949ac" /><Relationship Type="http://schemas.openxmlformats.org/officeDocument/2006/relationships/slide" Target="/ppt/slides/slide50.xml" Id="Ra7a9f27ccf2643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d56eb458674a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a8566226974646" /><Relationship Type="http://schemas.openxmlformats.org/officeDocument/2006/relationships/notesMaster" Target="/ppt/notesMasters/notesMaster1.xml" Id="Red51eb603d4040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769f3f81d541cb" /><Relationship Type="http://schemas.openxmlformats.org/officeDocument/2006/relationships/notesMaster" Target="/ppt/notesMasters/notesMaster1.xml" Id="R8dc3a7784d264e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d25972051a492d" /><Relationship Type="http://schemas.openxmlformats.org/officeDocument/2006/relationships/notesMaster" Target="/ppt/notesMasters/notesMaster1.xml" Id="Rafc7234c042f47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71c7d2ba9e454b" /><Relationship Type="http://schemas.openxmlformats.org/officeDocument/2006/relationships/notesMaster" Target="/ppt/notesMasters/notesMaster1.xml" Id="R95db29b42bd740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be2c7d93c143e3" /><Relationship Type="http://schemas.openxmlformats.org/officeDocument/2006/relationships/notesMaster" Target="/ppt/notesMasters/notesMaster1.xml" Id="R3eef8aa95b964c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5ca03780664d4a" /><Relationship Type="http://schemas.openxmlformats.org/officeDocument/2006/relationships/notesMaster" Target="/ppt/notesMasters/notesMaster1.xml" Id="Re3040856f0324d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282036cd3d4093" /><Relationship Type="http://schemas.openxmlformats.org/officeDocument/2006/relationships/notesMaster" Target="/ppt/notesMasters/notesMaster1.xml" Id="R101714dc7bae4d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0596814dc74a48" /><Relationship Type="http://schemas.openxmlformats.org/officeDocument/2006/relationships/notesMaster" Target="/ppt/notesMasters/notesMaster1.xml" Id="R936ea05cfe4746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077bffd63b4097" /><Relationship Type="http://schemas.openxmlformats.org/officeDocument/2006/relationships/notesMaster" Target="/ppt/notesMasters/notesMaster1.xml" Id="R53e4974a0f6d40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bddf8d7ce94dcb" /><Relationship Type="http://schemas.openxmlformats.org/officeDocument/2006/relationships/notesMaster" Target="/ppt/notesMasters/notesMaster1.xml" Id="Rdaa9637a0c384f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b6db4fab2514243" /><Relationship Type="http://schemas.openxmlformats.org/officeDocument/2006/relationships/notesMaster" Target="/ppt/notesMasters/notesMaster1.xml" Id="Rb5e46188677546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82fa10852a04705" /><Relationship Type="http://schemas.openxmlformats.org/officeDocument/2006/relationships/notesMaster" Target="/ppt/notesMasters/notesMaster1.xml" Id="R313ab7350e6b4c9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8f28d02d554ca4" /><Relationship Type="http://schemas.openxmlformats.org/officeDocument/2006/relationships/notesMaster" Target="/ppt/notesMasters/notesMaster1.xml" Id="R2ad796b0574341b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3dd73670412479c" /><Relationship Type="http://schemas.openxmlformats.org/officeDocument/2006/relationships/notesMaster" Target="/ppt/notesMasters/notesMaster1.xml" Id="Rca0f37da417c4e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099ee21d2942f8" /><Relationship Type="http://schemas.openxmlformats.org/officeDocument/2006/relationships/notesMaster" Target="/ppt/notesMasters/notesMaster1.xml" Id="Re9a90b25f8ee4b5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b03d107de64488" /><Relationship Type="http://schemas.openxmlformats.org/officeDocument/2006/relationships/notesMaster" Target="/ppt/notesMasters/notesMaster1.xml" Id="Rcdc15addf50d4e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2aa552ac1f74423" /><Relationship Type="http://schemas.openxmlformats.org/officeDocument/2006/relationships/notesMaster" Target="/ppt/notesMasters/notesMaster1.xml" Id="Rfb8bfef41e9545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76ac046b9c54e18" /><Relationship Type="http://schemas.openxmlformats.org/officeDocument/2006/relationships/notesMaster" Target="/ppt/notesMasters/notesMaster1.xml" Id="R58a7fb68dd0f434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6ff5b71676b471d" /><Relationship Type="http://schemas.openxmlformats.org/officeDocument/2006/relationships/notesMaster" Target="/ppt/notesMasters/notesMaster1.xml" Id="R23425a072b93476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4f144fed69540fe" /><Relationship Type="http://schemas.openxmlformats.org/officeDocument/2006/relationships/notesMaster" Target="/ppt/notesMasters/notesMaster1.xml" Id="R88f26504ec26459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94e26730c294103" /><Relationship Type="http://schemas.openxmlformats.org/officeDocument/2006/relationships/notesMaster" Target="/ppt/notesMasters/notesMaster1.xml" Id="R3127b9c88192449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ddfae99abd44887" /><Relationship Type="http://schemas.openxmlformats.org/officeDocument/2006/relationships/notesMaster" Target="/ppt/notesMasters/notesMaster1.xml" Id="Ra8ad81a671ac4ef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6cc9b0ce5014a92" /><Relationship Type="http://schemas.openxmlformats.org/officeDocument/2006/relationships/notesMaster" Target="/ppt/notesMasters/notesMaster1.xml" Id="Rddb27b5c0ff6440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f5e7d6d955344ec" /><Relationship Type="http://schemas.openxmlformats.org/officeDocument/2006/relationships/notesMaster" Target="/ppt/notesMasters/notesMaster1.xml" Id="R3027c75e9bd5474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8f2f811982d4108" /><Relationship Type="http://schemas.openxmlformats.org/officeDocument/2006/relationships/notesMaster" Target="/ppt/notesMasters/notesMaster1.xml" Id="R8536015c86a647d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55601c442104c30" /><Relationship Type="http://schemas.openxmlformats.org/officeDocument/2006/relationships/notesMaster" Target="/ppt/notesMasters/notesMaster1.xml" Id="R86144422a8b446a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55df2911e6d4e47" /><Relationship Type="http://schemas.openxmlformats.org/officeDocument/2006/relationships/notesMaster" Target="/ppt/notesMasters/notesMaster1.xml" Id="R081e18842649406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883bef5751d4077" /><Relationship Type="http://schemas.openxmlformats.org/officeDocument/2006/relationships/notesMaster" Target="/ppt/notesMasters/notesMaster1.xml" Id="R1e85a7ad4b9844f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af81dbf64be4ba0" /><Relationship Type="http://schemas.openxmlformats.org/officeDocument/2006/relationships/notesMaster" Target="/ppt/notesMasters/notesMaster1.xml" Id="R8d7fcee1843d4b9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086e436fec5435b" /><Relationship Type="http://schemas.openxmlformats.org/officeDocument/2006/relationships/notesMaster" Target="/ppt/notesMasters/notesMaster1.xml" Id="R9e63d6d4dc4941e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cf8a30afc394bb2" /><Relationship Type="http://schemas.openxmlformats.org/officeDocument/2006/relationships/notesMaster" Target="/ppt/notesMasters/notesMaster1.xml" Id="R482bd48e1e75466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50a4be224194704" /><Relationship Type="http://schemas.openxmlformats.org/officeDocument/2006/relationships/notesMaster" Target="/ppt/notesMasters/notesMaster1.xml" Id="R8a1d386fdc154d8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8a8ec807f9f4fc5" /><Relationship Type="http://schemas.openxmlformats.org/officeDocument/2006/relationships/notesMaster" Target="/ppt/notesMasters/notesMaster1.xml" Id="R6e13c7dd87a7468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b3e969d728a409d" /><Relationship Type="http://schemas.openxmlformats.org/officeDocument/2006/relationships/notesMaster" Target="/ppt/notesMasters/notesMaster1.xml" Id="Rcd3aa049ef88431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27e734e57fb4db6" /><Relationship Type="http://schemas.openxmlformats.org/officeDocument/2006/relationships/notesMaster" Target="/ppt/notesMasters/notesMaster1.xml" Id="R2aaf717087e6412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a53d94fad47499c" /><Relationship Type="http://schemas.openxmlformats.org/officeDocument/2006/relationships/notesMaster" Target="/ppt/notesMasters/notesMaster1.xml" Id="R1d1a34de6fda4b6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c13c2d6d6644747" /><Relationship Type="http://schemas.openxmlformats.org/officeDocument/2006/relationships/notesMaster" Target="/ppt/notesMasters/notesMaster1.xml" Id="Rbf16354c5b0742e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eda32ab22384ce1" /><Relationship Type="http://schemas.openxmlformats.org/officeDocument/2006/relationships/notesMaster" Target="/ppt/notesMasters/notesMaster1.xml" Id="Rcc3d6839955f490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7f0b0a96e6c4717" /><Relationship Type="http://schemas.openxmlformats.org/officeDocument/2006/relationships/notesMaster" Target="/ppt/notesMasters/notesMaster1.xml" Id="Ra2e23b1be8f445a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0faa13832724d39" /><Relationship Type="http://schemas.openxmlformats.org/officeDocument/2006/relationships/notesMaster" Target="/ppt/notesMasters/notesMaster1.xml" Id="Rd200bb8407694ba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783286ba6714145" /><Relationship Type="http://schemas.openxmlformats.org/officeDocument/2006/relationships/notesMaster" Target="/ppt/notesMasters/notesMaster1.xml" Id="R01b5fa2923784b9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813221e91664634" /><Relationship Type="http://schemas.openxmlformats.org/officeDocument/2006/relationships/notesMaster" Target="/ppt/notesMasters/notesMaster1.xml" Id="R6ed4c2d3b55942e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c131da0b237487b" /><Relationship Type="http://schemas.openxmlformats.org/officeDocument/2006/relationships/notesMaster" Target="/ppt/notesMasters/notesMaster1.xml" Id="R7e7bb450068b464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f726a6bc1a44cb1" /><Relationship Type="http://schemas.openxmlformats.org/officeDocument/2006/relationships/notesMaster" Target="/ppt/notesMasters/notesMaster1.xml" Id="Rc28c95af08ce465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519923b4ebc4352" /><Relationship Type="http://schemas.openxmlformats.org/officeDocument/2006/relationships/notesMaster" Target="/ppt/notesMasters/notesMaster1.xml" Id="R98b521efaea047a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3a0a82546e545fd" /><Relationship Type="http://schemas.openxmlformats.org/officeDocument/2006/relationships/notesMaster" Target="/ppt/notesMasters/notesMaster1.xml" Id="R16be6f65780a470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de443817d7f4c6e" /><Relationship Type="http://schemas.openxmlformats.org/officeDocument/2006/relationships/notesMaster" Target="/ppt/notesMasters/notesMaster1.xml" Id="R677da7aa184e45d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592b9ed76c04757" /><Relationship Type="http://schemas.openxmlformats.org/officeDocument/2006/relationships/notesMaster" Target="/ppt/notesMasters/notesMaster1.xml" Id="R7ca0a9cd73bb411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f65069d3d7d46ba" /><Relationship Type="http://schemas.openxmlformats.org/officeDocument/2006/relationships/notesMaster" Target="/ppt/notesMasters/notesMaster1.xml" Id="R1165e48b934d4bb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dbb6319a1234ed6" /><Relationship Type="http://schemas.openxmlformats.org/officeDocument/2006/relationships/notesMaster" Target="/ppt/notesMasters/notesMaster1.xml" Id="R89a1cc93fe3047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Bella Lupita</a:t>
            </a:r>
          </a:p>
          <a:p xmlns:a="http://schemas.openxmlformats.org/drawingml/2006/main">
            <a:r>
              <a:t/>
            </a:r>
          </a:p>
          <a:p xmlns:a="http://schemas.openxmlformats.org/drawingml/2006/main">
            <a:r>
              <a:t>Presentación para propietarios y personal. Aplicación consultada el 12 de octubre de 2026. Los importes y estados de las capturas pertenecen a ese momento. Las capturas del cliente se obtuvieron en la aplicación. Las administrativas son ejemplos guardados en las pruebas del proyecto, identificados en cada lámina. No se completó acceso autenticado al panel durante esta revisión. La explicación se contrastó con el código disponible.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cuenta que acompaña cada visita</a:t>
            </a:r>
          </a:p>
          <a:p xmlns:a="http://schemas.openxmlformats.org/drawingml/2006/main">
            <a:r>
              <a:t/>
            </a:r>
          </a:p>
          <a:p xmlns:a="http://schemas.openxmlformats.org/drawingml/2006/main">
            <a:r>
              <a:t>El valor descrito es la utilidad de las funciones observadas. No implica una mejora de ventas medida ni una proyección de rentabilidad.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mapa de la aplicación</a:t>
            </a:r>
          </a:p>
          <a:p xmlns:a="http://schemas.openxmlformats.org/drawingml/2006/main">
            <a:r>
              <a:t/>
            </a:r>
          </a:p>
          <a:p xmlns:a="http://schemas.openxmlformats.org/drawingml/2006/main">
            <a:r>
              <a:t>Cliente: https://app.labellalupita.com/. Equipo: https://app.labellalupita.com/personal. La visibilidad depende del rol. Navegación verificada en src/casa/App.tsx y src/casa/pantallas/Personal.tsx.</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acceso del cliente</a:t>
            </a:r>
          </a:p>
          <a:p xmlns:a="http://schemas.openxmlformats.org/drawingml/2006/main">
            <a:r>
              <a:t/>
            </a:r>
          </a:p>
          <a:p xmlns:a="http://schemas.openxmlformats.org/drawingml/2006/main">
            <a:r>
              <a:t>La Carta, Reservar y Conocé tu club tienen recorridos públicos. Las operaciones personales requieren cuenta. Si el servicio de correo no está disponible, la interfaz permite volver a comprobarlo. El teléfono es de contacto; el correo es el medio de acceso. La sesión del cliente puede durar hasta treinta días.</a:t>
            </a:r>
          </a:p>
          <a:p xmlns:a="http://schemas.openxmlformats.org/drawingml/2006/main">
            <a:r>
              <a:t/>
            </a:r>
          </a:p>
          <a:p xmlns:a="http://schemas.openxmlformats.org/drawingml/2006/main">
            <a:r>
              <a:t>Fuentes del proyecto:</a:t>
            </a:r>
          </a:p>
          <a:p xmlns:a="http://schemas.openxmlformats.org/drawingml/2006/main">
            <a:r>
              <a:t>club-lupita/src/casa/componentes/AccesoPersonal.tsx</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Inicio: la visita en un vistazo</a:t>
            </a:r>
          </a:p>
          <a:p xmlns:a="http://schemas.openxmlformats.org/drawingml/2006/main">
            <a:r>
              <a:t/>
            </a:r>
          </a:p>
          <a:p xmlns:a="http://schemas.openxmlformats.org/drawingml/2006/main">
            <a:r>
              <a:t>Ocultar saldo en Inicio cambia su visibilidad en esta pantalla. No elimina el dinero de la cuenta. Los mensajes de última consulta ayudan a reconocer cuándo se actualizaron los datos.</a:t>
            </a:r>
          </a:p>
          <a:p xmlns:a="http://schemas.openxmlformats.org/drawingml/2006/main">
            <a:r>
              <a:t/>
            </a:r>
          </a:p>
          <a:p xmlns:a="http://schemas.openxmlformats.org/drawingml/2006/main">
            <a:r>
              <a:t>Fuentes del proyecto:</a:t>
            </a:r>
          </a:p>
          <a:p xmlns:a="http://schemas.openxmlformats.org/drawingml/2006/main">
            <a:r>
              <a:t>club-lupita/src/casa/pantallas/Inicio.tsx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Cuenta de Casa y recargas</a:t>
            </a:r>
          </a:p>
          <a:p xmlns:a="http://schemas.openxmlformats.org/drawingml/2006/main">
            <a:r>
              <a:t/>
            </a:r>
          </a:p>
          <a:p xmlns:a="http://schemas.openxmlformats.org/drawingml/2006/main">
            <a:r>
              <a:t>La app registra el saldo después del pago presencial. El formulario de recarga no cobra una tarjeta por Internet. El personal comunica cualquier bono aplicable antes de cobrar. No se presume un porcentaje de bono.</a:t>
            </a:r>
          </a:p>
          <a:p xmlns:a="http://schemas.openxmlformats.org/drawingml/2006/main">
            <a:r>
              <a:t/>
            </a:r>
          </a:p>
          <a:p xmlns:a="http://schemas.openxmlformats.org/drawingml/2006/main">
            <a:r>
              <a:t>Fuentes del proyecto:</a:t>
            </a:r>
          </a:p>
          <a:p xmlns:a="http://schemas.openxmlformats.org/drawingml/2006/main">
            <a:r>
              <a:t>club-lupita/src/casa/componentes/CajaCliente.tsx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pase identifica la cuenta</a:t>
            </a:r>
          </a:p>
          <a:p xmlns:a="http://schemas.openxmlformats.org/drawingml/2006/main">
            <a:r>
              <a:t/>
            </a:r>
          </a:p>
          <a:p xmlns:a="http://schemas.openxmlformats.org/drawingml/2006/main">
            <a:r>
              <a:t>No confundir el código del pase con un código de verificación de correo ni con los códigos temporales de beneficios. El pase por sí solo no autoriza cualquier cargo. El recorte omite el nombre completo y el identificador personal.</a:t>
            </a:r>
          </a:p>
          <a:p xmlns:a="http://schemas.openxmlformats.org/drawingml/2006/main">
            <a:r>
              <a:t/>
            </a:r>
          </a:p>
          <a:p xmlns:a="http://schemas.openxmlformats.org/drawingml/2006/main">
            <a:r>
              <a:t>Fuentes del proyecto:</a:t>
            </a:r>
          </a:p>
          <a:p xmlns:a="http://schemas.openxmlformats.org/drawingml/2006/main">
            <a:r>
              <a:t>club-lupita/src/casa/componentes/PaseSocio.tsx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https://app.labellalupita.com/club</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Carta: encontrar qué pedir</a:t>
            </a:r>
          </a:p>
          <a:p xmlns:a="http://schemas.openxmlformats.org/drawingml/2006/main">
            <a:r>
              <a:t/>
            </a:r>
          </a:p>
          <a:p xmlns:a="http://schemas.openxmlformats.org/drawingml/2006/main">
            <a:r>
              <a:t>La pantalla consultada muestra retiro en barra de Plaza La Fe y C$40 de empaque por pedido. El equipo puede cambiar este cargo y el horario desde la configuración. No se ofrece envío a domicilio desde este flujo.</a:t>
            </a:r>
          </a:p>
          <a:p xmlns:a="http://schemas.openxmlformats.org/drawingml/2006/main">
            <a:r>
              <a:t/>
            </a:r>
          </a:p>
          <a:p xmlns:a="http://schemas.openxmlformats.org/drawingml/2006/main">
            <a:r>
              <a:t>Fuentes del proyecto:</a:t>
            </a:r>
          </a:p>
          <a:p xmlns:a="http://schemas.openxmlformats.org/drawingml/2006/main">
            <a:r>
              <a:t>club-lupita/src/casa/pantallas/Pedir.tsx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https://app.labellalupita.com/pedir</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ficha de cada producto</a:t>
            </a:r>
          </a:p>
          <a:p xmlns:a="http://schemas.openxmlformats.org/drawingml/2006/main">
            <a:r>
              <a:t/>
            </a:r>
          </a:p>
          <a:p xmlns:a="http://schemas.openxmlformats.org/drawingml/2006/main">
            <a:r>
              <a:t>Cuando la foto o la porción no están verificadas, la pantalla lo indica. Las opciones no están presentes en todos los productos. La app dispone de fichas revisadas con cocina para publicar información comprobada.</a:t>
            </a:r>
          </a:p>
          <a:p xmlns:a="http://schemas.openxmlformats.org/drawingml/2006/main">
            <a:r>
              <a:t/>
            </a:r>
          </a:p>
          <a:p xmlns:a="http://schemas.openxmlformats.org/drawingml/2006/main">
            <a:r>
              <a:t>Fuentes del proyecto:</a:t>
            </a:r>
          </a:p>
          <a:p xmlns:a="http://schemas.openxmlformats.org/drawingml/2006/main">
            <a:r>
              <a:t>club-lupita/src/casa/pantallas/DetalleCarta.tsx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https://app.labellalupita.com/pedir</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pedido antes del pago</a:t>
            </a:r>
          </a:p>
          <a:p xmlns:a="http://schemas.openxmlformats.org/drawingml/2006/main">
            <a:r>
              <a:t/>
            </a:r>
          </a:p>
          <a:p xmlns:a="http://schemas.openxmlformats.org/drawingml/2006/main">
            <a:r>
              <a:t>El pedido existente de la sesión se usó solo para observar el panel. No se pagó ni se vació. La app comprueba disponibilidad y total antes del cobro. Si aparece un resultado incierto, se debe consultar o recuperar el comprobante antes de repetir el pago.</a:t>
            </a:r>
          </a:p>
          <a:p xmlns:a="http://schemas.openxmlformats.org/drawingml/2006/main">
            <a:r>
              <a:t/>
            </a:r>
          </a:p>
          <a:p xmlns:a="http://schemas.openxmlformats.org/drawingml/2006/main">
            <a:r>
              <a:t>Fuentes del proyecto:</a:t>
            </a:r>
          </a:p>
          <a:p xmlns:a="http://schemas.openxmlformats.org/drawingml/2006/main">
            <a:r>
              <a:t>club-lupita/src/casa/pantallas/Pedir.tsx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https://app.labellalupita.com/pedir</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 compras y reservas</a:t>
            </a:r>
          </a:p>
          <a:p xmlns:a="http://schemas.openxmlformats.org/drawingml/2006/main">
            <a:r>
              <a:t/>
            </a:r>
          </a:p>
          <a:p xmlns:a="http://schemas.openxmlformats.org/drawingml/2006/main">
            <a:r>
              <a:t>Una solicitud de ayuda no cancela por sí misma una compra ni devuelve dinero. La cancelación de pedidos la confirma el equipo. La reserva histórica mostrada es evidencia de interfaz, no una reserva futura disponible.</a:t>
            </a:r>
          </a:p>
          <a:p xmlns:a="http://schemas.openxmlformats.org/drawingml/2006/main">
            <a:r>
              <a:t/>
            </a:r>
          </a:p>
          <a:p xmlns:a="http://schemas.openxmlformats.org/drawingml/2006/main">
            <a:r>
              <a:t>Fuentes del proyecto:</a:t>
            </a:r>
          </a:p>
          <a:p xmlns:a="http://schemas.openxmlformats.org/drawingml/2006/main">
            <a:r>
              <a:t>club-lupita/src/casa/pantallas/MisCompras.tsx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https://app.labellalupita.com/compras</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Tienda: café para llevar a casa</a:t>
            </a:r>
          </a:p>
          <a:p xmlns:a="http://schemas.openxmlformats.org/drawingml/2006/main">
            <a:r>
              <a:t/>
            </a:r>
          </a:p>
          <a:p xmlns:a="http://schemas.openxmlformats.org/drawingml/2006/main">
            <a:r>
              <a:t>Captura de producción: lote 6, C$890 y una unidad visible. Son datos del momento, no precios o stock permanentes. La preventa no debe presentarse como habilitada mientras falten condiciones. La bolsa incluida en Mesa Fundadora es un beneficio distinto.</a:t>
            </a:r>
          </a:p>
          <a:p xmlns:a="http://schemas.openxmlformats.org/drawingml/2006/main">
            <a:r>
              <a:t/>
            </a:r>
          </a:p>
          <a:p xmlns:a="http://schemas.openxmlformats.org/drawingml/2006/main">
            <a:r>
              <a:t>Fuentes del proyecto:</a:t>
            </a:r>
          </a:p>
          <a:p xmlns:a="http://schemas.openxmlformats.org/drawingml/2006/main">
            <a:r>
              <a:t>club-lupita/src/casa/pantallas/Tienda.tsx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https://app.labellalupita.com/tienda</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Encargos grandes y regalos</a:t>
            </a:r>
          </a:p>
          <a:p xmlns:a="http://schemas.openxmlformats.org/drawingml/2006/main">
            <a:r>
              <a:t/>
            </a:r>
          </a:p>
          <a:p xmlns:a="http://schemas.openxmlformats.org/drawingml/2006/main">
            <a:r>
              <a:t>Preparar o abrir la consulta no equivale a comprar, pagar ni confirmar una fecha. La persona debe enviar el mensaje en WhatsApp. No se envió ninguna consulta durante la investigación.</a:t>
            </a:r>
          </a:p>
          <a:p xmlns:a="http://schemas.openxmlformats.org/drawingml/2006/main">
            <a:r>
              <a:t/>
            </a:r>
          </a:p>
          <a:p xmlns:a="http://schemas.openxmlformats.org/drawingml/2006/main">
            <a:r>
              <a:t>Fuentes del proyecto:</a:t>
            </a:r>
          </a:p>
          <a:p xmlns:a="http://schemas.openxmlformats.org/drawingml/2006/main">
            <a:r>
              <a:t>club-lupita/src/casa/pantallas/Tienda.tsx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https://app.labellalupita.com/tienda</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Conocé tu club: beneficios y condiciones</a:t>
            </a:r>
          </a:p>
          <a:p xmlns:a="http://schemas.openxmlformats.org/drawingml/2006/main">
            <a:r>
              <a:t/>
            </a:r>
          </a:p>
          <a:p xmlns:a="http://schemas.openxmlformats.org/drawingml/2006/main">
            <a:r>
              <a:t>Consultar esta página no inicia un cobro. Los datos de cuota y beneficios proceden de la oferta actual. La página distingue la cuenta sin cuota de los consumos, entradas y anticipos que se pagan por separado.</a:t>
            </a:r>
          </a:p>
          <a:p xmlns:a="http://schemas.openxmlformats.org/drawingml/2006/main">
            <a:r>
              <a:t/>
            </a:r>
          </a:p>
          <a:p xmlns:a="http://schemas.openxmlformats.org/drawingml/2006/main">
            <a:r>
              <a:t>Fuentes del proyecto:</a:t>
            </a:r>
          </a:p>
          <a:p xmlns:a="http://schemas.openxmlformats.org/drawingml/2006/main">
            <a:r>
              <a:t>club-lupita/src/casa/pantallas/ConoceClub.tsx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https://app.labellalupita.com/conoce-tu-club</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 Club: saldo, sellos y nivel</a:t>
            </a:r>
          </a:p>
          <a:p xmlns:a="http://schemas.openxmlformats.org/drawingml/2006/main">
            <a:r>
              <a:t/>
            </a:r>
          </a:p>
          <a:p xmlns:a="http://schemas.openxmlformats.org/drawingml/2006/main">
            <a:r>
              <a:t>No atribuir a los puntos un valor monetario ni prometer su canje como saldo. La interfaz diferencia expresamente puntos, sellos y membresía. Las compras que suman sello dependen de las reglas vigentes.</a:t>
            </a:r>
          </a:p>
          <a:p xmlns:a="http://schemas.openxmlformats.org/drawingml/2006/main">
            <a:r>
              <a:t/>
            </a:r>
          </a:p>
          <a:p xmlns:a="http://schemas.openxmlformats.org/drawingml/2006/main">
            <a:r>
              <a:t>Fuentes del proyecto:</a:t>
            </a:r>
          </a:p>
          <a:p xmlns:a="http://schemas.openxmlformats.org/drawingml/2006/main">
            <a:r>
              <a:t>club-lupita/src/casa/pantallas/Club.tsx</a:t>
            </a:r>
          </a:p>
          <a:p xmlns:a="http://schemas.openxmlformats.org/drawingml/2006/main">
            <a:r>
              <a:t>club-lupita/src/casa/pantallas/Perfil.tsx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https://app.labellalupita.com/club</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Mesa Fundadora y sus beneficios</a:t>
            </a:r>
          </a:p>
          <a:p xmlns:a="http://schemas.openxmlformats.org/drawingml/2006/main">
            <a:r>
              <a:t/>
            </a:r>
          </a:p>
          <a:p xmlns:a="http://schemas.openxmlformats.org/drawingml/2006/main">
            <a:r>
              <a:t>Condiciones fundadora-2026-10. Los cinco beneficios tienen condiciones operativas. Antes de contratar hay que consultar tamaños, extras, productos incluidos y criterio VIP vigentes. La prioridad no garantiza mesa ni desplaza una reserva confirmada.</a:t>
            </a:r>
          </a:p>
          <a:p xmlns:a="http://schemas.openxmlformats.org/drawingml/2006/main">
            <a:r>
              <a:t/>
            </a:r>
          </a:p>
          <a:p xmlns:a="http://schemas.openxmlformats.org/drawingml/2006/main">
            <a:r>
              <a:t>Fuentes del proyecto:</a:t>
            </a:r>
          </a:p>
          <a:p xmlns:a="http://schemas.openxmlformats.org/drawingml/2006/main">
            <a:r>
              <a:t>club-lupita/src/casa/pantallas/Club.tsx</a:t>
            </a:r>
          </a:p>
          <a:p xmlns:a="http://schemas.openxmlformats.org/drawingml/2006/main">
            <a:r>
              <a:t>club-lupita/src/compartido/club.ts</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https://app.labellalupita.com/club</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Membresía: uso y renovación</a:t>
            </a:r>
          </a:p>
          <a:p xmlns:a="http://schemas.openxmlformats.org/drawingml/2006/main">
            <a:r>
              <a:t/>
            </a:r>
          </a:p>
          <a:p xmlns:a="http://schemas.openxmlformats.org/drawingml/2006/main">
            <a:r>
              <a:t>Las nuevas contrataciones tras finalizar un período dependen de plazas disponibles. Los contratos anteriores mantienen su versión. El café no usado no debe prometerse acumulable; la regla aprobada pendiente especifica consumo diario y personal. Los códigos temporales no son una entrega registrada.</a:t>
            </a:r>
          </a:p>
          <a:p xmlns:a="http://schemas.openxmlformats.org/drawingml/2006/main">
            <a:r>
              <a:t/>
            </a:r>
          </a:p>
          <a:p xmlns:a="http://schemas.openxmlformats.org/drawingml/2006/main">
            <a:r>
              <a:t>Fuentes del proyecto:</a:t>
            </a:r>
          </a:p>
          <a:p xmlns:a="http://schemas.openxmlformats.org/drawingml/2006/main">
            <a:r>
              <a:t>club-lupita/src/casa/pantallas/Club.tsx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https://app.labellalupita.com/club</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Experiencias y entradas</a:t>
            </a:r>
          </a:p>
          <a:p xmlns:a="http://schemas.openxmlformats.org/drawingml/2006/main">
            <a:r>
              <a:t/>
            </a:r>
          </a:p>
          <a:p xmlns:a="http://schemas.openxmlformats.org/drawingml/2006/main">
            <a:r>
              <a:t>Las experiencias nuevas abren para miembros cuarenta y ocho horas antes de la venta pública. La app contempla cesión de entradas y cancelación administrativa con devoluciones de entradas sin asistencia y cobro comprobado. No se simuló una compra.</a:t>
            </a:r>
          </a:p>
          <a:p xmlns:a="http://schemas.openxmlformats.org/drawingml/2006/main">
            <a:r>
              <a:t/>
            </a:r>
          </a:p>
          <a:p xmlns:a="http://schemas.openxmlformats.org/drawingml/2006/main">
            <a:r>
              <a:t>Fuentes del proyecto:</a:t>
            </a:r>
          </a:p>
          <a:p xmlns:a="http://schemas.openxmlformats.org/drawingml/2006/main">
            <a:r>
              <a:t>club-lupita/src/casa/pantallas/Club.tsx</a:t>
            </a:r>
          </a:p>
          <a:p xmlns:a="http://schemas.openxmlformats.org/drawingml/2006/main">
            <a:r>
              <a:t>club-lupita/src/casa/equipo/Club.tsx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https://app.labellalupita.com/club</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Reservar: elegir el lugar</a:t>
            </a:r>
          </a:p>
          <a:p xmlns:a="http://schemas.openxmlformats.org/drawingml/2006/main">
            <a:r>
              <a:t/>
            </a:r>
          </a:p>
          <a:p xmlns:a="http://schemas.openxmlformats.org/drawingml/2006/main">
            <a:r>
              <a:t>Una zona sin mesas configuradas no puede confirmar en línea. La consulta externa no confirma una reserva. Las descripciones y condiciones de accesibilidad deben corresponder al lugar real.</a:t>
            </a:r>
          </a:p>
          <a:p xmlns:a="http://schemas.openxmlformats.org/drawingml/2006/main">
            <a:r>
              <a:t/>
            </a:r>
          </a:p>
          <a:p xmlns:a="http://schemas.openxmlformats.org/drawingml/2006/main">
            <a:r>
              <a:t>Fuentes del proyecto:</a:t>
            </a:r>
          </a:p>
          <a:p xmlns:a="http://schemas.openxmlformats.org/drawingml/2006/main">
            <a:r>
              <a:t>club-lupita/src/casa/pantallas/Reservar.tsx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https://app.labellalupita.com/reservar</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Reservar: fecha, grupo y revisión</a:t>
            </a:r>
          </a:p>
          <a:p xmlns:a="http://schemas.openxmlformats.org/drawingml/2006/main">
            <a:r>
              <a:t/>
            </a:r>
          </a:p>
          <a:p xmlns:a="http://schemas.openxmlformats.org/drawingml/2006/main">
            <a:r>
              <a:t>La interfaz admite de una a doce personas. La configuración establece anticipación, duración máxima y límite de reservas activas. No se confirmó ninguna reserva. El borrador se conserva durante veinticuatro horas en la pestaña.</a:t>
            </a:r>
          </a:p>
          <a:p xmlns:a="http://schemas.openxmlformats.org/drawingml/2006/main">
            <a:r>
              <a:t/>
            </a:r>
          </a:p>
          <a:p xmlns:a="http://schemas.openxmlformats.org/drawingml/2006/main">
            <a:r>
              <a:t>Fuentes del proyecto:</a:t>
            </a:r>
          </a:p>
          <a:p xmlns:a="http://schemas.openxmlformats.org/drawingml/2006/main">
            <a:r>
              <a:t>club-lupita/src/casa/pantallas/Reservar.tsx</a:t>
            </a:r>
          </a:p>
          <a:p xmlns:a="http://schemas.openxmlformats.org/drawingml/2006/main">
            <a:r>
              <a:t>club-lupita/src/compartido/reservas.ts</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https://app.labellalupita.com/reservar</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 reservas y el anticipo VIP</a:t>
            </a:r>
          </a:p>
          <a:p xmlns:a="http://schemas.openxmlformats.org/drawingml/2006/main">
            <a:r>
              <a:t/>
            </a:r>
          </a:p>
          <a:p xmlns:a="http://schemas.openxmlformats.org/drawingml/2006/main">
            <a:r>
              <a:t>La devolución conserva cualquier consumo ya aplicado. La inasistencia la registra el personal. No se trata de un abono automático a la tarjeta bancaria. El estado de una reserva pasada puede seguir confirmada hasta que el equipo registre lo ocurrido.</a:t>
            </a:r>
          </a:p>
          <a:p xmlns:a="http://schemas.openxmlformats.org/drawingml/2006/main">
            <a:r>
              <a:t/>
            </a:r>
          </a:p>
          <a:p xmlns:a="http://schemas.openxmlformats.org/drawingml/2006/main">
            <a:r>
              <a:t>Fuentes del proyecto:</a:t>
            </a:r>
          </a:p>
          <a:p xmlns:a="http://schemas.openxmlformats.org/drawingml/2006/main">
            <a:r>
              <a:t>club-lupita/src/casa/pantallas/MisReservas.tsx</a:t>
            </a:r>
          </a:p>
          <a:p xmlns:a="http://schemas.openxmlformats.org/drawingml/2006/main">
            <a:r>
              <a:t>club-lupita/src/compartido/reservas.ts</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https://app.labellalupita.com/reservas</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Perfil y preferencias</a:t>
            </a:r>
          </a:p>
          <a:p xmlns:a="http://schemas.openxmlformats.org/drawingml/2006/main">
            <a:r>
              <a:t/>
            </a:r>
          </a:p>
          <a:p xmlns:a="http://schemas.openxmlformats.org/drawingml/2006/main">
            <a:r>
              <a:t>Guardar alergias en el perfil no sustituye conversar con quien atiende ni confirma automáticamente una restricción para cada pedido. Los recortes de esta presentación omiten los datos de contacto privados.</a:t>
            </a:r>
          </a:p>
          <a:p xmlns:a="http://schemas.openxmlformats.org/drawingml/2006/main">
            <a:r>
              <a:t/>
            </a:r>
          </a:p>
          <a:p xmlns:a="http://schemas.openxmlformats.org/drawingml/2006/main">
            <a:r>
              <a:t>Fuentes del proyecto:</a:t>
            </a:r>
          </a:p>
          <a:p xmlns:a="http://schemas.openxmlformats.org/drawingml/2006/main">
            <a:r>
              <a:t>club-lupita/src/casa/pantallas/Perfil.tsx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https://app.labellalupita.com/perfil</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Ayuda, comunicaciones y sesión</a:t>
            </a:r>
          </a:p>
          <a:p xmlns:a="http://schemas.openxmlformats.org/drawingml/2006/main">
            <a:r>
              <a:t/>
            </a:r>
          </a:p>
          <a:p xmlns:a="http://schemas.openxmlformats.org/drawingml/2006/main">
            <a:r>
              <a:t>Las solicitudes no modifican automáticamente acceso, compras, membresías ni saldo. Las promociones por correo son distintas de los mensajes necesarios para el servicio. Esta pantalla no administra consentimiento promocional de WhatsApp.</a:t>
            </a:r>
          </a:p>
          <a:p xmlns:a="http://schemas.openxmlformats.org/drawingml/2006/main">
            <a:r>
              <a:t/>
            </a:r>
          </a:p>
          <a:p xmlns:a="http://schemas.openxmlformats.org/drawingml/2006/main">
            <a:r>
              <a:t>Fuentes del proyecto:</a:t>
            </a:r>
          </a:p>
          <a:p xmlns:a="http://schemas.openxmlformats.org/drawingml/2006/main">
            <a:r>
              <a:t>club-lupita/src/casa/pantallas/Perfil.tsx</a:t>
            </a:r>
          </a:p>
          <a:p xmlns:a="http://schemas.openxmlformats.org/drawingml/2006/main">
            <a:r>
              <a:t>club-lupita/src/casa/componentes/Atencion.tsx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https://app.labellalupita.com/perfil</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operación de la casa</a:t>
            </a:r>
          </a:p>
          <a:p xmlns:a="http://schemas.openxmlformats.org/drawingml/2006/main">
            <a:r>
              <a:t/>
            </a:r>
          </a:p>
          <a:p xmlns:a="http://schemas.openxmlformats.org/drawingml/2006/main">
            <a:r>
              <a:t>La operación real y la capacitación tienen accesos separados. El equipo debe comprobar el entorno indicado en la franja superior antes de trabajar. Las capturas administrativas ilustran pruebas del proyecto y pueden mostrar una versión anterior de ciertos controles. Las instrucciones describen el código actual.</a:t>
            </a:r>
          </a:p>
          <a:p xmlns:a="http://schemas.openxmlformats.org/drawingml/2006/main">
            <a:r>
              <a:t/>
            </a:r>
          </a:p>
          <a:p xmlns:a="http://schemas.openxmlformats.org/drawingml/2006/main">
            <a:r>
              <a:t>Fuentes del proyecto:</a:t>
            </a:r>
          </a:p>
          <a:p xmlns:a="http://schemas.openxmlformats.org/drawingml/2006/main">
            <a:r>
              <a:t>club-lupita/src/casa/pantallas/Personal.tsx</a:t>
            </a:r>
          </a:p>
          <a:p xmlns:a="http://schemas.openxmlformats.org/drawingml/2006/main">
            <a:r>
              <a:t/>
            </a:r>
          </a:p>
          <a:p xmlns:a="http://schemas.openxmlformats.org/drawingml/2006/main">
            <a:r>
              <a:t>Captura administrativa de pruebas conservada en el proyecto: club-lupita/entregables/mejoras-mi-club-2026-10-09/segunda-etapa/evidencia/caja-descuento.png.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Acceso del equipo y seguridad</a:t>
            </a:r>
          </a:p>
          <a:p xmlns:a="http://schemas.openxmlformats.org/drawingml/2006/main">
            <a:r>
              <a:t/>
            </a:r>
          </a:p>
          <a:p xmlns:a="http://schemas.openxmlformats.org/drawingml/2006/main">
            <a:r>
              <a:t>En dispositivo personal el código aplica un bloqueo tras treinta minutos de inactividad. Las invitaciones son individuales y vencen en veinticuatro horas. Las operaciones sensibles pueden pedir confirmar nuevamente la identidad.</a:t>
            </a:r>
          </a:p>
          <a:p xmlns:a="http://schemas.openxmlformats.org/drawingml/2006/main">
            <a:r>
              <a:t/>
            </a:r>
          </a:p>
          <a:p xmlns:a="http://schemas.openxmlformats.org/drawingml/2006/main">
            <a:r>
              <a:t>Fuentes del proyecto:</a:t>
            </a:r>
          </a:p>
          <a:p xmlns:a="http://schemas.openxmlformats.org/drawingml/2006/main">
            <a:r>
              <a:t>club-lupita/src/casa/equipo/Acceso.tsx</a:t>
            </a:r>
          </a:p>
          <a:p xmlns:a="http://schemas.openxmlformats.org/drawingml/2006/main">
            <a:r>
              <a:t>club-lupita/src/casa/pantallas/Personal.tsx</a:t>
            </a:r>
          </a:p>
          <a:p xmlns:a="http://schemas.openxmlformats.org/drawingml/2006/main">
            <a:r>
              <a:t/>
            </a:r>
          </a:p>
          <a:p xmlns:a="http://schemas.openxmlformats.org/drawingml/2006/main">
            <a:r>
              <a:t/>
            </a:r>
          </a:p>
          <a:p xmlns:a="http://schemas.openxmlformats.org/drawingml/2006/main">
            <a:r>
              <a:t/>
            </a:r>
          </a:p>
          <a:p xmlns:a="http://schemas.openxmlformats.org/drawingml/2006/main">
            <a:r>
              <a:t>Pantalla: https://app.labellalupita.com/personal</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Resumen: prioridades del turno</a:t>
            </a:r>
          </a:p>
          <a:p xmlns:a="http://schemas.openxmlformats.org/drawingml/2006/main">
            <a:r>
              <a:t/>
            </a:r>
          </a:p>
          <a:p xmlns:a="http://schemas.openxmlformats.org/drawingml/2006/main">
            <a:r>
              <a:t>El resumen se actualiza automáticamente cada treinta segundos mientras la interfaz lo consulta y permite actualización manual. Es una vista de prioridades, no el cierre contable completo del negocio.</a:t>
            </a:r>
          </a:p>
          <a:p xmlns:a="http://schemas.openxmlformats.org/drawingml/2006/main">
            <a:r>
              <a:t/>
            </a:r>
          </a:p>
          <a:p xmlns:a="http://schemas.openxmlformats.org/drawingml/2006/main">
            <a:r>
              <a:t>Fuentes del proyecto:</a:t>
            </a:r>
          </a:p>
          <a:p xmlns:a="http://schemas.openxmlformats.org/drawingml/2006/main">
            <a:r>
              <a:t>club-lupita/src/casa/equipo/Lecturas.tsx</a:t>
            </a:r>
          </a:p>
          <a:p xmlns:a="http://schemas.openxmlformats.org/drawingml/2006/main">
            <a:r>
              <a:t/>
            </a:r>
          </a:p>
          <a:p xmlns:a="http://schemas.openxmlformats.org/drawingml/2006/main">
            <a:r>
              <a:t>Captura administrativa de pruebas conservada en el proyecto: club-lupita/entregables/auditoria-perfiles-2026-10-07/evidencia/perfiles-ui-ciclo2/propietario-Resumen-1440.png.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https://app.labellalupita.com/personal?seccion=resumen</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Pedidos: de recepción a entrega</a:t>
            </a:r>
          </a:p>
          <a:p xmlns:a="http://schemas.openxmlformats.org/drawingml/2006/main">
            <a:r>
              <a:t/>
            </a:r>
          </a:p>
          <a:p xmlns:a="http://schemas.openxmlformats.org/drawingml/2006/main">
            <a:r>
              <a:t>Estados: recibido, aceptado, preparando, listo, entregado y cancelado. Cocina inicia preparación y marca listo; caja acepta y confirma la entrega. La preparación de pedidos con restricción requiere reconocerla. Cancelar devuelve el importe a Cuenta de Casa.</a:t>
            </a:r>
          </a:p>
          <a:p xmlns:a="http://schemas.openxmlformats.org/drawingml/2006/main">
            <a:r>
              <a:t/>
            </a:r>
          </a:p>
          <a:p xmlns:a="http://schemas.openxmlformats.org/drawingml/2006/main">
            <a:r>
              <a:t>Fuentes del proyecto:</a:t>
            </a:r>
          </a:p>
          <a:p xmlns:a="http://schemas.openxmlformats.org/drawingml/2006/main">
            <a:r>
              <a:t>club-lupita/src/casa/equipo/Pedidos.tsx</a:t>
            </a:r>
          </a:p>
          <a:p xmlns:a="http://schemas.openxmlformats.org/drawingml/2006/main">
            <a:r>
              <a:t/>
            </a:r>
          </a:p>
          <a:p xmlns:a="http://schemas.openxmlformats.org/drawingml/2006/main">
            <a:r>
              <a:t>Captura administrativa de pruebas conservada en el proyecto: club-lupita/entregables/auditoria-perfiles-2026-10-07/evidencia/perfiles-ui-ciclo2/propietario-Pedidos-1440.png.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https://app.labellalupita.com/personal?seccion=pedidos</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Carta: disponibilidad y recepción</a:t>
            </a:r>
          </a:p>
          <a:p xmlns:a="http://schemas.openxmlformats.org/drawingml/2006/main">
            <a:r>
              <a:t/>
            </a:r>
          </a:p>
          <a:p xmlns:a="http://schemas.openxmlformats.org/drawingml/2006/main">
            <a:r>
              <a:t>Los cambios quedan en auditoría con responsable. Cocina no administra precios de empaque, horario ni capacidad. Si otra persona cambia la configuración, se debe recargar la revisión vigente antes de guardar.</a:t>
            </a:r>
          </a:p>
          <a:p xmlns:a="http://schemas.openxmlformats.org/drawingml/2006/main">
            <a:r>
              <a:t/>
            </a:r>
          </a:p>
          <a:p xmlns:a="http://schemas.openxmlformats.org/drawingml/2006/main">
            <a:r>
              <a:t>Fuentes del proyecto:</a:t>
            </a:r>
          </a:p>
          <a:p xmlns:a="http://schemas.openxmlformats.org/drawingml/2006/main">
            <a:r>
              <a:t>club-lupita/src/casa/equipo/CartaOperacion.tsx</a:t>
            </a:r>
          </a:p>
          <a:p xmlns:a="http://schemas.openxmlformats.org/drawingml/2006/main">
            <a:r>
              <a:t/>
            </a:r>
          </a:p>
          <a:p xmlns:a="http://schemas.openxmlformats.org/drawingml/2006/main">
            <a:r>
              <a:t>Captura administrativa de pruebas conservada en el proyecto: club-lupita/entregables/mejoras-carta-2026-10-09/evidencia/operacion-carta.png.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https://app.labellalupita.com/personal?seccion=pedidos</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Fichas de productos verificadas</a:t>
            </a:r>
          </a:p>
          <a:p xmlns:a="http://schemas.openxmlformats.org/drawingml/2006/main">
            <a:r>
              <a:t/>
            </a:r>
          </a:p>
          <a:p xmlns:a="http://schemas.openxmlformats.org/drawingml/2006/main">
            <a:r>
              <a:t>No inferir garantías dietéticas a partir de ingredientes o fotografías. La ficha pide fuente de verificación y confirmación expresa. Este editor no es un módulo general para cambiar los precios de toda la carta.</a:t>
            </a:r>
          </a:p>
          <a:p xmlns:a="http://schemas.openxmlformats.org/drawingml/2006/main">
            <a:r>
              <a:t/>
            </a:r>
          </a:p>
          <a:p xmlns:a="http://schemas.openxmlformats.org/drawingml/2006/main">
            <a:r>
              <a:t>Fuentes del proyecto:</a:t>
            </a:r>
          </a:p>
          <a:p xmlns:a="http://schemas.openxmlformats.org/drawingml/2006/main">
            <a:r>
              <a:t>club-lupita/src/casa/equipo/FichasCarta.tsx</a:t>
            </a:r>
          </a:p>
          <a:p xmlns:a="http://schemas.openxmlformats.org/drawingml/2006/main">
            <a:r>
              <a:t/>
            </a:r>
          </a:p>
          <a:p xmlns:a="http://schemas.openxmlformats.org/drawingml/2006/main">
            <a:r>
              <a:t>Captura administrativa de pruebas conservada en el proyecto: club-lupita/entregables/mejoras-carta-2026-10-09/evidencia/operacion-carta.png.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https://app.labellalupita.com/personal?seccion=pedidos</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Caja: cliente, sellos y recargas</a:t>
            </a:r>
          </a:p>
          <a:p xmlns:a="http://schemas.openxmlformats.org/drawingml/2006/main">
            <a:r>
              <a:t/>
            </a:r>
          </a:p>
          <a:p xmlns:a="http://schemas.openxmlformats.org/drawingml/2006/main">
            <a:r>
              <a:t>Rango de recarga: C$200 a C$3,000. Referencia del ticket: ocho a sesenta y cuatro caracteres. Con las reglas aprobadas activas se pide importe neto elegible de al menos C$100 y verificación del ticket. La app no procesa una tarjeta en este formulario.</a:t>
            </a:r>
          </a:p>
          <a:p xmlns:a="http://schemas.openxmlformats.org/drawingml/2006/main">
            <a:r>
              <a:t/>
            </a:r>
          </a:p>
          <a:p xmlns:a="http://schemas.openxmlformats.org/drawingml/2006/main">
            <a:r>
              <a:t>Fuentes del proyecto:</a:t>
            </a:r>
          </a:p>
          <a:p xmlns:a="http://schemas.openxmlformats.org/drawingml/2006/main">
            <a:r>
              <a:t>club-lupita/src/casa/componentes/CajaCliente.tsx</a:t>
            </a:r>
          </a:p>
          <a:p xmlns:a="http://schemas.openxmlformats.org/drawingml/2006/main">
            <a:r>
              <a:t/>
            </a:r>
          </a:p>
          <a:p xmlns:a="http://schemas.openxmlformats.org/drawingml/2006/main">
            <a:r>
              <a:t>Captura administrativa de pruebas conservada en el proyecto: entregables/implementacion-identidad-2026-09-30/estados/escritorio/caja-recarga.png.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https://app.labellalupita.com/personal?seccion=caja</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Caja: premios y beneficios</a:t>
            </a:r>
          </a:p>
          <a:p xmlns:a="http://schemas.openxmlformats.org/drawingml/2006/main">
            <a:r>
              <a:t/>
            </a:r>
          </a:p>
          <a:p xmlns:a="http://schemas.openxmlformats.org/drawingml/2006/main">
            <a:r>
              <a:t>La consulta de un código no entrega el producto. El registro final se hace al atender al titular. Si un código vence sin usarse, el cliente puede solicitar uno nuevo mientras conserve su beneficio. Las condiciones de premios anteriores se mantienen.</a:t>
            </a:r>
          </a:p>
          <a:p xmlns:a="http://schemas.openxmlformats.org/drawingml/2006/main">
            <a:r>
              <a:t/>
            </a:r>
          </a:p>
          <a:p xmlns:a="http://schemas.openxmlformats.org/drawingml/2006/main">
            <a:r>
              <a:t>Fuentes del proyecto:</a:t>
            </a:r>
          </a:p>
          <a:p xmlns:a="http://schemas.openxmlformats.org/drawingml/2006/main">
            <a:r>
              <a:t>club-lupita/src/casa/equipo/Caja.tsx</a:t>
            </a:r>
          </a:p>
          <a:p xmlns:a="http://schemas.openxmlformats.org/drawingml/2006/main">
            <a:r>
              <a:t>club-lupita/src/casa/componentes/EntregaVale.tsx</a:t>
            </a:r>
          </a:p>
          <a:p xmlns:a="http://schemas.openxmlformats.org/drawingml/2006/main">
            <a:r>
              <a:t/>
            </a:r>
          </a:p>
          <a:p xmlns:a="http://schemas.openxmlformats.org/drawingml/2006/main">
            <a:r>
              <a:t>Captura administrativa de pruebas conservada en el proyecto: entregables/implementacion-identidad-2026-09-30/estados/escritorio/caja-beneficio.png.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https://app.labellalupita.com/personal?seccion=caja</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Caja: descuento de repostería</a:t>
            </a:r>
          </a:p>
          <a:p xmlns:a="http://schemas.openxmlformats.org/drawingml/2006/main">
            <a:r>
              <a:t/>
            </a:r>
          </a:p>
          <a:p xmlns:a="http://schemas.openxmlformats.org/drawingml/2006/main">
            <a:r>
              <a:t>El registro del descuento no realiza un cobro. Las reglas aprobadas excluyen extras, encargos y acumulación de promociones. Anular el registro no devuelve dinero ni cambia un comprobante externo. Verificar las reglas activas antes de promover el beneficio.</a:t>
            </a:r>
          </a:p>
          <a:p xmlns:a="http://schemas.openxmlformats.org/drawingml/2006/main">
            <a:r>
              <a:t/>
            </a:r>
          </a:p>
          <a:p xmlns:a="http://schemas.openxmlformats.org/drawingml/2006/main">
            <a:r>
              <a:t>Fuentes del proyecto:</a:t>
            </a:r>
          </a:p>
          <a:p xmlns:a="http://schemas.openxmlformats.org/drawingml/2006/main">
            <a:r>
              <a:t>club-lupita/src/casa/equipo/DescuentoClub.tsx</a:t>
            </a:r>
          </a:p>
          <a:p xmlns:a="http://schemas.openxmlformats.org/drawingml/2006/main">
            <a:r>
              <a:t/>
            </a:r>
          </a:p>
          <a:p xmlns:a="http://schemas.openxmlformats.org/drawingml/2006/main">
            <a:r>
              <a:t>Captura administrativa de pruebas conservada en el proyecto: club-lupita/entregables/mejoras-mi-club-2026-10-09/segunda-etapa/evidencia/caja-descuento.png.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https://app.labellalupita.com/personal?seccion=caja</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 Club: condiciones y control</a:t>
            </a:r>
          </a:p>
          <a:p xmlns:a="http://schemas.openxmlformats.org/drawingml/2006/main">
            <a:r>
              <a:t/>
            </a:r>
          </a:p>
          <a:p xmlns:a="http://schemas.openxmlformats.org/drawingml/2006/main">
            <a:r>
              <a:t>La contribución parcial no es utilidad neta. El panel indica gastos no incluidos y costos faltantes; un dato desconocido no se debe registrar como cero. Los contratos anteriores conservan su versión.</a:t>
            </a:r>
          </a:p>
          <a:p xmlns:a="http://schemas.openxmlformats.org/drawingml/2006/main">
            <a:r>
              <a:t/>
            </a:r>
          </a:p>
          <a:p xmlns:a="http://schemas.openxmlformats.org/drawingml/2006/main">
            <a:r>
              <a:t>Fuentes del proyecto:</a:t>
            </a:r>
          </a:p>
          <a:p xmlns:a="http://schemas.openxmlformats.org/drawingml/2006/main">
            <a:r>
              <a:t>club-lupita/src/casa/equipo/Club.tsx</a:t>
            </a:r>
          </a:p>
          <a:p xmlns:a="http://schemas.openxmlformats.org/drawingml/2006/main">
            <a:r>
              <a:t/>
            </a:r>
          </a:p>
          <a:p xmlns:a="http://schemas.openxmlformats.org/drawingml/2006/main">
            <a:r>
              <a:t>Captura administrativa de pruebas conservada en el proyecto: club-lupita/entregables/mejoras-mi-club-2026-10-09/evidencia/operacion.png.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https://app.labellalupita.com/personal?seccion=club</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Reglas del club y espera VIP</a:t>
            </a:r>
          </a:p>
          <a:p xmlns:a="http://schemas.openxmlformats.org/drawingml/2006/main">
            <a:r>
              <a:t/>
            </a:r>
          </a:p>
          <a:p xmlns:a="http://schemas.openxmlformats.org/drawingml/2006/main">
            <a:r>
              <a:t>Versión operacion-2026-10-12. La app del cliente observada aún muestra consultas de condiciones a caja, por lo que esta regla se presenta como aprobada y sujeta a activación, no como condición universal ya vigente. La espera VIP prioriza miembros vigentes para misma fecha, hora, duración y tamaño del grupo; conserva reservas ya confirmadas.</a:t>
            </a:r>
          </a:p>
          <a:p xmlns:a="http://schemas.openxmlformats.org/drawingml/2006/main">
            <a:r>
              <a:t/>
            </a:r>
          </a:p>
          <a:p xmlns:a="http://schemas.openxmlformats.org/drawingml/2006/main">
            <a:r>
              <a:t>Fuentes del proyecto:</a:t>
            </a:r>
          </a:p>
          <a:p xmlns:a="http://schemas.openxmlformats.org/drawingml/2006/main">
            <a:r>
              <a:t>club-lupita/src/casa/equipo/ReglasClub.tsx</a:t>
            </a:r>
          </a:p>
          <a:p xmlns:a="http://schemas.openxmlformats.org/drawingml/2006/main">
            <a:r>
              <a:t>club-lupita/src/compartido/reglas-club.ts</a:t>
            </a:r>
          </a:p>
          <a:p xmlns:a="http://schemas.openxmlformats.org/drawingml/2006/main">
            <a:r>
              <a:t/>
            </a:r>
          </a:p>
          <a:p xmlns:a="http://schemas.openxmlformats.org/drawingml/2006/main">
            <a:r>
              <a:t>Captura administrativa de pruebas conservada en el proyecto: club-lupita/entregables/mejoras-mi-club-2026-10-09/evidencia/operacion.png.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https://app.labellalupita.com/personal?seccion=club</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Beneficios: revisión y reposiciones</a:t>
            </a:r>
          </a:p>
          <a:p xmlns:a="http://schemas.openxmlformats.org/drawingml/2006/main">
            <a:r>
              <a:t/>
            </a:r>
          </a:p>
          <a:p xmlns:a="http://schemas.openxmlformats.org/drawingml/2006/main">
            <a:r>
              <a:t>Una reposición es una entrega adicional autorizada después de comprobar un error. No borra ni reescribe el consumo previo. El historial distingue reposiciones pendientes y ya entregadas.</a:t>
            </a:r>
          </a:p>
          <a:p xmlns:a="http://schemas.openxmlformats.org/drawingml/2006/main">
            <a:r>
              <a:t/>
            </a:r>
          </a:p>
          <a:p xmlns:a="http://schemas.openxmlformats.org/drawingml/2006/main">
            <a:r>
              <a:t>Fuentes del proyecto:</a:t>
            </a:r>
          </a:p>
          <a:p xmlns:a="http://schemas.openxmlformats.org/drawingml/2006/main">
            <a:r>
              <a:t>club-lupita/src/casa/equipo/CorreccionesClub.tsx</a:t>
            </a:r>
          </a:p>
          <a:p xmlns:a="http://schemas.openxmlformats.org/drawingml/2006/main">
            <a:r>
              <a:t/>
            </a:r>
          </a:p>
          <a:p xmlns:a="http://schemas.openxmlformats.org/drawingml/2006/main">
            <a:r>
              <a:t>Captura administrativa de pruebas conservada en el proyecto: club-lupita/entregables/mejoras-mi-club-2026-10-09/evidencia/operacion.png.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https://app.labellalupita.com/personal?seccion=club</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Experiencias: publicación y seguimiento</a:t>
            </a:r>
          </a:p>
          <a:p xmlns:a="http://schemas.openxmlformats.org/drawingml/2006/main">
            <a:r>
              <a:t/>
            </a:r>
          </a:p>
          <a:p xmlns:a="http://schemas.openxmlformats.org/drawingml/2006/main">
            <a:r>
              <a:t>Una vez vendida una entrada se conservan las condiciones aceptadas. Si hay cobros históricos sin comprobante conciliado, requieren revisión. Las cesiones y devoluciones conservan su trazabilidad. No se publicó ni canceló ninguna experiencia durante la investigación.</a:t>
            </a:r>
          </a:p>
          <a:p xmlns:a="http://schemas.openxmlformats.org/drawingml/2006/main">
            <a:r>
              <a:t/>
            </a:r>
          </a:p>
          <a:p xmlns:a="http://schemas.openxmlformats.org/drawingml/2006/main">
            <a:r>
              <a:t>Fuentes del proyecto:</a:t>
            </a:r>
          </a:p>
          <a:p xmlns:a="http://schemas.openxmlformats.org/drawingml/2006/main">
            <a:r>
              <a:t>club-lupita/src/casa/equipo/Club.tsx</a:t>
            </a:r>
          </a:p>
          <a:p xmlns:a="http://schemas.openxmlformats.org/drawingml/2006/main">
            <a:r>
              <a:t/>
            </a:r>
          </a:p>
          <a:p xmlns:a="http://schemas.openxmlformats.org/drawingml/2006/main">
            <a:r>
              <a:t>Captura administrativa de pruebas conservada en el proyecto: club-lupita/entregables/conoce-tu-club-2026-10-12/evidencia/reglas-equipo.png.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https://app.labellalupita.com/personal?seccion=club</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Tienda: lotes, bolsas y devoluciones</a:t>
            </a:r>
          </a:p>
          <a:p xmlns:a="http://schemas.openxmlformats.org/drawingml/2006/main">
            <a:r>
              <a:t/>
            </a:r>
          </a:p>
          <a:p xmlns:a="http://schemas.openxmlformats.org/drawingml/2006/main">
            <a:r>
              <a:t>Cada compra conserva precio y condiciones. Una devolución no vuelve a poner el número de bolsa a la venta. El panel muestra retrasos, estados y tiempo de compra a entrega. El editor observado no debe describirse como un gestor general de precios y stock ilimitado.</a:t>
            </a:r>
          </a:p>
          <a:p xmlns:a="http://schemas.openxmlformats.org/drawingml/2006/main">
            <a:r>
              <a:t/>
            </a:r>
          </a:p>
          <a:p xmlns:a="http://schemas.openxmlformats.org/drawingml/2006/main">
            <a:r>
              <a:t>Fuentes del proyecto:</a:t>
            </a:r>
          </a:p>
          <a:p xmlns:a="http://schemas.openxmlformats.org/drawingml/2006/main">
            <a:r>
              <a:t>club-lupita/src/casa/equipo/Tienda.tsx</a:t>
            </a:r>
          </a:p>
          <a:p xmlns:a="http://schemas.openxmlformats.org/drawingml/2006/main">
            <a:r>
              <a:t/>
            </a:r>
          </a:p>
          <a:p xmlns:a="http://schemas.openxmlformats.org/drawingml/2006/main">
            <a:r>
              <a:t>Captura administrativa de pruebas conservada en el proyecto: club-lupita/entregables/mejoras-tienda-2026-10-09/evidencia/operacion.png.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https://app.labellalupita.com/personal?seccion=tienda</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Entregas: retiro y asistencia</a:t>
            </a:r>
          </a:p>
          <a:p xmlns:a="http://schemas.openxmlformats.org/drawingml/2006/main">
            <a:r>
              <a:t/>
            </a:r>
          </a:p>
          <a:p xmlns:a="http://schemas.openxmlformats.org/drawingml/2006/main">
            <a:r>
              <a:t>La bandeja de Entregas contiene bolsas y asistencias. Los códigos de café diario y premios se atienden en Caja. La confirmación debe corresponder a la atención física real.</a:t>
            </a:r>
          </a:p>
          <a:p xmlns:a="http://schemas.openxmlformats.org/drawingml/2006/main">
            <a:r>
              <a:t/>
            </a:r>
          </a:p>
          <a:p xmlns:a="http://schemas.openxmlformats.org/drawingml/2006/main">
            <a:r>
              <a:t>Fuentes del proyecto:</a:t>
            </a:r>
          </a:p>
          <a:p xmlns:a="http://schemas.openxmlformats.org/drawingml/2006/main">
            <a:r>
              <a:t>club-lupita/src/casa/equipo/Lecturas.tsx</a:t>
            </a:r>
          </a:p>
          <a:p xmlns:a="http://schemas.openxmlformats.org/drawingml/2006/main">
            <a:r>
              <a:t/>
            </a:r>
          </a:p>
          <a:p xmlns:a="http://schemas.openxmlformats.org/drawingml/2006/main">
            <a:r>
              <a:t>Captura administrativa de pruebas conservada en el proyecto: club-lupita/entregables/auditoria-perfiles-2026-10-07/evidencia/perfiles-ui-ciclo2/propietario-Entregas-1440.png.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https://app.labellalupita.com/personal?seccion=entregas</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Agenda: acompañar cada visita</a:t>
            </a:r>
          </a:p>
          <a:p xmlns:a="http://schemas.openxmlformats.org/drawingml/2006/main">
            <a:r>
              <a:t/>
            </a:r>
          </a:p>
          <a:p xmlns:a="http://schemas.openxmlformats.org/drawingml/2006/main">
            <a:r>
              <a:t>Una reserva manual VIP carga el anticipo a la cuenta y exige autorización de su titular. La asistencia y los tiempos del servicio dependen de que el personal registre los estados; no se deducen automáticamente del reloj.</a:t>
            </a:r>
          </a:p>
          <a:p xmlns:a="http://schemas.openxmlformats.org/drawingml/2006/main">
            <a:r>
              <a:t/>
            </a:r>
          </a:p>
          <a:p xmlns:a="http://schemas.openxmlformats.org/drawingml/2006/main">
            <a:r>
              <a:t>Fuentes del proyecto:</a:t>
            </a:r>
          </a:p>
          <a:p xmlns:a="http://schemas.openxmlformats.org/drawingml/2006/main">
            <a:r>
              <a:t>club-lupita/src/casa/equipo/ReservasEquipo.tsx</a:t>
            </a:r>
          </a:p>
          <a:p xmlns:a="http://schemas.openxmlformats.org/drawingml/2006/main">
            <a:r>
              <a:t/>
            </a:r>
          </a:p>
          <a:p xmlns:a="http://schemas.openxmlformats.org/drawingml/2006/main">
            <a:r>
              <a:t>Captura administrativa de pruebas conservada en el proyecto: club-lupita/entregables/reservas-2026-10-09/anticipo-parcial-equipo.jpg.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https://app.labellalupita.com/personal?seccion=agenda</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Agenda: mesas, horarios y cierres</a:t>
            </a:r>
          </a:p>
          <a:p xmlns:a="http://schemas.openxmlformats.org/drawingml/2006/main">
            <a:r>
              <a:t/>
            </a:r>
          </a:p>
          <a:p xmlns:a="http://schemas.openxmlformats.org/drawingml/2006/main">
            <a:r>
              <a:t>Los motivos públicos de cierres no deben incluir datos privados. El inventario consultado en producción aún tenía capacidades por completar. Registrar solo mesas y condiciones verificadas.</a:t>
            </a:r>
          </a:p>
          <a:p xmlns:a="http://schemas.openxmlformats.org/drawingml/2006/main">
            <a:r>
              <a:t/>
            </a:r>
          </a:p>
          <a:p xmlns:a="http://schemas.openxmlformats.org/drawingml/2006/main">
            <a:r>
              <a:t>Fuentes del proyecto:</a:t>
            </a:r>
          </a:p>
          <a:p xmlns:a="http://schemas.openxmlformats.org/drawingml/2006/main">
            <a:r>
              <a:t>club-lupita/src/casa/equipo/ReservasEquipo.tsx</a:t>
            </a:r>
          </a:p>
          <a:p xmlns:a="http://schemas.openxmlformats.org/drawingml/2006/main">
            <a:r>
              <a:t/>
            </a:r>
          </a:p>
          <a:p xmlns:a="http://schemas.openxmlformats.org/drawingml/2006/main">
            <a:r>
              <a:t>Captura administrativa de pruebas conservada en el proyecto: club-lupita/entregables/reservas-2026-10-09/anticipo-parcial-equipo.jpg.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https://app.labellalupita.com/personal?seccion=agenda</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Agenda: aplicación del anticipo</a:t>
            </a:r>
          </a:p>
          <a:p xmlns:a="http://schemas.openxmlformats.org/drawingml/2006/main">
            <a:r>
              <a:t/>
            </a:r>
          </a:p>
          <a:p xmlns:a="http://schemas.openxmlformats.org/drawingml/2006/main">
            <a:r>
              <a:t>No registrar el mismo cobro en otra pantalla. Al cancelar o marcar inasistencia vuelve íntegramente el anticipo pendiente; lo ya aplicado al consumo se conserva. Confirmar siempre la operación y el comprobante exactos.</a:t>
            </a:r>
          </a:p>
          <a:p xmlns:a="http://schemas.openxmlformats.org/drawingml/2006/main">
            <a:r>
              <a:t/>
            </a:r>
          </a:p>
          <a:p xmlns:a="http://schemas.openxmlformats.org/drawingml/2006/main">
            <a:r>
              <a:t>Fuentes del proyecto:</a:t>
            </a:r>
          </a:p>
          <a:p xmlns:a="http://schemas.openxmlformats.org/drawingml/2006/main">
            <a:r>
              <a:t>club-lupita/src/casa/equipo/ReservasEquipo.tsx</a:t>
            </a:r>
          </a:p>
          <a:p xmlns:a="http://schemas.openxmlformats.org/drawingml/2006/main">
            <a:r>
              <a:t/>
            </a:r>
          </a:p>
          <a:p xmlns:a="http://schemas.openxmlformats.org/drawingml/2006/main">
            <a:r>
              <a:t>Captura administrativa de pruebas conservada en el proyecto: club-lupita/entregables/reservas-2026-10-09/anticipo-parcial-equipo.jpg.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https://app.labellalupita.com/personal?seccion=agenda</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Atención: solicitudes con respuesta</a:t>
            </a:r>
          </a:p>
          <a:p xmlns:a="http://schemas.openxmlformats.org/drawingml/2006/main">
            <a:r>
              <a:t/>
            </a:r>
          </a:p>
          <a:p xmlns:a="http://schemas.openxmlformats.org/drawingml/2006/main">
            <a:r>
              <a:t>Las solicitudes de cuenta requieren verificar identidad cuando corresponda y documentar qué se resolvió. Nunca pedir contraseñas ni códigos de acceso. No afirmar una devolución o cambio si todavía falta ejecutarlo.</a:t>
            </a:r>
          </a:p>
          <a:p xmlns:a="http://schemas.openxmlformats.org/drawingml/2006/main">
            <a:r>
              <a:t/>
            </a:r>
          </a:p>
          <a:p xmlns:a="http://schemas.openxmlformats.org/drawingml/2006/main">
            <a:r>
              <a:t>Fuentes del proyecto:</a:t>
            </a:r>
          </a:p>
          <a:p xmlns:a="http://schemas.openxmlformats.org/drawingml/2006/main">
            <a:r>
              <a:t>club-lupita/src/casa/equipo/Lecturas.tsx</a:t>
            </a:r>
          </a:p>
          <a:p xmlns:a="http://schemas.openxmlformats.org/drawingml/2006/main">
            <a:r>
              <a:t/>
            </a:r>
          </a:p>
          <a:p xmlns:a="http://schemas.openxmlformats.org/drawingml/2006/main">
            <a:r>
              <a:t>Captura administrativa de pruebas conservada en el proyecto: club-lupita/entregables/auditoria-perfiles-2026-10-07/evidencia/perfiles-ui-ciclo2/propietario-Atención-1440.png.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https://app.labellalupita.com/personal?seccion=atencion</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Informes y registro de actividad</a:t>
            </a:r>
          </a:p>
          <a:p xmlns:a="http://schemas.openxmlformats.org/drawingml/2006/main">
            <a:r>
              <a:t/>
            </a:r>
          </a:p>
          <a:p xmlns:a="http://schemas.openxmlformats.org/drawingml/2006/main">
            <a:r>
              <a:t>El importe excluye pedidos cancelados, recargas, membresías y ventas externas. Las métricas de uso cuentan acciones, no personas únicas. No equivalen a un estado de resultados ni a todas las ventas del restaurante.</a:t>
            </a:r>
          </a:p>
          <a:p xmlns:a="http://schemas.openxmlformats.org/drawingml/2006/main">
            <a:r>
              <a:t/>
            </a:r>
          </a:p>
          <a:p xmlns:a="http://schemas.openxmlformats.org/drawingml/2006/main">
            <a:r>
              <a:t>Fuentes del proyecto:</a:t>
            </a:r>
          </a:p>
          <a:p xmlns:a="http://schemas.openxmlformats.org/drawingml/2006/main">
            <a:r>
              <a:t>club-lupita/src/casa/equipo/Lecturas.tsx</a:t>
            </a:r>
          </a:p>
          <a:p xmlns:a="http://schemas.openxmlformats.org/drawingml/2006/main">
            <a:r>
              <a:t>club-lupita/src/casa/equipo/MetricasInicio.tsx</a:t>
            </a:r>
          </a:p>
          <a:p xmlns:a="http://schemas.openxmlformats.org/drawingml/2006/main">
            <a:r>
              <a:t/>
            </a:r>
          </a:p>
          <a:p xmlns:a="http://schemas.openxmlformats.org/drawingml/2006/main">
            <a:r>
              <a:t>Captura administrativa de pruebas conservada en el proyecto: club-lupita/entregables/auditoria-perfiles-2026-10-07/evidencia/perfiles-ui-ciclo2/propietario-Informes-1440.png.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https://app.labellalupita.com/personal?seccion=informes</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Clientes: directorio e historial</a:t>
            </a:r>
          </a:p>
          <a:p xmlns:a="http://schemas.openxmlformats.org/drawingml/2006/main">
            <a:r>
              <a:t/>
            </a:r>
          </a:p>
          <a:p xmlns:a="http://schemas.openxmlformats.org/drawingml/2006/main">
            <a:r>
              <a:t>Acceso de propietario y encargado. La consulta de una ficha no cobra, renueva ni modifica la cuenta. Las muestras archivadas están separadas de la operación real y son de consulta del propietario. El recorte de la presentación evita mostrar datos privados de contacto.</a:t>
            </a:r>
          </a:p>
          <a:p xmlns:a="http://schemas.openxmlformats.org/drawingml/2006/main">
            <a:r>
              <a:t/>
            </a:r>
          </a:p>
          <a:p xmlns:a="http://schemas.openxmlformats.org/drawingml/2006/main">
            <a:r>
              <a:t>Fuentes del proyecto:</a:t>
            </a:r>
          </a:p>
          <a:p xmlns:a="http://schemas.openxmlformats.org/drawingml/2006/main">
            <a:r>
              <a:t>club-lupita/src/casa/equipo/Clientes.tsx</a:t>
            </a:r>
          </a:p>
          <a:p xmlns:a="http://schemas.openxmlformats.org/drawingml/2006/main">
            <a:r>
              <a:t/>
            </a:r>
          </a:p>
          <a:p xmlns:a="http://schemas.openxmlformats.org/drawingml/2006/main">
            <a:r>
              <a:t>Captura administrativa de pruebas conservada en el proyecto: club-lupita/entregables/clientes-equipo-2026-10-06/ficha-escritorio.png.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https://app.labellalupita.com/personal?seccion=clientes</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Equipo y permisos</a:t>
            </a:r>
          </a:p>
          <a:p xmlns:a="http://schemas.openxmlformats.org/drawingml/2006/main">
            <a:r>
              <a:t/>
            </a:r>
          </a:p>
          <a:p xmlns:a="http://schemas.openxmlformats.org/drawingml/2006/main">
            <a:r>
              <a:t>Fuente: src/casa/pantallas/Personal.tsx y src/casa/equipo/Equipo.tsx. Los permisos se aplican también a acciones dentro de cada sección. Solo el propietario invita y administra accesos. Debe mantenerse al menos un propietario activo con contraseña y autenticador configurados.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Administrar los accesos del equipo</a:t>
            </a:r>
          </a:p>
          <a:p xmlns:a="http://schemas.openxmlformats.org/drawingml/2006/main">
            <a:r>
              <a:t/>
            </a:r>
          </a:p>
          <a:p xmlns:a="http://schemas.openxmlformats.org/drawingml/2006/main">
            <a:r>
              <a:t>La persona elige su propia contraseña mediante la invitación. Propietarios y encargados configuran autenticador. El encargado consulta el equipo pero no administra accesos. El enlace de invitación se entrega únicamente a su destinatario.</a:t>
            </a:r>
          </a:p>
          <a:p xmlns:a="http://schemas.openxmlformats.org/drawingml/2006/main">
            <a:r>
              <a:t/>
            </a:r>
          </a:p>
          <a:p xmlns:a="http://schemas.openxmlformats.org/drawingml/2006/main">
            <a:r>
              <a:t>Fuentes del proyecto:</a:t>
            </a:r>
          </a:p>
          <a:p xmlns:a="http://schemas.openxmlformats.org/drawingml/2006/main">
            <a:r>
              <a:t>club-lupita/src/casa/equipo/Equipo.tsx</a:t>
            </a:r>
          </a:p>
          <a:p xmlns:a="http://schemas.openxmlformats.org/drawingml/2006/main">
            <a:r>
              <a:t/>
            </a:r>
          </a:p>
          <a:p xmlns:a="http://schemas.openxmlformats.org/drawingml/2006/main">
            <a:r>
              <a:t>Captura administrativa de pruebas conservada en el proyecto: club-lupita/entregables/auditoria-perfiles-2026-10-07/evidencia/perfiles-ui-ciclo2/propietario-Equipo-y-permisos-1440.png.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https://app.labellalupita.com/personal?seccion=equipo</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Cuenta y seguridad del personal</a:t>
            </a:r>
          </a:p>
          <a:p xmlns:a="http://schemas.openxmlformats.org/drawingml/2006/main">
            <a:r>
              <a:t/>
            </a:r>
          </a:p>
          <a:p xmlns:a="http://schemas.openxmlformats.org/drawingml/2006/main">
            <a:r>
              <a:t>Las acciones sensibles requieren una identidad confirmada en los últimos cinco minutos. Renovar códigos invalida los anteriores. Los códigos se guardan fuera de dispositivos compartidos. Ninguna acción de seguridad se ejecutó durante esta investigación.</a:t>
            </a:r>
          </a:p>
          <a:p xmlns:a="http://schemas.openxmlformats.org/drawingml/2006/main">
            <a:r>
              <a:t/>
            </a:r>
          </a:p>
          <a:p xmlns:a="http://schemas.openxmlformats.org/drawingml/2006/main">
            <a:r>
              <a:t>Fuentes del proyecto:</a:t>
            </a:r>
          </a:p>
          <a:p xmlns:a="http://schemas.openxmlformats.org/drawingml/2006/main">
            <a:r>
              <a:t>club-lupita/src/casa/equipo/Seguridad.tsx</a:t>
            </a:r>
          </a:p>
          <a:p xmlns:a="http://schemas.openxmlformats.org/drawingml/2006/main">
            <a:r>
              <a:t/>
            </a:r>
          </a:p>
          <a:p xmlns:a="http://schemas.openxmlformats.org/drawingml/2006/main">
            <a:r>
              <a:t>Captura administrativa de pruebas conservada en el proyecto: club-lupita/entregables/auditoria-perfiles-2026-10-07/evidencia/perfiles-ui-ciclo2/propietario-Cuenta-y-seguridad-1440.png. Contiene datos de demostración. No acredita operaciones ni cifras reales. La explicación funcional se contrastó con el código actual.</a:t>
            </a:r>
          </a:p>
          <a:p xmlns:a="http://schemas.openxmlformats.org/drawingml/2006/main">
            <a:r>
              <a:t/>
            </a:r>
          </a:p>
          <a:p xmlns:a="http://schemas.openxmlformats.org/drawingml/2006/main">
            <a:r>
              <a:t>Pantalla: https://app.labellalupita.com/personal?seccion=seguridad</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rutina de trabajo para el equipo</a:t>
            </a:r>
          </a:p>
          <a:p xmlns:a="http://schemas.openxmlformats.org/drawingml/2006/main">
            <a:r>
              <a:t/>
            </a:r>
          </a:p>
          <a:p xmlns:a="http://schemas.openxmlformats.org/drawingml/2006/main">
            <a:r>
              <a:t>Rutina sugerida a partir de los módulos disponibles. No sustituye el procedimiento contable ni el cierre del punto de venta del negocio. Cada responsable debe atender únicamente las acciones de su rol.</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Preparación para operar cada función</a:t>
            </a:r>
          </a:p>
          <a:p xmlns:a="http://schemas.openxmlformats.org/drawingml/2006/main">
            <a:r>
              <a:t/>
            </a:r>
          </a:p>
          <a:p xmlns:a="http://schemas.openxmlformats.org/drawingml/2006/main">
            <a:r>
              <a:t>Situación observada el 12 de octubre de 2026 en la aplicación del cliente, contrastada con el código del proyecto. Estos estados pueden cambiar con la configuración. Esta presentación describe funciones y uso; no certifica transacciones ni resultados comerciales.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registro completa la experiencia</a:t>
            </a:r>
          </a:p>
          <a:p xmlns:a="http://schemas.openxmlformats.org/drawingml/2006/main">
            <a:r>
              <a:t/>
            </a:r>
          </a:p>
          <a:p xmlns:a="http://schemas.openxmlformats.org/drawingml/2006/main">
            <a:r>
              <a:t>Fuentes: aplicación en https://app.labellalupita.com/ y panel https://app.labellalupita.com/personal, más código del proyecto local club-lupita/src/casa y club-lupita/src/compartido. Fecha de referencia: 12 de octubre de 2026, Managua. Cada diapositiva de función incluye fuentes y explicación adicional en sus notas.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Fecha de consulta: 12 de octubre de 2026, America/Managua. Las capturas documentan la interfaz y no son una demostración de resultados comerciales.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2e0e58a47c4b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3dc41fd58c467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6808036c8a045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f9aefa235e4e3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bd14a40af64d4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cc1067e2214f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0233B6-9E83-4290-AF96-C0870254157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5EF3C90-5B40-4FFA-9E30-2CCC1F4BB74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FFD0EA-749F-4243-A439-063F33B7168D}"/>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A646D4-7DB9-4AC8-9AD6-F2490FA4112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1A02DA8-3F6F-4A67-A379-A45EDC9F8834}"/>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F71CBDD-EA77-4E8B-81A9-A53BB42E266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D3E8DF-DEC2-4856-B00D-ABD2C95B020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B9F022A-4678-46DE-B36E-0605C3515452}"/>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4A7BE7-CB6D-4E79-80AA-8BBF02588AA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ADB50D-9192-4451-A125-3AF3ED61641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73e1e7cc204f28" /><Relationship Type="http://schemas.openxmlformats.org/officeDocument/2006/relationships/slideLayout" Target="/ppt/slideLayouts/slideLayout1.xml" Id="R2fe354c61d8c4bee" /><Relationship Type="http://schemas.openxmlformats.org/officeDocument/2006/relationships/slideLayout" Target="/ppt/slideLayouts/slideLayout2.xml" Id="R3d3b5320c54f441b" /><Relationship Type="http://schemas.openxmlformats.org/officeDocument/2006/relationships/slideLayout" Target="/ppt/slideLayouts/slideLayout3.xml" Id="Rcdec2c082bb6466d" /><Relationship Type="http://schemas.openxmlformats.org/officeDocument/2006/relationships/slideLayout" Target="/ppt/slideLayouts/slideLayout4.xml" Id="R50b7ffd40f6b4f1e" /><Relationship Type="http://schemas.openxmlformats.org/officeDocument/2006/relationships/slideLayout" Target="/ppt/slideLayouts/slideLayout5.xml" Id="R827ef2befe3b45f1" /><Relationship Type="http://schemas.openxmlformats.org/officeDocument/2006/relationships/slideLayout" Target="/ppt/slideLayouts/slideLayout6.xml" Id="Rfe4b3d252a1e4e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e354c61d8c4bee"/>
    <p:sldLayoutId xmlns:r="http://schemas.openxmlformats.org/officeDocument/2006/relationships" id="2147483650" r:id="R3d3b5320c54f441b"/>
    <p:sldLayoutId xmlns:r="http://schemas.openxmlformats.org/officeDocument/2006/relationships" id="2147483651" r:id="Rcdec2c082bb6466d"/>
    <p:sldLayoutId xmlns:r="http://schemas.openxmlformats.org/officeDocument/2006/relationships" id="2147483652" r:id="R50b7ffd40f6b4f1e"/>
    <p:sldLayoutId xmlns:r="http://schemas.openxmlformats.org/officeDocument/2006/relationships" id="2147483653" r:id="R827ef2befe3b45f1"/>
    <p:sldLayoutId xmlns:r="http://schemas.openxmlformats.org/officeDocument/2006/relationships" id="2147483654" r:id="Rfe4b3d252a1e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fbe7aaedd594113" /><Relationship Type="http://schemas.openxmlformats.org/officeDocument/2006/relationships/image" Target="/ppt/media/image.png" Id="R71770c2290624976" /><Relationship Type="http://schemas.openxmlformats.org/officeDocument/2006/relationships/image" Target="/ppt/media/image2.png" Id="R7281dc535dc64790" /><Relationship Type="http://schemas.openxmlformats.org/officeDocument/2006/relationships/notesSlide" Target="/ppt/notesSlides/notesSlide1.xml" Id="Rf019bc224a1b45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2c74e2c21284fda" /><Relationship Type="http://schemas.openxmlformats.org/officeDocument/2006/relationships/notesSlide" Target="/ppt/notesSlides/notesSlide2.xml" Id="R00dbe998bf384b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3292006c164c7c" /><Relationship Type="http://schemas.openxmlformats.org/officeDocument/2006/relationships/notesSlide" Target="/ppt/notesSlides/notesSlide3.xml" Id="R2a0bd922ea1146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c216bac743b41d0" /><Relationship Type="http://schemas.openxmlformats.org/officeDocument/2006/relationships/image" Target="/ppt/media/image3.png" Id="Rf832d6d5aa5c4d89" /><Relationship Type="http://schemas.openxmlformats.org/officeDocument/2006/relationships/notesSlide" Target="/ppt/notesSlides/notesSlide4.xml" Id="R33c138bf876547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eba7468d2784fdb" /><Relationship Type="http://schemas.openxmlformats.org/officeDocument/2006/relationships/image" Target="/ppt/media/image4.png" Id="R7450faed80f14532" /><Relationship Type="http://schemas.openxmlformats.org/officeDocument/2006/relationships/notesSlide" Target="/ppt/notesSlides/notesSlide5.xml" Id="R38975982601944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97d046bf0774575" /><Relationship Type="http://schemas.openxmlformats.org/officeDocument/2006/relationships/image" Target="/ppt/media/image5.png" Id="Rc7bd6e2f15a64fe1" /><Relationship Type="http://schemas.openxmlformats.org/officeDocument/2006/relationships/notesSlide" Target="/ppt/notesSlides/notesSlide6.xml" Id="R4ed19302632841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a94ebf6c4d243bc" /><Relationship Type="http://schemas.openxmlformats.org/officeDocument/2006/relationships/image" Target="/ppt/media/image6.png" Id="R5ef18b9faae64b60" /><Relationship Type="http://schemas.openxmlformats.org/officeDocument/2006/relationships/notesSlide" Target="/ppt/notesSlides/notesSlide7.xml" Id="Rac4d432ce8774f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bd6af04df25401e" /><Relationship Type="http://schemas.openxmlformats.org/officeDocument/2006/relationships/image" Target="/ppt/media/image7.png" Id="Re96ca1a190284a8f" /><Relationship Type="http://schemas.openxmlformats.org/officeDocument/2006/relationships/notesSlide" Target="/ppt/notesSlides/notesSlide8.xml" Id="R0fc8c2d4b82f41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abaf90f317e48ec" /><Relationship Type="http://schemas.openxmlformats.org/officeDocument/2006/relationships/image" Target="/ppt/media/image8.png" Id="Rd0dbd5f49bbc4d1d" /><Relationship Type="http://schemas.openxmlformats.org/officeDocument/2006/relationships/notesSlide" Target="/ppt/notesSlides/notesSlide9.xml" Id="R51f37fd34a6b49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9fd6a7db7074f8e" /><Relationship Type="http://schemas.openxmlformats.org/officeDocument/2006/relationships/image" Target="/ppt/media/image9.png" Id="Ra5b4955139e941f5" /><Relationship Type="http://schemas.openxmlformats.org/officeDocument/2006/relationships/notesSlide" Target="/ppt/notesSlides/notesSlide10.xml" Id="Rd31360282b0744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c77e7678b074350" /><Relationship Type="http://schemas.openxmlformats.org/officeDocument/2006/relationships/image" Target="/ppt/media/image10.png" Id="R24ac13a6d8cf48f9" /><Relationship Type="http://schemas.openxmlformats.org/officeDocument/2006/relationships/notesSlide" Target="/ppt/notesSlides/notesSlide11.xml" Id="R8cec8766258e47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3b4a66c750f445e" /><Relationship Type="http://schemas.openxmlformats.org/officeDocument/2006/relationships/image" Target="/ppt/media/image11.png" Id="Re88697adc5a24946" /><Relationship Type="http://schemas.openxmlformats.org/officeDocument/2006/relationships/notesSlide" Target="/ppt/notesSlides/notesSlide12.xml" Id="R1bb24dd60fe745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7bbfa6fcae2411c" /><Relationship Type="http://schemas.openxmlformats.org/officeDocument/2006/relationships/image" Target="/ppt/media/image12.png" Id="Rfcdbbc56938347d4" /><Relationship Type="http://schemas.openxmlformats.org/officeDocument/2006/relationships/notesSlide" Target="/ppt/notesSlides/notesSlide13.xml" Id="Rfbcdd6318b5a47c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af31e25c3174a1f" /><Relationship Type="http://schemas.openxmlformats.org/officeDocument/2006/relationships/image" Target="/ppt/media/image13.png" Id="Re07d7c5fbbe04bd3" /><Relationship Type="http://schemas.openxmlformats.org/officeDocument/2006/relationships/notesSlide" Target="/ppt/notesSlides/notesSlide14.xml" Id="Reb0e6cfc5547436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fd1067812f8477c" /><Relationship Type="http://schemas.openxmlformats.org/officeDocument/2006/relationships/image" Target="/ppt/media/image14.png" Id="Rb8c5f75e6b674270" /><Relationship Type="http://schemas.openxmlformats.org/officeDocument/2006/relationships/notesSlide" Target="/ppt/notesSlides/notesSlide15.xml" Id="R5eb861a2a014451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c233457b49548c4" /><Relationship Type="http://schemas.openxmlformats.org/officeDocument/2006/relationships/image" Target="/ppt/media/image15.png" Id="Rf3228227b2174cd9" /><Relationship Type="http://schemas.openxmlformats.org/officeDocument/2006/relationships/notesSlide" Target="/ppt/notesSlides/notesSlide16.xml" Id="R3ef28d015752492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528870aab2c4051" /><Relationship Type="http://schemas.openxmlformats.org/officeDocument/2006/relationships/image" Target="/ppt/media/image16.png" Id="Rd7df9e9545484f40" /><Relationship Type="http://schemas.openxmlformats.org/officeDocument/2006/relationships/notesSlide" Target="/ppt/notesSlides/notesSlide17.xml" Id="R9c75233a07f144a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1498e3a40e64a88" /><Relationship Type="http://schemas.openxmlformats.org/officeDocument/2006/relationships/image" Target="/ppt/media/image17.png" Id="R263132f5306a4da2" /><Relationship Type="http://schemas.openxmlformats.org/officeDocument/2006/relationships/notesSlide" Target="/ppt/notesSlides/notesSlide18.xml" Id="Rff871e401b2a434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062d2fa881b4fa3" /><Relationship Type="http://schemas.openxmlformats.org/officeDocument/2006/relationships/image" Target="/ppt/media/image18.png" Id="R13a898cc94674c5a" /><Relationship Type="http://schemas.openxmlformats.org/officeDocument/2006/relationships/notesSlide" Target="/ppt/notesSlides/notesSlide19.xml" Id="R72d678e4c68e494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fcde4d88682405d" /><Relationship Type="http://schemas.openxmlformats.org/officeDocument/2006/relationships/image" Target="/ppt/media/image19.png" Id="R753d0c7021de4e22" /><Relationship Type="http://schemas.openxmlformats.org/officeDocument/2006/relationships/notesSlide" Target="/ppt/notesSlides/notesSlide20.xml" Id="Ra7de50df962b427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e9035ce20f64624" /><Relationship Type="http://schemas.openxmlformats.org/officeDocument/2006/relationships/image" Target="/ppt/media/image20.png" Id="R7c3448f643004964" /><Relationship Type="http://schemas.openxmlformats.org/officeDocument/2006/relationships/notesSlide" Target="/ppt/notesSlides/notesSlide21.xml" Id="Rfc8d039b75d3446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8521b13be45439c" /><Relationship Type="http://schemas.openxmlformats.org/officeDocument/2006/relationships/image" Target="/ppt/media/image21.png" Id="R1964e0f7311b4d87" /><Relationship Type="http://schemas.openxmlformats.org/officeDocument/2006/relationships/notesSlide" Target="/ppt/notesSlides/notesSlide22.xml" Id="R652a4cb138854c0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bc6e0022e44413e" /><Relationship Type="http://schemas.openxmlformats.org/officeDocument/2006/relationships/image" Target="/ppt/media/image22.png" Id="R8d67fd8e92d1498a" /><Relationship Type="http://schemas.openxmlformats.org/officeDocument/2006/relationships/notesSlide" Target="/ppt/notesSlides/notesSlide23.xml" Id="R2f580595c5274ad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366125b32074e90" /><Relationship Type="http://schemas.openxmlformats.org/officeDocument/2006/relationships/image" Target="/ppt/media/image23.png" Id="R52dde625b7c94810" /><Relationship Type="http://schemas.openxmlformats.org/officeDocument/2006/relationships/notesSlide" Target="/ppt/notesSlides/notesSlide24.xml" Id="R97525e4da84e447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d91966bd41647f3" /><Relationship Type="http://schemas.openxmlformats.org/officeDocument/2006/relationships/image" Target="/ppt/media/image24.png" Id="Redf4f858574a4a57" /><Relationship Type="http://schemas.openxmlformats.org/officeDocument/2006/relationships/notesSlide" Target="/ppt/notesSlides/notesSlide25.xml" Id="Rf91dfe642fc0441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c4f6986bea84da1" /><Relationship Type="http://schemas.openxmlformats.org/officeDocument/2006/relationships/image" Target="/ppt/media/image25.png" Id="Re59c1515bea14b44" /><Relationship Type="http://schemas.openxmlformats.org/officeDocument/2006/relationships/notesSlide" Target="/ppt/notesSlides/notesSlide26.xml" Id="Rf8e782f0277b49c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e45049a71fa494e" /><Relationship Type="http://schemas.openxmlformats.org/officeDocument/2006/relationships/image" Target="/ppt/media/image26.png" Id="Rad87ef235a094d29" /><Relationship Type="http://schemas.openxmlformats.org/officeDocument/2006/relationships/notesSlide" Target="/ppt/notesSlides/notesSlide27.xml" Id="Rde0dbdccdec24db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d869529994d4ad4" /><Relationship Type="http://schemas.openxmlformats.org/officeDocument/2006/relationships/image" Target="/ppt/media/image27.png" Id="R4a1e62c55a4e4002" /><Relationship Type="http://schemas.openxmlformats.org/officeDocument/2006/relationships/notesSlide" Target="/ppt/notesSlides/notesSlide28.xml" Id="R5fb2a1176202492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41edea857b64887" /><Relationship Type="http://schemas.openxmlformats.org/officeDocument/2006/relationships/image" Target="/ppt/media/image28.png" Id="R741ca73b34544d79" /><Relationship Type="http://schemas.openxmlformats.org/officeDocument/2006/relationships/notesSlide" Target="/ppt/notesSlides/notesSlide29.xml" Id="R639f462dc3de41a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56be930c4ca42d6" /><Relationship Type="http://schemas.openxmlformats.org/officeDocument/2006/relationships/image" Target="/ppt/media/image29.png" Id="R5e6d2ab19c76426d" /><Relationship Type="http://schemas.openxmlformats.org/officeDocument/2006/relationships/notesSlide" Target="/ppt/notesSlides/notesSlide30.xml" Id="R3fe0dcc4283d468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a2434200ac3450f" /><Relationship Type="http://schemas.openxmlformats.org/officeDocument/2006/relationships/image" Target="/ppt/media/image30.png" Id="Raf366327ce45433c" /><Relationship Type="http://schemas.openxmlformats.org/officeDocument/2006/relationships/notesSlide" Target="/ppt/notesSlides/notesSlide31.xml" Id="R7860895dce1c47e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85ea173ce614cc5" /><Relationship Type="http://schemas.openxmlformats.org/officeDocument/2006/relationships/image" Target="/ppt/media/image31.png" Id="Re08d30df29e3452e" /><Relationship Type="http://schemas.openxmlformats.org/officeDocument/2006/relationships/notesSlide" Target="/ppt/notesSlides/notesSlide32.xml" Id="R4d0048dce3da472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c3451daca5f4894" /><Relationship Type="http://schemas.openxmlformats.org/officeDocument/2006/relationships/image" Target="/ppt/media/image32.png" Id="Rf27ff1eaf72449a2" /><Relationship Type="http://schemas.openxmlformats.org/officeDocument/2006/relationships/notesSlide" Target="/ppt/notesSlides/notesSlide33.xml" Id="R7c1452af6f0b49b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5a5d40aa4fd473f" /><Relationship Type="http://schemas.openxmlformats.org/officeDocument/2006/relationships/image" Target="/ppt/media/image33.png" Id="R098742b882fd428a" /><Relationship Type="http://schemas.openxmlformats.org/officeDocument/2006/relationships/notesSlide" Target="/ppt/notesSlides/notesSlide34.xml" Id="R34f29d97c63f43b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e894b034c157434d" /><Relationship Type="http://schemas.openxmlformats.org/officeDocument/2006/relationships/image" Target="/ppt/media/image34.png" Id="R6d257733b9234988" /><Relationship Type="http://schemas.openxmlformats.org/officeDocument/2006/relationships/notesSlide" Target="/ppt/notesSlides/notesSlide35.xml" Id="R170f83956dd549a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0953189d86c4c28" /><Relationship Type="http://schemas.openxmlformats.org/officeDocument/2006/relationships/image" Target="/ppt/media/image35.png" Id="R9dd6da10fe8b42d7" /><Relationship Type="http://schemas.openxmlformats.org/officeDocument/2006/relationships/notesSlide" Target="/ppt/notesSlides/notesSlide36.xml" Id="R6d923087e69c454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4d7f3d4a38341e4" /><Relationship Type="http://schemas.openxmlformats.org/officeDocument/2006/relationships/image" Target="/ppt/media/image36.png" Id="R5953c6e840d94148" /><Relationship Type="http://schemas.openxmlformats.org/officeDocument/2006/relationships/notesSlide" Target="/ppt/notesSlides/notesSlide37.xml" Id="R1a11c7cb2dfa49b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7fde79195bb4c3d" /><Relationship Type="http://schemas.openxmlformats.org/officeDocument/2006/relationships/image" Target="/ppt/media/image37.png" Id="R013709b3a8554a05" /><Relationship Type="http://schemas.openxmlformats.org/officeDocument/2006/relationships/notesSlide" Target="/ppt/notesSlides/notesSlide38.xml" Id="R89cf843f20274c0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a140b27c9ab4f86" /><Relationship Type="http://schemas.openxmlformats.org/officeDocument/2006/relationships/image" Target="/ppt/media/image38.png" Id="Rf228efdfb7a54c8e" /><Relationship Type="http://schemas.openxmlformats.org/officeDocument/2006/relationships/notesSlide" Target="/ppt/notesSlides/notesSlide39.xml" Id="Rd81f3b609de040d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0a7dee214a242b6" /><Relationship Type="http://schemas.openxmlformats.org/officeDocument/2006/relationships/image" Target="/ppt/media/image39.png" Id="R36097a56cdf24833" /><Relationship Type="http://schemas.openxmlformats.org/officeDocument/2006/relationships/notesSlide" Target="/ppt/notesSlides/notesSlide40.xml" Id="Rae85cc6b591845b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3f9d4fbf57464be1" /><Relationship Type="http://schemas.openxmlformats.org/officeDocument/2006/relationships/image" Target="/ppt/media/image40.png" Id="R8eed0e7c9de94fc5" /><Relationship Type="http://schemas.openxmlformats.org/officeDocument/2006/relationships/notesSlide" Target="/ppt/notesSlides/notesSlide41.xml" Id="R5d146972832945f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21a3ba5d627f4654" /><Relationship Type="http://schemas.openxmlformats.org/officeDocument/2006/relationships/image" Target="/ppt/media/image41.png" Id="Red96c81bb17447d0" /><Relationship Type="http://schemas.openxmlformats.org/officeDocument/2006/relationships/notesSlide" Target="/ppt/notesSlides/notesSlide42.xml" Id="R80c0a8e1e5da4f2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6141261007424167" /><Relationship Type="http://schemas.openxmlformats.org/officeDocument/2006/relationships/image" Target="/ppt/media/image42.png" Id="Rc48dff5de0e74e6d" /><Relationship Type="http://schemas.openxmlformats.org/officeDocument/2006/relationships/notesSlide" Target="/ppt/notesSlides/notesSlide43.xml" Id="R76abfbd160fc421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23bf393766a74287" /><Relationship Type="http://schemas.openxmlformats.org/officeDocument/2006/relationships/image" Target="/ppt/media/image43.png" Id="R058dc52750784eea" /><Relationship Type="http://schemas.openxmlformats.org/officeDocument/2006/relationships/notesSlide" Target="/ppt/notesSlides/notesSlide44.xml" Id="R74e0771eb0ca4a6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32e5ac2be9d423c" /><Relationship Type="http://schemas.openxmlformats.org/officeDocument/2006/relationships/notesSlide" Target="/ppt/notesSlides/notesSlide45.xml" Id="R28bd2afa15794db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4b94002ed9634350" /><Relationship Type="http://schemas.openxmlformats.org/officeDocument/2006/relationships/image" Target="/ppt/media/image44.png" Id="R456ca5e264a545f1" /><Relationship Type="http://schemas.openxmlformats.org/officeDocument/2006/relationships/notesSlide" Target="/ppt/notesSlides/notesSlide46.xml" Id="Rb56b7b7f40644fe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2f2e8e4b97174f47" /><Relationship Type="http://schemas.openxmlformats.org/officeDocument/2006/relationships/image" Target="/ppt/media/image45.png" Id="R1fa2750469f64848" /><Relationship Type="http://schemas.openxmlformats.org/officeDocument/2006/relationships/notesSlide" Target="/ppt/notesSlides/notesSlide47.xml" Id="Ra2b57c30a4ce413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c6e2cb45174746b6" /><Relationship Type="http://schemas.openxmlformats.org/officeDocument/2006/relationships/notesSlide" Target="/ppt/notesSlides/notesSlide48.xml" Id="Rd8facf650a304b7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726fc87188a8446a" /><Relationship Type="http://schemas.openxmlformats.org/officeDocument/2006/relationships/notesSlide" Target="/ppt/notesSlides/notesSlide49.xml" Id="Rf05e60632ddc4ab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f067161afbb5491b" /><Relationship Type="http://schemas.openxmlformats.org/officeDocument/2006/relationships/notesSlide" Target="/ppt/notesSlides/notesSlide50.xml" Id="R5abe32497e39441b" /></Relationships>
</file>

<file path=ppt/slides/slide1.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16CE543B-8054-479A-B17E-5CD42921E983}"/>
              </a:ext>
            </a:extLst>
          </p:cNvPr>
          <p:cNvPicPr>
            <a:picLocks xmlns:a="http://schemas.openxmlformats.org/drawingml/2006/main" noChangeAspect="1"/>
          </p:cNvPicPr>
          <p:nvPr/>
        </p:nvPicPr>
        <p:blipFill>
          <a:blip xmlns:r="http://schemas.openxmlformats.org/officeDocument/2006/relationships" xmlns:a="http://schemas.openxmlformats.org/drawingml/2006/main" r:embed="R71770c2290624976"/>
          <a:srcRect xmlns:a="http://schemas.openxmlformats.org/drawingml/2006/main" l="7778" t="0" r="7778" b="0"/>
          <a:stretch xmlns:a="http://schemas.openxmlformats.org/drawingml/2006/main">
            <a:fillRect l="0" t="0" r="0" b="0"/>
          </a:stretch>
        </p:blipFill>
        <p:spPr>
          <a:xfrm xmlns:a="http://schemas.openxmlformats.org/drawingml/2006/main">
            <a:off x="8001000" y="0"/>
            <a:ext cx="7239000" cy="85725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4DD94D05-267C-4D18-8880-7219700A94DD}"/>
              </a:ext>
            </a:extLst>
          </p:cNvPr>
          <p:cNvPicPr>
            <a:picLocks xmlns:a="http://schemas.openxmlformats.org/drawingml/2006/main" noChangeAspect="1"/>
          </p:cNvPicPr>
          <p:nvPr/>
        </p:nvPicPr>
        <p:blipFill>
          <a:blip xmlns:r="http://schemas.openxmlformats.org/officeDocument/2006/relationships" xmlns:a="http://schemas.openxmlformats.org/drawingml/2006/main" r:embed="R7281dc535dc64790"/>
          <a:stretch xmlns:a="http://schemas.openxmlformats.org/drawingml/2006/main"/>
        </p:blipFill>
        <p:spPr>
          <a:xfrm xmlns:a="http://schemas.openxmlformats.org/drawingml/2006/main">
            <a:off x="717732" y="695325"/>
            <a:ext cx="3041286" cy="1438275"/>
          </a:xfrm>
          <a:prstGeom xmlns:a="http://schemas.openxmlformats.org/drawingml/2006/main" prst="rect">
            <a:avLst/>
          </a:prstGeom>
        </p:spPr>
      </p:pic>
      <p:sp>
        <p:nvSpPr>
          <p:cNvPr id="3" name="cover-title">
            <a:extLst xmlns:a="http://schemas.openxmlformats.org/drawingml/2006/main">
              <a:ext uri="{FF2B5EF4-FFF2-40B4-BE49-F238E27FC236}">
                <a16:creationId xmlns:a16="http://schemas.microsoft.com/office/drawing/2014/main" id="{BBDBB73A-4623-4C90-9933-AC0C302E3712}"/>
              </a:ext>
            </a:extLst>
          </p:cNvPr>
          <p:cNvSpPr>
            <a:spLocks xmlns:a="http://schemas.openxmlformats.org/drawingml/2006/main" noGrp="1"/>
          </p:cNvSpPr>
          <p:nvPr/>
        </p:nvSpPr>
        <p:spPr>
          <a:xfrm xmlns:a="http://schemas.openxmlformats.org/drawingml/2006/main">
            <a:off x="714375" y="3095625"/>
            <a:ext cx="6524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a:solidFill>
                  <a:srgbClr val="542B20"/>
                </a:solidFill>
                <a:latin typeface="Georgia"/>
                <a:ea typeface="Georgia"/>
                <a:cs typeface="Georgia"/>
              </a:defRPr>
            </a:defPPr>
          </a:lstStyle>
          <a:p xmlns:a="http://schemas.openxmlformats.org/drawingml/2006/main">
            <a:pPr>
              <a:defRPr sz="5700">
                <a:solidFill>
                  <a:srgbClr val="542B20"/>
                </a:solidFill>
                <a:latin typeface="Georgia"/>
                <a:ea typeface="Georgia"/>
                <a:cs typeface="Georgia"/>
              </a:defRPr>
            </a:pPr>
            <a:r>
              <a:rPr sz="5700">
                <a:solidFill>
                  <a:srgbClr val="542B20"/>
                </a:solidFill>
                <a:latin typeface="Georgia"/>
                <a:ea typeface="Georgia"/>
                <a:cs typeface="Georgia"/>
              </a:rPr>
              <a:t>Guía de uso y operación</a:t>
            </a:r>
          </a:p>
        </p:txBody>
      </p:sp>
      <p:sp>
        <p:nvSpPr>
          <p:cNvPr id="4" name="cover-tag">
            <a:extLst xmlns:a="http://schemas.openxmlformats.org/drawingml/2006/main">
              <a:ext uri="{FF2B5EF4-FFF2-40B4-BE49-F238E27FC236}">
                <a16:creationId xmlns:a16="http://schemas.microsoft.com/office/drawing/2014/main" id="{5C4ED965-E6FC-4FB4-9FC2-7121123A382B}"/>
              </a:ext>
            </a:extLst>
          </p:cNvPr>
          <p:cNvSpPr>
            <a:spLocks xmlns:a="http://schemas.openxmlformats.org/drawingml/2006/main" noGrp="1"/>
          </p:cNvSpPr>
          <p:nvPr/>
        </p:nvSpPr>
        <p:spPr>
          <a:xfrm xmlns:a="http://schemas.openxmlformats.org/drawingml/2006/main">
            <a:off x="752475" y="5524500"/>
            <a:ext cx="619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a:solidFill>
                  <a:srgbClr val="542B20"/>
                </a:solidFill>
                <a:latin typeface="Arial"/>
                <a:ea typeface="Arial"/>
                <a:cs typeface="Arial"/>
              </a:defRPr>
            </a:defPPr>
          </a:lstStyle>
          <a:p xmlns:a="http://schemas.openxmlformats.org/drawingml/2006/main">
            <a:pPr>
              <a:defRPr sz="2550">
                <a:solidFill>
                  <a:srgbClr val="542B20"/>
                </a:solidFill>
                <a:latin typeface="Arial"/>
                <a:ea typeface="Arial"/>
                <a:cs typeface="Arial"/>
              </a:defRPr>
            </a:pPr>
            <a:r>
              <a:rPr sz="2550">
                <a:solidFill>
                  <a:srgbClr val="542B20"/>
                </a:solidFill>
                <a:latin typeface="Arial"/>
                <a:ea typeface="Arial"/>
                <a:cs typeface="Arial"/>
              </a:rPr>
              <a:t>La experiencia del cliente y el trabajo del equipo</a:t>
            </a:r>
          </a:p>
        </p:txBody>
      </p:sp>
      <p:sp>
        <p:nvSpPr>
          <p:cNvPr id="5" name="cover-date">
            <a:extLst xmlns:a="http://schemas.openxmlformats.org/drawingml/2006/main">
              <a:ext uri="{FF2B5EF4-FFF2-40B4-BE49-F238E27FC236}">
                <a16:creationId xmlns:a16="http://schemas.microsoft.com/office/drawing/2014/main" id="{89076591-B70B-44FA-AC56-4EFAA9A8FCD9}"/>
              </a:ext>
            </a:extLst>
          </p:cNvPr>
          <p:cNvSpPr>
            <a:spLocks xmlns:a="http://schemas.openxmlformats.org/drawingml/2006/main" noGrp="1"/>
          </p:cNvSpPr>
          <p:nvPr/>
        </p:nvSpPr>
        <p:spPr>
          <a:xfrm xmlns:a="http://schemas.openxmlformats.org/drawingml/2006/main">
            <a:off x="752475" y="7219950"/>
            <a:ext cx="619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7D6354"/>
                </a:solidFill>
                <a:latin typeface="Arial"/>
                <a:ea typeface="Arial"/>
                <a:cs typeface="Arial"/>
              </a:defRPr>
            </a:defPPr>
          </a:lstStyle>
          <a:p xmlns:a="http://schemas.openxmlformats.org/drawingml/2006/main">
            <a:pPr>
              <a:defRPr sz="1725">
                <a:solidFill>
                  <a:srgbClr val="7D6354"/>
                </a:solidFill>
                <a:latin typeface="Arial"/>
                <a:ea typeface="Arial"/>
                <a:cs typeface="Arial"/>
              </a:defRPr>
            </a:pPr>
            <a:r>
              <a:rPr sz="1725">
                <a:solidFill>
                  <a:srgbClr val="7D6354"/>
                </a:solidFill>
                <a:latin typeface="Arial"/>
                <a:ea typeface="Arial"/>
                <a:cs typeface="Arial"/>
              </a:rPr>
              <a:t>MANUAL PARA PROPIETARIOS Y EQUIPO</a:t>
            </a:r>
          </a:p>
          <a:p xmlns:a="http://schemas.openxmlformats.org/drawingml/2006/main">
            <a:pPr>
              <a:defRPr sz="1725">
                <a:solidFill>
                  <a:srgbClr val="7D6354"/>
                </a:solidFill>
                <a:latin typeface="Arial"/>
                <a:ea typeface="Arial"/>
                <a:cs typeface="Arial"/>
              </a:defRPr>
            </a:pPr>
            <a:r>
              <a:rPr sz="1725">
                <a:solidFill>
                  <a:srgbClr val="7D6354"/>
                </a:solidFill>
                <a:latin typeface="Arial"/>
                <a:ea typeface="Arial"/>
                <a:cs typeface="Arial"/>
              </a:rPr>
              <a:t>12 de octubre de 2026</a:t>
            </a:r>
          </a:p>
        </p:txBody>
      </p:sp>
    </p:spTree>
    <p:extLst>
      <p:ext uri="{BB962C8B-B14F-4D97-AF65-F5344CB8AC3E}">
        <p14:creationId xmlns:p14="http://schemas.microsoft.com/office/powerpoint/2010/main" val="244677495"/>
      </p:ext>
    </p:extLst>
  </p:cSld>
</p:sld>
</file>

<file path=ppt/slides/slide2.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4" name="section">
            <a:extLst xmlns:a="http://schemas.openxmlformats.org/drawingml/2006/main">
              <a:ext uri="{FF2B5EF4-FFF2-40B4-BE49-F238E27FC236}">
                <a16:creationId xmlns:a16="http://schemas.microsoft.com/office/drawing/2014/main" id="{153EF91E-CC63-44BB-B79A-F181A1C87832}"/>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CB76AD9F-73E0-4292-8637-C4BDC3A41371}"/>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Una cuenta que acompaña cada visita</a:t>
            </a:r>
          </a:p>
        </p:txBody>
      </p:sp>
      <p:sp>
        <p:nvSpPr>
          <p:cNvPr id="3" name="footer">
            <a:extLst xmlns:a="http://schemas.openxmlformats.org/drawingml/2006/main">
              <a:ext uri="{FF2B5EF4-FFF2-40B4-BE49-F238E27FC236}">
                <a16:creationId xmlns:a16="http://schemas.microsoft.com/office/drawing/2014/main" id="{07B1840F-A163-4DBF-AF37-52432A8FDFA9}"/>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27E8B245-3E06-4740-97BF-D34834B85052}"/>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02</a:t>
            </a:r>
          </a:p>
        </p:txBody>
      </p:sp>
      <p:sp>
        <p:nvSpPr>
          <p:cNvPr id="5" name="col-number-0">
            <a:extLst xmlns:a="http://schemas.openxmlformats.org/drawingml/2006/main">
              <a:ext uri="{FF2B5EF4-FFF2-40B4-BE49-F238E27FC236}">
                <a16:creationId xmlns:a16="http://schemas.microsoft.com/office/drawing/2014/main" id="{FF694F82-303C-4C58-B719-0BC2B493D8A4}"/>
              </a:ext>
            </a:extLst>
          </p:cNvPr>
          <p:cNvSpPr>
            <a:spLocks xmlns:a="http://schemas.openxmlformats.org/drawingml/2006/main" noGrp="1"/>
          </p:cNvSpPr>
          <p:nvPr/>
        </p:nvSpPr>
        <p:spPr>
          <a:xfrm xmlns:a="http://schemas.openxmlformats.org/drawingml/2006/main">
            <a:off x="628650" y="263842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a:solidFill>
                  <a:srgbClr val="9C3834"/>
                </a:solidFill>
                <a:latin typeface="Georgia"/>
                <a:ea typeface="Georgia"/>
                <a:cs typeface="Georgia"/>
              </a:defRPr>
            </a:defPPr>
          </a:lstStyle>
          <a:p xmlns:a="http://schemas.openxmlformats.org/drawingml/2006/main">
            <a:pPr>
              <a:defRPr sz="4500">
                <a:solidFill>
                  <a:srgbClr val="9C3834"/>
                </a:solidFill>
                <a:latin typeface="Georgia"/>
                <a:ea typeface="Georgia"/>
                <a:cs typeface="Georgia"/>
              </a:defRPr>
            </a:pPr>
            <a:r>
              <a:rPr sz="4500">
                <a:solidFill>
                  <a:srgbClr val="9C3834"/>
                </a:solidFill>
                <a:latin typeface="Georgia"/>
                <a:ea typeface="Georgia"/>
                <a:cs typeface="Georgia"/>
              </a:rPr>
              <a:t>01</a:t>
            </a:r>
          </a:p>
        </p:txBody>
      </p:sp>
      <p:sp>
        <p:nvSpPr>
          <p:cNvPr id="6" name="col-title-0">
            <a:extLst xmlns:a="http://schemas.openxmlformats.org/drawingml/2006/main">
              <a:ext uri="{FF2B5EF4-FFF2-40B4-BE49-F238E27FC236}">
                <a16:creationId xmlns:a16="http://schemas.microsoft.com/office/drawing/2014/main" id="{7F0583F5-29B6-479D-A6B2-2C7983044B4E}"/>
              </a:ext>
            </a:extLst>
          </p:cNvPr>
          <p:cNvSpPr>
            <a:spLocks xmlns:a="http://schemas.openxmlformats.org/drawingml/2006/main" noGrp="1"/>
          </p:cNvSpPr>
          <p:nvPr/>
        </p:nvSpPr>
        <p:spPr>
          <a:xfrm xmlns:a="http://schemas.openxmlformats.org/drawingml/2006/main">
            <a:off x="628650" y="3600450"/>
            <a:ext cx="428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542B20"/>
                </a:solidFill>
                <a:latin typeface="Arial"/>
                <a:ea typeface="Arial"/>
                <a:cs typeface="Arial"/>
              </a:defRPr>
            </a:defPPr>
          </a:lstStyle>
          <a:p xmlns:a="http://schemas.openxmlformats.org/drawingml/2006/main">
            <a:pPr>
              <a:defRPr sz="2925" b="1">
                <a:solidFill>
                  <a:srgbClr val="542B20"/>
                </a:solidFill>
                <a:latin typeface="Arial"/>
                <a:ea typeface="Arial"/>
                <a:cs typeface="Arial"/>
              </a:defRPr>
            </a:pPr>
            <a:r>
              <a:rPr sz="2925" b="1">
                <a:solidFill>
                  <a:srgbClr val="542B20"/>
                </a:solidFill>
                <a:latin typeface="Arial"/>
                <a:ea typeface="Arial"/>
                <a:cs typeface="Arial"/>
              </a:rPr>
              <a:t>Para el cliente</a:t>
            </a:r>
          </a:p>
        </p:txBody>
      </p:sp>
      <p:sp>
        <p:nvSpPr>
          <p:cNvPr id="7" name="col-body-0">
            <a:extLst xmlns:a="http://schemas.openxmlformats.org/drawingml/2006/main">
              <a:ext uri="{FF2B5EF4-FFF2-40B4-BE49-F238E27FC236}">
                <a16:creationId xmlns:a16="http://schemas.microsoft.com/office/drawing/2014/main" id="{598DC844-875F-4DA6-A576-E17FE9294D51}"/>
              </a:ext>
            </a:extLst>
          </p:cNvPr>
          <p:cNvSpPr>
            <a:spLocks xmlns:a="http://schemas.openxmlformats.org/drawingml/2006/main" noGrp="1"/>
          </p:cNvSpPr>
          <p:nvPr/>
        </p:nvSpPr>
        <p:spPr>
          <a:xfrm xmlns:a="http://schemas.openxmlformats.org/drawingml/2006/main">
            <a:off x="628650" y="4648200"/>
            <a:ext cx="423862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542B20"/>
                </a:solidFill>
                <a:latin typeface="Arial"/>
                <a:ea typeface="Arial"/>
                <a:cs typeface="Arial"/>
              </a:defRPr>
            </a:defPPr>
          </a:lstStyle>
          <a:p xmlns:a="http://schemas.openxmlformats.org/drawingml/2006/main">
            <a:pPr>
              <a:defRPr sz="2325">
                <a:solidFill>
                  <a:srgbClr val="542B20"/>
                </a:solidFill>
                <a:latin typeface="Arial"/>
                <a:ea typeface="Arial"/>
                <a:cs typeface="Arial"/>
              </a:defRPr>
            </a:pPr>
            <a:r>
              <a:rPr sz="2325">
                <a:solidFill>
                  <a:srgbClr val="542B20"/>
                </a:solidFill>
                <a:latin typeface="Arial"/>
                <a:ea typeface="Arial"/>
                <a:cs typeface="Arial"/>
              </a:rPr>
              <a:t>Consultar la carta, usar su saldo, seguir sus beneficios y organizar su próxima visita.</a:t>
            </a:r>
          </a:p>
        </p:txBody>
      </p:sp>
      <p:sp>
        <p:nvSpPr>
          <p:cNvPr id="8" name="col-number-1">
            <a:extLst xmlns:a="http://schemas.openxmlformats.org/drawingml/2006/main">
              <a:ext uri="{FF2B5EF4-FFF2-40B4-BE49-F238E27FC236}">
                <a16:creationId xmlns:a16="http://schemas.microsoft.com/office/drawing/2014/main" id="{0199B37D-2910-4818-8DA0-E66F038B6C3C}"/>
              </a:ext>
            </a:extLst>
          </p:cNvPr>
          <p:cNvSpPr>
            <a:spLocks xmlns:a="http://schemas.openxmlformats.org/drawingml/2006/main" noGrp="1"/>
          </p:cNvSpPr>
          <p:nvPr/>
        </p:nvSpPr>
        <p:spPr>
          <a:xfrm xmlns:a="http://schemas.openxmlformats.org/drawingml/2006/main">
            <a:off x="5410200" y="263842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a:solidFill>
                  <a:srgbClr val="9C3834"/>
                </a:solidFill>
                <a:latin typeface="Georgia"/>
                <a:ea typeface="Georgia"/>
                <a:cs typeface="Georgia"/>
              </a:defRPr>
            </a:defPPr>
          </a:lstStyle>
          <a:p xmlns:a="http://schemas.openxmlformats.org/drawingml/2006/main">
            <a:pPr>
              <a:defRPr sz="4500">
                <a:solidFill>
                  <a:srgbClr val="9C3834"/>
                </a:solidFill>
                <a:latin typeface="Georgia"/>
                <a:ea typeface="Georgia"/>
                <a:cs typeface="Georgia"/>
              </a:defRPr>
            </a:pPr>
            <a:r>
              <a:rPr sz="4500">
                <a:solidFill>
                  <a:srgbClr val="9C3834"/>
                </a:solidFill>
                <a:latin typeface="Georgia"/>
                <a:ea typeface="Georgia"/>
                <a:cs typeface="Georgia"/>
              </a:rPr>
              <a:t>02</a:t>
            </a:r>
          </a:p>
        </p:txBody>
      </p:sp>
      <p:sp>
        <p:nvSpPr>
          <p:cNvPr id="9" name="col-title-1">
            <a:extLst xmlns:a="http://schemas.openxmlformats.org/drawingml/2006/main">
              <a:ext uri="{FF2B5EF4-FFF2-40B4-BE49-F238E27FC236}">
                <a16:creationId xmlns:a16="http://schemas.microsoft.com/office/drawing/2014/main" id="{B8689050-8323-45E5-9511-C026AC47BCEF}"/>
              </a:ext>
            </a:extLst>
          </p:cNvPr>
          <p:cNvSpPr>
            <a:spLocks xmlns:a="http://schemas.openxmlformats.org/drawingml/2006/main" noGrp="1"/>
          </p:cNvSpPr>
          <p:nvPr/>
        </p:nvSpPr>
        <p:spPr>
          <a:xfrm xmlns:a="http://schemas.openxmlformats.org/drawingml/2006/main">
            <a:off x="5410200" y="3600450"/>
            <a:ext cx="428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542B20"/>
                </a:solidFill>
                <a:latin typeface="Arial"/>
                <a:ea typeface="Arial"/>
                <a:cs typeface="Arial"/>
              </a:defRPr>
            </a:defPPr>
          </a:lstStyle>
          <a:p xmlns:a="http://schemas.openxmlformats.org/drawingml/2006/main">
            <a:pPr>
              <a:defRPr sz="2925" b="1">
                <a:solidFill>
                  <a:srgbClr val="542B20"/>
                </a:solidFill>
                <a:latin typeface="Arial"/>
                <a:ea typeface="Arial"/>
                <a:cs typeface="Arial"/>
              </a:defRPr>
            </a:pPr>
            <a:r>
              <a:rPr sz="2925" b="1">
                <a:solidFill>
                  <a:srgbClr val="542B20"/>
                </a:solidFill>
                <a:latin typeface="Arial"/>
                <a:ea typeface="Arial"/>
                <a:cs typeface="Arial"/>
              </a:rPr>
              <a:t>Para el equipo</a:t>
            </a:r>
          </a:p>
        </p:txBody>
      </p:sp>
      <p:sp>
        <p:nvSpPr>
          <p:cNvPr id="10" name="col-body-1">
            <a:extLst xmlns:a="http://schemas.openxmlformats.org/drawingml/2006/main">
              <a:ext uri="{FF2B5EF4-FFF2-40B4-BE49-F238E27FC236}">
                <a16:creationId xmlns:a16="http://schemas.microsoft.com/office/drawing/2014/main" id="{289B6BA4-5276-4980-918C-3E45FCDF2145}"/>
              </a:ext>
            </a:extLst>
          </p:cNvPr>
          <p:cNvSpPr>
            <a:spLocks xmlns:a="http://schemas.openxmlformats.org/drawingml/2006/main" noGrp="1"/>
          </p:cNvSpPr>
          <p:nvPr/>
        </p:nvSpPr>
        <p:spPr>
          <a:xfrm xmlns:a="http://schemas.openxmlformats.org/drawingml/2006/main">
            <a:off x="5410200" y="4648200"/>
            <a:ext cx="423862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542B20"/>
                </a:solidFill>
                <a:latin typeface="Arial"/>
                <a:ea typeface="Arial"/>
                <a:cs typeface="Arial"/>
              </a:defRPr>
            </a:defPPr>
          </a:lstStyle>
          <a:p xmlns:a="http://schemas.openxmlformats.org/drawingml/2006/main">
            <a:pPr>
              <a:defRPr sz="2325">
                <a:solidFill>
                  <a:srgbClr val="542B20"/>
                </a:solidFill>
                <a:latin typeface="Arial"/>
                <a:ea typeface="Arial"/>
                <a:cs typeface="Arial"/>
              </a:defRPr>
            </a:pPr>
            <a:r>
              <a:rPr sz="2325">
                <a:solidFill>
                  <a:srgbClr val="542B20"/>
                </a:solidFill>
                <a:latin typeface="Arial"/>
                <a:ea typeface="Arial"/>
                <a:cs typeface="Arial"/>
              </a:rPr>
              <a:t>Recibir pedidos, atender en caja y registrar reservas, entregas y solicitudes.</a:t>
            </a:r>
          </a:p>
        </p:txBody>
      </p:sp>
      <p:sp>
        <p:nvSpPr>
          <p:cNvPr id="11" name="col-number-2">
            <a:extLst xmlns:a="http://schemas.openxmlformats.org/drawingml/2006/main">
              <a:ext uri="{FF2B5EF4-FFF2-40B4-BE49-F238E27FC236}">
                <a16:creationId xmlns:a16="http://schemas.microsoft.com/office/drawing/2014/main" id="{E8F834D0-35EC-4595-8AAB-27CCF6FFE84D}"/>
              </a:ext>
            </a:extLst>
          </p:cNvPr>
          <p:cNvSpPr>
            <a:spLocks xmlns:a="http://schemas.openxmlformats.org/drawingml/2006/main" noGrp="1"/>
          </p:cNvSpPr>
          <p:nvPr/>
        </p:nvSpPr>
        <p:spPr>
          <a:xfrm xmlns:a="http://schemas.openxmlformats.org/drawingml/2006/main">
            <a:off x="10191750" y="263842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a:solidFill>
                  <a:srgbClr val="9C3834"/>
                </a:solidFill>
                <a:latin typeface="Georgia"/>
                <a:ea typeface="Georgia"/>
                <a:cs typeface="Georgia"/>
              </a:defRPr>
            </a:defPPr>
          </a:lstStyle>
          <a:p xmlns:a="http://schemas.openxmlformats.org/drawingml/2006/main">
            <a:pPr>
              <a:defRPr sz="4500">
                <a:solidFill>
                  <a:srgbClr val="9C3834"/>
                </a:solidFill>
                <a:latin typeface="Georgia"/>
                <a:ea typeface="Georgia"/>
                <a:cs typeface="Georgia"/>
              </a:defRPr>
            </a:pPr>
            <a:r>
              <a:rPr sz="4500">
                <a:solidFill>
                  <a:srgbClr val="9C3834"/>
                </a:solidFill>
                <a:latin typeface="Georgia"/>
                <a:ea typeface="Georgia"/>
                <a:cs typeface="Georgia"/>
              </a:rPr>
              <a:t>03</a:t>
            </a:r>
          </a:p>
        </p:txBody>
      </p:sp>
      <p:sp>
        <p:nvSpPr>
          <p:cNvPr id="12" name="col-title-2">
            <a:extLst xmlns:a="http://schemas.openxmlformats.org/drawingml/2006/main">
              <a:ext uri="{FF2B5EF4-FFF2-40B4-BE49-F238E27FC236}">
                <a16:creationId xmlns:a16="http://schemas.microsoft.com/office/drawing/2014/main" id="{3A1913F6-E689-4262-9D26-4003B38B2125}"/>
              </a:ext>
            </a:extLst>
          </p:cNvPr>
          <p:cNvSpPr>
            <a:spLocks xmlns:a="http://schemas.openxmlformats.org/drawingml/2006/main" noGrp="1"/>
          </p:cNvSpPr>
          <p:nvPr/>
        </p:nvSpPr>
        <p:spPr>
          <a:xfrm xmlns:a="http://schemas.openxmlformats.org/drawingml/2006/main">
            <a:off x="10191750" y="3600450"/>
            <a:ext cx="428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542B20"/>
                </a:solidFill>
                <a:latin typeface="Arial"/>
                <a:ea typeface="Arial"/>
                <a:cs typeface="Arial"/>
              </a:defRPr>
            </a:defPPr>
          </a:lstStyle>
          <a:p xmlns:a="http://schemas.openxmlformats.org/drawingml/2006/main">
            <a:pPr>
              <a:defRPr sz="2925" b="1">
                <a:solidFill>
                  <a:srgbClr val="542B20"/>
                </a:solidFill>
                <a:latin typeface="Arial"/>
                <a:ea typeface="Arial"/>
                <a:cs typeface="Arial"/>
              </a:defRPr>
            </a:pPr>
            <a:r>
              <a:rPr sz="2925" b="1">
                <a:solidFill>
                  <a:srgbClr val="542B20"/>
                </a:solidFill>
                <a:latin typeface="Arial"/>
                <a:ea typeface="Arial"/>
                <a:cs typeface="Arial"/>
              </a:rPr>
              <a:t>Para el negocio</a:t>
            </a:r>
          </a:p>
        </p:txBody>
      </p:sp>
      <p:sp>
        <p:nvSpPr>
          <p:cNvPr id="13" name="col-body-2">
            <a:extLst xmlns:a="http://schemas.openxmlformats.org/drawingml/2006/main">
              <a:ext uri="{FF2B5EF4-FFF2-40B4-BE49-F238E27FC236}">
                <a16:creationId xmlns:a16="http://schemas.microsoft.com/office/drawing/2014/main" id="{E76501BF-9C5D-4A1C-93A2-4356C71A7C38}"/>
              </a:ext>
            </a:extLst>
          </p:cNvPr>
          <p:cNvSpPr>
            <a:spLocks xmlns:a="http://schemas.openxmlformats.org/drawingml/2006/main" noGrp="1"/>
          </p:cNvSpPr>
          <p:nvPr/>
        </p:nvSpPr>
        <p:spPr>
          <a:xfrm xmlns:a="http://schemas.openxmlformats.org/drawingml/2006/main">
            <a:off x="10191750" y="4648200"/>
            <a:ext cx="423862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542B20"/>
                </a:solidFill>
                <a:latin typeface="Arial"/>
                <a:ea typeface="Arial"/>
                <a:cs typeface="Arial"/>
              </a:defRPr>
            </a:defPPr>
          </a:lstStyle>
          <a:p xmlns:a="http://schemas.openxmlformats.org/drawingml/2006/main">
            <a:pPr>
              <a:defRPr sz="2325">
                <a:solidFill>
                  <a:srgbClr val="542B20"/>
                </a:solidFill>
                <a:latin typeface="Arial"/>
                <a:ea typeface="Arial"/>
                <a:cs typeface="Arial"/>
              </a:defRPr>
            </a:pPr>
            <a:r>
              <a:rPr sz="2325">
                <a:solidFill>
                  <a:srgbClr val="542B20"/>
                </a:solidFill>
                <a:latin typeface="Arial"/>
                <a:ea typeface="Arial"/>
                <a:cs typeface="Arial"/>
              </a:rPr>
              <a:t>Reunir la actividad del cliente y conocer qué ocurrió, cuándo y quién lo atendió.</a:t>
            </a:r>
          </a:p>
        </p:txBody>
      </p:sp>
    </p:spTree>
    <p:extLst>
      <p:ext uri="{BB962C8B-B14F-4D97-AF65-F5344CB8AC3E}">
        <p14:creationId xmlns:p14="http://schemas.microsoft.com/office/powerpoint/2010/main" val="1737746367"/>
      </p:ext>
    </p:extLst>
  </p:cSld>
</p:sld>
</file>

<file path=ppt/slides/slide3.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E5B0B9A4-2AE0-4F08-8DB8-CD5758C2918B}"/>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BA803FE0-A7E7-4FC3-9C9F-641D92563BA9}"/>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El mapa de la aplicación</a:t>
            </a:r>
          </a:p>
        </p:txBody>
      </p:sp>
      <p:sp>
        <p:nvSpPr>
          <p:cNvPr id="3" name="footer">
            <a:extLst xmlns:a="http://schemas.openxmlformats.org/drawingml/2006/main">
              <a:ext uri="{FF2B5EF4-FFF2-40B4-BE49-F238E27FC236}">
                <a16:creationId xmlns:a16="http://schemas.microsoft.com/office/drawing/2014/main" id="{26BC8D3B-93E1-405B-92FF-16AB521951E4}"/>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73063EFA-F6A3-4014-9513-CC9372D01063}"/>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03</a:t>
            </a:r>
          </a:p>
        </p:txBody>
      </p:sp>
      <p:sp>
        <p:nvSpPr>
          <p:cNvPr id="5" name="map-title-0">
            <a:extLst xmlns:a="http://schemas.openxmlformats.org/drawingml/2006/main">
              <a:ext uri="{FF2B5EF4-FFF2-40B4-BE49-F238E27FC236}">
                <a16:creationId xmlns:a16="http://schemas.microsoft.com/office/drawing/2014/main" id="{5E510AC0-654A-48A2-8400-06EADBE14A32}"/>
              </a:ext>
            </a:extLst>
          </p:cNvPr>
          <p:cNvSpPr>
            <a:spLocks xmlns:a="http://schemas.openxmlformats.org/drawingml/2006/main" noGrp="1"/>
          </p:cNvSpPr>
          <p:nvPr/>
        </p:nvSpPr>
        <p:spPr>
          <a:xfrm xmlns:a="http://schemas.openxmlformats.org/drawingml/2006/main">
            <a:off x="628650" y="2362200"/>
            <a:ext cx="676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542B20"/>
                </a:solidFill>
                <a:latin typeface="Arial"/>
                <a:ea typeface="Arial"/>
                <a:cs typeface="Arial"/>
              </a:defRPr>
            </a:defPPr>
          </a:lstStyle>
          <a:p xmlns:a="http://schemas.openxmlformats.org/drawingml/2006/main">
            <a:pPr>
              <a:defRPr sz="2850" b="1">
                <a:solidFill>
                  <a:srgbClr val="542B20"/>
                </a:solidFill>
                <a:latin typeface="Arial"/>
                <a:ea typeface="Arial"/>
                <a:cs typeface="Arial"/>
              </a:defRPr>
            </a:pPr>
            <a:r>
              <a:rPr sz="2850" b="1">
                <a:solidFill>
                  <a:srgbClr val="542B20"/>
                </a:solidFill>
                <a:latin typeface="Arial"/>
                <a:ea typeface="Arial"/>
                <a:cs typeface="Arial"/>
              </a:rPr>
              <a:t>La aplicación del cliente</a:t>
            </a:r>
          </a:p>
        </p:txBody>
      </p:sp>
      <p:sp>
        <p:nvSpPr>
          <p:cNvPr id="6" name="map-body-0">
            <a:extLst xmlns:a="http://schemas.openxmlformats.org/drawingml/2006/main">
              <a:ext uri="{FF2B5EF4-FFF2-40B4-BE49-F238E27FC236}">
                <a16:creationId xmlns:a16="http://schemas.microsoft.com/office/drawing/2014/main" id="{9CA9191F-07BC-4029-A678-75B1105BCD9E}"/>
              </a:ext>
            </a:extLst>
          </p:cNvPr>
          <p:cNvSpPr>
            <a:spLocks xmlns:a="http://schemas.openxmlformats.org/drawingml/2006/main" noGrp="1"/>
          </p:cNvSpPr>
          <p:nvPr/>
        </p:nvSpPr>
        <p:spPr>
          <a:xfrm xmlns:a="http://schemas.openxmlformats.org/drawingml/2006/main">
            <a:off x="628650" y="3333750"/>
            <a:ext cx="67627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a:solidFill>
                  <a:srgbClr val="542B20"/>
                </a:solidFill>
                <a:latin typeface="Arial"/>
                <a:ea typeface="Arial"/>
                <a:cs typeface="Arial"/>
              </a:defRPr>
            </a:defPPr>
          </a:lstStyle>
          <a:p xmlns:a="http://schemas.openxmlformats.org/drawingml/2006/main">
            <a:pPr>
              <a:defRPr sz="2625">
                <a:solidFill>
                  <a:srgbClr val="542B20"/>
                </a:solidFill>
                <a:latin typeface="Arial"/>
                <a:ea typeface="Arial"/>
                <a:cs typeface="Arial"/>
              </a:defRPr>
            </a:pPr>
            <a:r>
              <a:rPr sz="2625">
                <a:solidFill>
                  <a:srgbClr val="542B20"/>
                </a:solidFill>
                <a:latin typeface="Arial"/>
                <a:ea typeface="Arial"/>
                <a:cs typeface="Arial"/>
              </a:rPr>
              <a:t>Inicio</a:t>
            </a:r>
          </a:p>
          <a:p xmlns:a="http://schemas.openxmlformats.org/drawingml/2006/main">
            <a:pPr>
              <a:defRPr sz="2625">
                <a:solidFill>
                  <a:srgbClr val="542B20"/>
                </a:solidFill>
                <a:latin typeface="Arial"/>
                <a:ea typeface="Arial"/>
                <a:cs typeface="Arial"/>
              </a:defRPr>
            </a:pPr>
            <a:r>
              <a:rPr sz="2625">
                <a:solidFill>
                  <a:srgbClr val="542B20"/>
                </a:solidFill>
                <a:latin typeface="Arial"/>
                <a:ea typeface="Arial"/>
                <a:cs typeface="Arial"/>
              </a:rPr>
              <a:t>Carta</a:t>
            </a:r>
          </a:p>
          <a:p xmlns:a="http://schemas.openxmlformats.org/drawingml/2006/main">
            <a:pPr>
              <a:defRPr sz="2625">
                <a:solidFill>
                  <a:srgbClr val="542B20"/>
                </a:solidFill>
                <a:latin typeface="Arial"/>
                <a:ea typeface="Arial"/>
                <a:cs typeface="Arial"/>
              </a:defRPr>
            </a:pPr>
            <a:r>
              <a:rPr sz="2625">
                <a:solidFill>
                  <a:srgbClr val="542B20"/>
                </a:solidFill>
                <a:latin typeface="Arial"/>
                <a:ea typeface="Arial"/>
                <a:cs typeface="Arial"/>
              </a:rPr>
              <a:t>Tienda</a:t>
            </a:r>
          </a:p>
          <a:p xmlns:a="http://schemas.openxmlformats.org/drawingml/2006/main">
            <a:pPr>
              <a:defRPr sz="2625">
                <a:solidFill>
                  <a:srgbClr val="542B20"/>
                </a:solidFill>
                <a:latin typeface="Arial"/>
                <a:ea typeface="Arial"/>
                <a:cs typeface="Arial"/>
              </a:defRPr>
            </a:pPr>
            <a:r>
              <a:rPr sz="2625">
                <a:solidFill>
                  <a:srgbClr val="542B20"/>
                </a:solidFill>
                <a:latin typeface="Arial"/>
                <a:ea typeface="Arial"/>
                <a:cs typeface="Arial"/>
              </a:rPr>
              <a:t>Mi Club y Conocé tu club</a:t>
            </a:r>
          </a:p>
          <a:p xmlns:a="http://schemas.openxmlformats.org/drawingml/2006/main">
            <a:pPr>
              <a:defRPr sz="2625">
                <a:solidFill>
                  <a:srgbClr val="542B20"/>
                </a:solidFill>
                <a:latin typeface="Arial"/>
                <a:ea typeface="Arial"/>
                <a:cs typeface="Arial"/>
              </a:defRPr>
            </a:pPr>
            <a:r>
              <a:rPr sz="2625">
                <a:solidFill>
                  <a:srgbClr val="542B20"/>
                </a:solidFill>
                <a:latin typeface="Arial"/>
                <a:ea typeface="Arial"/>
                <a:cs typeface="Arial"/>
              </a:rPr>
              <a:t>Reservar y Mis reservas</a:t>
            </a:r>
          </a:p>
          <a:p xmlns:a="http://schemas.openxmlformats.org/drawingml/2006/main">
            <a:pPr>
              <a:defRPr sz="2625">
                <a:solidFill>
                  <a:srgbClr val="542B20"/>
                </a:solidFill>
                <a:latin typeface="Arial"/>
                <a:ea typeface="Arial"/>
                <a:cs typeface="Arial"/>
              </a:defRPr>
            </a:pPr>
            <a:r>
              <a:rPr sz="2625">
                <a:solidFill>
                  <a:srgbClr val="542B20"/>
                </a:solidFill>
                <a:latin typeface="Arial"/>
                <a:ea typeface="Arial"/>
                <a:cs typeface="Arial"/>
              </a:rPr>
              <a:t>Perfil, compras y ayuda</a:t>
            </a:r>
          </a:p>
        </p:txBody>
      </p:sp>
      <p:sp>
        <p:nvSpPr>
          <p:cNvPr id="7" name="map-title-1">
            <a:extLst xmlns:a="http://schemas.openxmlformats.org/drawingml/2006/main">
              <a:ext uri="{FF2B5EF4-FFF2-40B4-BE49-F238E27FC236}">
                <a16:creationId xmlns:a16="http://schemas.microsoft.com/office/drawing/2014/main" id="{1DE543A6-1278-4B7E-B720-8728870508B2}"/>
              </a:ext>
            </a:extLst>
          </p:cNvPr>
          <p:cNvSpPr>
            <a:spLocks xmlns:a="http://schemas.openxmlformats.org/drawingml/2006/main" noGrp="1"/>
          </p:cNvSpPr>
          <p:nvPr/>
        </p:nvSpPr>
        <p:spPr>
          <a:xfrm xmlns:a="http://schemas.openxmlformats.org/drawingml/2006/main">
            <a:off x="8020050" y="2362200"/>
            <a:ext cx="676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542B20"/>
                </a:solidFill>
                <a:latin typeface="Arial"/>
                <a:ea typeface="Arial"/>
                <a:cs typeface="Arial"/>
              </a:defRPr>
            </a:defPPr>
          </a:lstStyle>
          <a:p xmlns:a="http://schemas.openxmlformats.org/drawingml/2006/main">
            <a:pPr>
              <a:defRPr sz="2850" b="1">
                <a:solidFill>
                  <a:srgbClr val="542B20"/>
                </a:solidFill>
                <a:latin typeface="Arial"/>
                <a:ea typeface="Arial"/>
                <a:cs typeface="Arial"/>
              </a:defRPr>
            </a:pPr>
            <a:r>
              <a:rPr sz="2850" b="1">
                <a:solidFill>
                  <a:srgbClr val="542B20"/>
                </a:solidFill>
                <a:latin typeface="Arial"/>
                <a:ea typeface="Arial"/>
                <a:cs typeface="Arial"/>
              </a:rPr>
              <a:t>El panel del equipo</a:t>
            </a:r>
          </a:p>
        </p:txBody>
      </p:sp>
      <p:sp>
        <p:nvSpPr>
          <p:cNvPr id="8" name="map-body-1">
            <a:extLst xmlns:a="http://schemas.openxmlformats.org/drawingml/2006/main">
              <a:ext uri="{FF2B5EF4-FFF2-40B4-BE49-F238E27FC236}">
                <a16:creationId xmlns:a16="http://schemas.microsoft.com/office/drawing/2014/main" id="{DEAA48BE-8263-4877-9670-F359B62B9145}"/>
              </a:ext>
            </a:extLst>
          </p:cNvPr>
          <p:cNvSpPr>
            <a:spLocks xmlns:a="http://schemas.openxmlformats.org/drawingml/2006/main" noGrp="1"/>
          </p:cNvSpPr>
          <p:nvPr/>
        </p:nvSpPr>
        <p:spPr>
          <a:xfrm xmlns:a="http://schemas.openxmlformats.org/drawingml/2006/main">
            <a:off x="8020050" y="3333750"/>
            <a:ext cx="67627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a:solidFill>
                  <a:srgbClr val="542B20"/>
                </a:solidFill>
                <a:latin typeface="Arial"/>
                <a:ea typeface="Arial"/>
                <a:cs typeface="Arial"/>
              </a:defRPr>
            </a:defPPr>
          </a:lstStyle>
          <a:p xmlns:a="http://schemas.openxmlformats.org/drawingml/2006/main">
            <a:pPr>
              <a:defRPr sz="2625">
                <a:solidFill>
                  <a:srgbClr val="542B20"/>
                </a:solidFill>
                <a:latin typeface="Arial"/>
                <a:ea typeface="Arial"/>
                <a:cs typeface="Arial"/>
              </a:defRPr>
            </a:pPr>
            <a:r>
              <a:rPr sz="2625">
                <a:solidFill>
                  <a:srgbClr val="542B20"/>
                </a:solidFill>
                <a:latin typeface="Arial"/>
                <a:ea typeface="Arial"/>
                <a:cs typeface="Arial"/>
              </a:rPr>
              <a:t>Resumen, Pedidos y Caja</a:t>
            </a:r>
          </a:p>
          <a:p xmlns:a="http://schemas.openxmlformats.org/drawingml/2006/main">
            <a:pPr>
              <a:defRPr sz="2625">
                <a:solidFill>
                  <a:srgbClr val="542B20"/>
                </a:solidFill>
                <a:latin typeface="Arial"/>
                <a:ea typeface="Arial"/>
                <a:cs typeface="Arial"/>
              </a:defRPr>
            </a:pPr>
            <a:r>
              <a:rPr sz="2625">
                <a:solidFill>
                  <a:srgbClr val="542B20"/>
                </a:solidFill>
                <a:latin typeface="Arial"/>
                <a:ea typeface="Arial"/>
                <a:cs typeface="Arial"/>
              </a:rPr>
              <a:t>Mi Club y Tienda</a:t>
            </a:r>
          </a:p>
          <a:p xmlns:a="http://schemas.openxmlformats.org/drawingml/2006/main">
            <a:pPr>
              <a:defRPr sz="2625">
                <a:solidFill>
                  <a:srgbClr val="542B20"/>
                </a:solidFill>
                <a:latin typeface="Arial"/>
                <a:ea typeface="Arial"/>
                <a:cs typeface="Arial"/>
              </a:defRPr>
            </a:pPr>
            <a:r>
              <a:rPr sz="2625">
                <a:solidFill>
                  <a:srgbClr val="542B20"/>
                </a:solidFill>
                <a:latin typeface="Arial"/>
                <a:ea typeface="Arial"/>
                <a:cs typeface="Arial"/>
              </a:rPr>
              <a:t>Entregas y Agenda</a:t>
            </a:r>
          </a:p>
          <a:p xmlns:a="http://schemas.openxmlformats.org/drawingml/2006/main">
            <a:pPr>
              <a:defRPr sz="2625">
                <a:solidFill>
                  <a:srgbClr val="542B20"/>
                </a:solidFill>
                <a:latin typeface="Arial"/>
                <a:ea typeface="Arial"/>
                <a:cs typeface="Arial"/>
              </a:defRPr>
            </a:pPr>
            <a:r>
              <a:rPr sz="2625">
                <a:solidFill>
                  <a:srgbClr val="542B20"/>
                </a:solidFill>
                <a:latin typeface="Arial"/>
                <a:ea typeface="Arial"/>
                <a:cs typeface="Arial"/>
              </a:rPr>
              <a:t>Atención e Informes</a:t>
            </a:r>
          </a:p>
          <a:p xmlns:a="http://schemas.openxmlformats.org/drawingml/2006/main">
            <a:pPr>
              <a:defRPr sz="2625">
                <a:solidFill>
                  <a:srgbClr val="542B20"/>
                </a:solidFill>
                <a:latin typeface="Arial"/>
                <a:ea typeface="Arial"/>
                <a:cs typeface="Arial"/>
              </a:defRPr>
            </a:pPr>
            <a:r>
              <a:rPr sz="2625">
                <a:solidFill>
                  <a:srgbClr val="542B20"/>
                </a:solidFill>
                <a:latin typeface="Arial"/>
                <a:ea typeface="Arial"/>
                <a:cs typeface="Arial"/>
              </a:rPr>
              <a:t>Clientes</a:t>
            </a:r>
          </a:p>
          <a:p xmlns:a="http://schemas.openxmlformats.org/drawingml/2006/main">
            <a:pPr>
              <a:defRPr sz="2625">
                <a:solidFill>
                  <a:srgbClr val="542B20"/>
                </a:solidFill>
                <a:latin typeface="Arial"/>
                <a:ea typeface="Arial"/>
                <a:cs typeface="Arial"/>
              </a:defRPr>
            </a:pPr>
            <a:r>
              <a:rPr sz="2625">
                <a:solidFill>
                  <a:srgbClr val="542B20"/>
                </a:solidFill>
                <a:latin typeface="Arial"/>
                <a:ea typeface="Arial"/>
                <a:cs typeface="Arial"/>
              </a:rPr>
              <a:t>Equipo y permisos, Cuenta y seguridad</a:t>
            </a:r>
          </a:p>
        </p:txBody>
      </p:sp>
    </p:spTree>
    <p:extLst>
      <p:ext uri="{BB962C8B-B14F-4D97-AF65-F5344CB8AC3E}">
        <p14:creationId xmlns:p14="http://schemas.microsoft.com/office/powerpoint/2010/main" val="1978608696"/>
      </p:ext>
    </p:extLst>
  </p:cSld>
</p:sld>
</file>

<file path=ppt/slides/slide4.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0664ADC6-447A-48DC-B0DA-6525AAA7E707}"/>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222DB26B-B2B4-4CF8-939C-4814844D1EDC}"/>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El acceso del cliente</a:t>
            </a:r>
          </a:p>
        </p:txBody>
      </p:sp>
      <p:sp>
        <p:nvSpPr>
          <p:cNvPr id="3" name="footer">
            <a:extLst xmlns:a="http://schemas.openxmlformats.org/drawingml/2006/main">
              <a:ext uri="{FF2B5EF4-FFF2-40B4-BE49-F238E27FC236}">
                <a16:creationId xmlns:a16="http://schemas.microsoft.com/office/drawing/2014/main" id="{F84AFE1A-7BA3-4DA8-8F84-769B502E7DD5}"/>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BABD2A59-BD49-4E02-BB82-DCDC7BD700A8}"/>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04</a:t>
            </a:r>
          </a:p>
        </p:txBody>
      </p:sp>
      <p:sp>
        <p:nvSpPr>
          <p:cNvPr id="5" name="block-title-0">
            <a:extLst xmlns:a="http://schemas.openxmlformats.org/drawingml/2006/main">
              <a:ext uri="{FF2B5EF4-FFF2-40B4-BE49-F238E27FC236}">
                <a16:creationId xmlns:a16="http://schemas.microsoft.com/office/drawing/2014/main" id="{76435A88-FD34-4AE7-A3A8-9CAB346E7962}"/>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Cuenta gratuita</a:t>
            </a:r>
          </a:p>
        </p:txBody>
      </p:sp>
      <p:sp>
        <p:nvSpPr>
          <p:cNvPr id="6" name="block-body-0">
            <a:extLst xmlns:a="http://schemas.openxmlformats.org/drawingml/2006/main">
              <a:ext uri="{FF2B5EF4-FFF2-40B4-BE49-F238E27FC236}">
                <a16:creationId xmlns:a16="http://schemas.microsoft.com/office/drawing/2014/main" id="{F7F2FCC5-A2E1-4F12-A69B-05D26224E812}"/>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cliente entra con su correo y un código de seis dígitos. En su primer acceso completa nombre y teléfono.</a:t>
            </a:r>
          </a:p>
        </p:txBody>
      </p:sp>
      <p:sp>
        <p:nvSpPr>
          <p:cNvPr id="7" name="block-title-1">
            <a:extLst xmlns:a="http://schemas.openxmlformats.org/drawingml/2006/main">
              <a:ext uri="{FF2B5EF4-FFF2-40B4-BE49-F238E27FC236}">
                <a16:creationId xmlns:a16="http://schemas.microsoft.com/office/drawing/2014/main" id="{2F63465D-C090-4781-A7B8-939DF53AA005}"/>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Sin contraseña</a:t>
            </a:r>
          </a:p>
        </p:txBody>
      </p:sp>
      <p:sp>
        <p:nvSpPr>
          <p:cNvPr id="8" name="block-body-1">
            <a:extLst xmlns:a="http://schemas.openxmlformats.org/drawingml/2006/main">
              <a:ext uri="{FF2B5EF4-FFF2-40B4-BE49-F238E27FC236}">
                <a16:creationId xmlns:a16="http://schemas.microsoft.com/office/drawing/2014/main" id="{C0E6F16C-244B-471D-AFBB-7DC740C9EF36}"/>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código vence en diez minutos. Puede revisar spam, reenviarlo o corregir el correo.</a:t>
            </a:r>
          </a:p>
        </p:txBody>
      </p:sp>
      <p:sp>
        <p:nvSpPr>
          <p:cNvPr id="9" name="block-title-2">
            <a:extLst xmlns:a="http://schemas.openxmlformats.org/drawingml/2006/main">
              <a:ext uri="{FF2B5EF4-FFF2-40B4-BE49-F238E27FC236}">
                <a16:creationId xmlns:a16="http://schemas.microsoft.com/office/drawing/2014/main" id="{85B55B56-AA89-4011-88A4-C4003EFB42DE}"/>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Uso cotidiano</a:t>
            </a:r>
          </a:p>
        </p:txBody>
      </p:sp>
      <p:sp>
        <p:nvSpPr>
          <p:cNvPr id="10" name="block-body-2">
            <a:extLst xmlns:a="http://schemas.openxmlformats.org/drawingml/2006/main">
              <a:ext uri="{FF2B5EF4-FFF2-40B4-BE49-F238E27FC236}">
                <a16:creationId xmlns:a16="http://schemas.microsoft.com/office/drawing/2014/main" id="{F6EBA7E0-574E-40CC-BFF1-D509E8D77CB9}"/>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La cuenta conserva su actividad. Aceptar promociones es opcional y no es necesario para registrarse.</a:t>
            </a:r>
          </a:p>
        </p:txBody>
      </p:sp>
      <p:pic>
        <p:nvPicPr>
          <p:cNvPr id="11" name="">
            <a:extLst xmlns:a="http://schemas.openxmlformats.org/drawingml/2006/main">
              <a:ext uri="{FF2B5EF4-FFF2-40B4-BE49-F238E27FC236}">
                <a16:creationId xmlns:a16="http://schemas.microsoft.com/office/drawing/2014/main" id="{35590812-F01B-4800-ADCA-E8CEC58CCDD1}"/>
              </a:ext>
            </a:extLst>
          </p:cNvPr>
          <p:cNvPicPr>
            <a:picLocks xmlns:a="http://schemas.openxmlformats.org/drawingml/2006/main" noChangeAspect="1"/>
          </p:cNvPicPr>
          <p:nvPr/>
        </p:nvPicPr>
        <p:blipFill>
          <a:blip xmlns:r="http://schemas.openxmlformats.org/officeDocument/2006/relationships" xmlns:a="http://schemas.openxmlformats.org/drawingml/2006/main" r:embed="Rf832d6d5aa5c4d89"/>
          <a:stretch xmlns:a="http://schemas.openxmlformats.org/drawingml/2006/main"/>
        </p:blipFill>
        <p:spPr>
          <a:xfrm xmlns:a="http://schemas.openxmlformats.org/drawingml/2006/main">
            <a:off x="5800725" y="2410560"/>
            <a:ext cx="8782050" cy="4875329"/>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774D7D14-9579-4299-9491-2CABF6243421}"/>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a:t>
            </a:r>
          </a:p>
        </p:txBody>
      </p:sp>
    </p:spTree>
    <p:extLst>
      <p:ext uri="{BB962C8B-B14F-4D97-AF65-F5344CB8AC3E}">
        <p14:creationId xmlns:p14="http://schemas.microsoft.com/office/powerpoint/2010/main" val="240728120"/>
      </p:ext>
    </p:extLst>
  </p:cSld>
</p:sld>
</file>

<file path=ppt/slides/slide5.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967EB77F-0AA6-4E93-B19D-8A7BB318A7AD}"/>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07B07B19-E8C6-4DA3-9CE8-8769347A3FE1}"/>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Inicio: la visita en un vistazo</a:t>
            </a:r>
          </a:p>
        </p:txBody>
      </p:sp>
      <p:sp>
        <p:nvSpPr>
          <p:cNvPr id="3" name="footer">
            <a:extLst xmlns:a="http://schemas.openxmlformats.org/drawingml/2006/main">
              <a:ext uri="{FF2B5EF4-FFF2-40B4-BE49-F238E27FC236}">
                <a16:creationId xmlns:a16="http://schemas.microsoft.com/office/drawing/2014/main" id="{07743312-BC5E-4F74-9A2D-78C2678E58AC}"/>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AD649813-B049-4E98-9A23-728A8334C604}"/>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05</a:t>
            </a:r>
          </a:p>
        </p:txBody>
      </p:sp>
      <p:sp>
        <p:nvSpPr>
          <p:cNvPr id="5" name="block-title-0">
            <a:extLst xmlns:a="http://schemas.openxmlformats.org/drawingml/2006/main">
              <a:ext uri="{FF2B5EF4-FFF2-40B4-BE49-F238E27FC236}">
                <a16:creationId xmlns:a16="http://schemas.microsoft.com/office/drawing/2014/main" id="{BA25D590-F7D7-4946-8E86-AF6F61CADD59}"/>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Qué muestra</a:t>
            </a:r>
          </a:p>
        </p:txBody>
      </p:sp>
      <p:sp>
        <p:nvSpPr>
          <p:cNvPr id="6" name="block-body-0">
            <a:extLst xmlns:a="http://schemas.openxmlformats.org/drawingml/2006/main">
              <a:ext uri="{FF2B5EF4-FFF2-40B4-BE49-F238E27FC236}">
                <a16:creationId xmlns:a16="http://schemas.microsoft.com/office/drawing/2014/main" id="{3A312018-32B1-471A-91F7-355F75E8203D}"/>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Saldo de Cuenta de Casa, avance de la tanda y novedades de la próxima visita.</a:t>
            </a:r>
          </a:p>
        </p:txBody>
      </p:sp>
      <p:sp>
        <p:nvSpPr>
          <p:cNvPr id="7" name="block-title-1">
            <a:extLst xmlns:a="http://schemas.openxmlformats.org/drawingml/2006/main">
              <a:ext uri="{FF2B5EF4-FFF2-40B4-BE49-F238E27FC236}">
                <a16:creationId xmlns:a16="http://schemas.microsoft.com/office/drawing/2014/main" id="{7215EF0F-553E-4A5A-8EB1-267BDC52B36E}"/>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Qué puede hacer</a:t>
            </a:r>
          </a:p>
        </p:txBody>
      </p:sp>
      <p:sp>
        <p:nvSpPr>
          <p:cNvPr id="8" name="block-body-1">
            <a:extLst xmlns:a="http://schemas.openxmlformats.org/drawingml/2006/main">
              <a:ext uri="{FF2B5EF4-FFF2-40B4-BE49-F238E27FC236}">
                <a16:creationId xmlns:a16="http://schemas.microsoft.com/office/drawing/2014/main" id="{61C12AC7-9BE3-4D93-B972-64B908991B85}"/>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Mostrar su pase, consultar movimientos, actualizar la información o abrir Carta, Tienda y Reservar.</a:t>
            </a:r>
          </a:p>
        </p:txBody>
      </p:sp>
      <p:sp>
        <p:nvSpPr>
          <p:cNvPr id="9" name="block-title-2">
            <a:extLst xmlns:a="http://schemas.openxmlformats.org/drawingml/2006/main">
              <a:ext uri="{FF2B5EF4-FFF2-40B4-BE49-F238E27FC236}">
                <a16:creationId xmlns:a16="http://schemas.microsoft.com/office/drawing/2014/main" id="{3540C423-3AEC-42F7-9E46-3FB428D38328}"/>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Valor para la casa</a:t>
            </a:r>
          </a:p>
        </p:txBody>
      </p:sp>
      <p:sp>
        <p:nvSpPr>
          <p:cNvPr id="10" name="block-body-2">
            <a:extLst xmlns:a="http://schemas.openxmlformats.org/drawingml/2006/main">
              <a:ext uri="{FF2B5EF4-FFF2-40B4-BE49-F238E27FC236}">
                <a16:creationId xmlns:a16="http://schemas.microsoft.com/office/drawing/2014/main" id="{FB764F0C-85B1-4D12-BED0-051045CD0990}"/>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cliente encuentra las acciones más frecuentes desde una sola pantalla.</a:t>
            </a:r>
          </a:p>
        </p:txBody>
      </p:sp>
      <p:pic>
        <p:nvPicPr>
          <p:cNvPr id="11" name="">
            <a:extLst xmlns:a="http://schemas.openxmlformats.org/drawingml/2006/main">
              <a:ext uri="{FF2B5EF4-FFF2-40B4-BE49-F238E27FC236}">
                <a16:creationId xmlns:a16="http://schemas.microsoft.com/office/drawing/2014/main" id="{3FCAC837-460B-4951-AE73-F588A70115C4}"/>
              </a:ext>
            </a:extLst>
          </p:cNvPr>
          <p:cNvPicPr>
            <a:picLocks xmlns:a="http://schemas.openxmlformats.org/drawingml/2006/main" noChangeAspect="1"/>
          </p:cNvPicPr>
          <p:nvPr/>
        </p:nvPicPr>
        <p:blipFill>
          <a:blip xmlns:r="http://schemas.openxmlformats.org/officeDocument/2006/relationships" xmlns:a="http://schemas.openxmlformats.org/drawingml/2006/main" r:embed="R7450faed80f14532"/>
          <a:stretch xmlns:a="http://schemas.openxmlformats.org/drawingml/2006/main"/>
        </p:blipFill>
        <p:spPr>
          <a:xfrm xmlns:a="http://schemas.openxmlformats.org/drawingml/2006/main">
            <a:off x="6398108" y="2190750"/>
            <a:ext cx="7587284"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4D3F8E5D-8AEF-4F6F-82F5-44AC73AE6A06}"/>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a:t>
            </a:r>
          </a:p>
        </p:txBody>
      </p:sp>
    </p:spTree>
    <p:extLst>
      <p:ext uri="{BB962C8B-B14F-4D97-AF65-F5344CB8AC3E}">
        <p14:creationId xmlns:p14="http://schemas.microsoft.com/office/powerpoint/2010/main" val="1291576942"/>
      </p:ext>
    </p:extLst>
  </p:cSld>
</p:sld>
</file>

<file path=ppt/slides/slide6.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BF2FDA20-FA1C-4C29-BE36-EE1A0AFC0E73}"/>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E7C0A1E7-FA28-4AE3-9291-0F2991CCFCDE}"/>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Cuenta de Casa y recargas</a:t>
            </a:r>
          </a:p>
        </p:txBody>
      </p:sp>
      <p:sp>
        <p:nvSpPr>
          <p:cNvPr id="3" name="footer">
            <a:extLst xmlns:a="http://schemas.openxmlformats.org/drawingml/2006/main">
              <a:ext uri="{FF2B5EF4-FFF2-40B4-BE49-F238E27FC236}">
                <a16:creationId xmlns:a16="http://schemas.microsoft.com/office/drawing/2014/main" id="{55458F61-309D-4AC9-B723-9703B5025C1D}"/>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2597184C-B599-4FE3-BBE1-794E0B49C786}"/>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06</a:t>
            </a:r>
          </a:p>
        </p:txBody>
      </p:sp>
      <p:sp>
        <p:nvSpPr>
          <p:cNvPr id="5" name="block-title-0">
            <a:extLst xmlns:a="http://schemas.openxmlformats.org/drawingml/2006/main">
              <a:ext uri="{FF2B5EF4-FFF2-40B4-BE49-F238E27FC236}">
                <a16:creationId xmlns:a16="http://schemas.microsoft.com/office/drawing/2014/main" id="{527F109B-5DE8-4DBD-9AEC-2686D5F0032B}"/>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Saldo para consumir</a:t>
            </a:r>
          </a:p>
        </p:txBody>
      </p:sp>
      <p:sp>
        <p:nvSpPr>
          <p:cNvPr id="6" name="block-body-0">
            <a:extLst xmlns:a="http://schemas.openxmlformats.org/drawingml/2006/main">
              <a:ext uri="{FF2B5EF4-FFF2-40B4-BE49-F238E27FC236}">
                <a16:creationId xmlns:a16="http://schemas.microsoft.com/office/drawing/2014/main" id="{650FB115-A861-4C9E-BF57-7E538FBA277E}"/>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cliente paga una recarga en el mostrador, con efectivo o tarjeta. Caja registra el importe recibido.</a:t>
            </a:r>
          </a:p>
        </p:txBody>
      </p:sp>
      <p:sp>
        <p:nvSpPr>
          <p:cNvPr id="7" name="block-title-1">
            <a:extLst xmlns:a="http://schemas.openxmlformats.org/drawingml/2006/main">
              <a:ext uri="{FF2B5EF4-FFF2-40B4-BE49-F238E27FC236}">
                <a16:creationId xmlns:a16="http://schemas.microsoft.com/office/drawing/2014/main" id="{6C684B7B-E28F-4FC8-A2E1-96108C90E25B}"/>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Límites visibles</a:t>
            </a:r>
          </a:p>
        </p:txBody>
      </p:sp>
      <p:sp>
        <p:nvSpPr>
          <p:cNvPr id="8" name="block-body-1">
            <a:extLst xmlns:a="http://schemas.openxmlformats.org/drawingml/2006/main">
              <a:ext uri="{FF2B5EF4-FFF2-40B4-BE49-F238E27FC236}">
                <a16:creationId xmlns:a16="http://schemas.microsoft.com/office/drawing/2014/main" id="{68A1787B-5D45-4252-8CF5-6861D8906D26}"/>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Cada recarga admite de C$200 a C$3,000. El cliente actualiza su saldo después de la confirmación.</a:t>
            </a:r>
          </a:p>
        </p:txBody>
      </p:sp>
      <p:sp>
        <p:nvSpPr>
          <p:cNvPr id="9" name="block-title-2">
            <a:extLst xmlns:a="http://schemas.openxmlformats.org/drawingml/2006/main">
              <a:ext uri="{FF2B5EF4-FFF2-40B4-BE49-F238E27FC236}">
                <a16:creationId xmlns:a16="http://schemas.microsoft.com/office/drawing/2014/main" id="{02BF9A12-C13A-4B39-9402-26CEB56B4F75}"/>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Valor para la casa</a:t>
            </a:r>
          </a:p>
        </p:txBody>
      </p:sp>
      <p:sp>
        <p:nvSpPr>
          <p:cNvPr id="10" name="block-body-2">
            <a:extLst xmlns:a="http://schemas.openxmlformats.org/drawingml/2006/main">
              <a:ext uri="{FF2B5EF4-FFF2-40B4-BE49-F238E27FC236}">
                <a16:creationId xmlns:a16="http://schemas.microsoft.com/office/drawing/2014/main" id="{17039FF2-A3AF-4B92-B09C-2DA7B890B233}"/>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Cada movimiento queda asociado a una cuenta y a una referencia de caja.</a:t>
            </a:r>
          </a:p>
        </p:txBody>
      </p:sp>
      <p:pic>
        <p:nvPicPr>
          <p:cNvPr id="11" name="">
            <a:extLst xmlns:a="http://schemas.openxmlformats.org/drawingml/2006/main">
              <a:ext uri="{FF2B5EF4-FFF2-40B4-BE49-F238E27FC236}">
                <a16:creationId xmlns:a16="http://schemas.microsoft.com/office/drawing/2014/main" id="{FD24840D-8540-415B-8BBB-6FCD19C459D6}"/>
              </a:ext>
            </a:extLst>
          </p:cNvPr>
          <p:cNvPicPr>
            <a:picLocks xmlns:a="http://schemas.openxmlformats.org/drawingml/2006/main" noChangeAspect="1"/>
          </p:cNvPicPr>
          <p:nvPr/>
        </p:nvPicPr>
        <p:blipFill>
          <a:blip xmlns:r="http://schemas.openxmlformats.org/officeDocument/2006/relationships" xmlns:a="http://schemas.openxmlformats.org/drawingml/2006/main" r:embed="Rc7bd6e2f15a64fe1"/>
          <a:stretch xmlns:a="http://schemas.openxmlformats.org/drawingml/2006/main"/>
        </p:blipFill>
        <p:spPr>
          <a:xfrm xmlns:a="http://schemas.openxmlformats.org/drawingml/2006/main">
            <a:off x="7232289" y="2190750"/>
            <a:ext cx="5918922"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851F5A9B-EC17-4F7F-A1FD-5F1EBF2782FD}"/>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a:t>
            </a:r>
          </a:p>
        </p:txBody>
      </p:sp>
    </p:spTree>
    <p:extLst>
      <p:ext uri="{BB962C8B-B14F-4D97-AF65-F5344CB8AC3E}">
        <p14:creationId xmlns:p14="http://schemas.microsoft.com/office/powerpoint/2010/main" val="381612968"/>
      </p:ext>
    </p:extLst>
  </p:cSld>
</p:sld>
</file>

<file path=ppt/slides/slide7.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1B348464-2CDD-474A-9B51-A1A4F32BD796}"/>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E8156AD9-89D6-464A-8F8F-94F9A31A109F}"/>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El pase identifica la cuenta</a:t>
            </a:r>
          </a:p>
        </p:txBody>
      </p:sp>
      <p:sp>
        <p:nvSpPr>
          <p:cNvPr id="3" name="footer">
            <a:extLst xmlns:a="http://schemas.openxmlformats.org/drawingml/2006/main">
              <a:ext uri="{FF2B5EF4-FFF2-40B4-BE49-F238E27FC236}">
                <a16:creationId xmlns:a16="http://schemas.microsoft.com/office/drawing/2014/main" id="{33F1B5B7-1632-49E5-BDE2-55ABD2C6B880}"/>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67F9E8A4-B390-4F03-8FBC-63979152A6D2}"/>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07</a:t>
            </a:r>
          </a:p>
        </p:txBody>
      </p:sp>
      <p:sp>
        <p:nvSpPr>
          <p:cNvPr id="5" name="block-title-0">
            <a:extLst xmlns:a="http://schemas.openxmlformats.org/drawingml/2006/main">
              <a:ext uri="{FF2B5EF4-FFF2-40B4-BE49-F238E27FC236}">
                <a16:creationId xmlns:a16="http://schemas.microsoft.com/office/drawing/2014/main" id="{4F7E80D7-C07B-4CDF-8026-D0DB335EEAEC}"/>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Dónde se abre</a:t>
            </a:r>
          </a:p>
        </p:txBody>
      </p:sp>
      <p:sp>
        <p:nvSpPr>
          <p:cNvPr id="6" name="block-body-0">
            <a:extLst xmlns:a="http://schemas.openxmlformats.org/drawingml/2006/main">
              <a:ext uri="{FF2B5EF4-FFF2-40B4-BE49-F238E27FC236}">
                <a16:creationId xmlns:a16="http://schemas.microsoft.com/office/drawing/2014/main" id="{A5D9A82C-4E04-4705-8BF6-9A630ED01860}"/>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En Inicio con «Mostrá tu pase» o en Mi Club con «Mostrar mi pase».</a:t>
            </a:r>
          </a:p>
        </p:txBody>
      </p:sp>
      <p:sp>
        <p:nvSpPr>
          <p:cNvPr id="7" name="block-title-1">
            <a:extLst xmlns:a="http://schemas.openxmlformats.org/drawingml/2006/main">
              <a:ext uri="{FF2B5EF4-FFF2-40B4-BE49-F238E27FC236}">
                <a16:creationId xmlns:a16="http://schemas.microsoft.com/office/drawing/2014/main" id="{8048E096-A388-4F3A-82F4-9A9A7139719D}"/>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Cómo se usa</a:t>
            </a:r>
          </a:p>
        </p:txBody>
      </p:sp>
      <p:sp>
        <p:nvSpPr>
          <p:cNvPr id="8" name="block-body-1">
            <a:extLst xmlns:a="http://schemas.openxmlformats.org/drawingml/2006/main">
              <a:ext uri="{FF2B5EF4-FFF2-40B4-BE49-F238E27FC236}">
                <a16:creationId xmlns:a16="http://schemas.microsoft.com/office/drawing/2014/main" id="{63EF6D1F-13B3-4670-9BEA-A99C3D731BB9}"/>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cliente presenta el código y el personal busca su cuenta, verifica al titular y revisa la operación.</a:t>
            </a:r>
          </a:p>
        </p:txBody>
      </p:sp>
      <p:sp>
        <p:nvSpPr>
          <p:cNvPr id="9" name="block-title-2">
            <a:extLst xmlns:a="http://schemas.openxmlformats.org/drawingml/2006/main">
              <a:ext uri="{FF2B5EF4-FFF2-40B4-BE49-F238E27FC236}">
                <a16:creationId xmlns:a16="http://schemas.microsoft.com/office/drawing/2014/main" id="{5E58D9A9-BC27-4057-9276-F895F53D0923}"/>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Un código para cada fin</a:t>
            </a:r>
          </a:p>
        </p:txBody>
      </p:sp>
      <p:sp>
        <p:nvSpPr>
          <p:cNvPr id="10" name="block-body-2">
            <a:extLst xmlns:a="http://schemas.openxmlformats.org/drawingml/2006/main">
              <a:ext uri="{FF2B5EF4-FFF2-40B4-BE49-F238E27FC236}">
                <a16:creationId xmlns:a16="http://schemas.microsoft.com/office/drawing/2014/main" id="{92C1BE34-0329-4CF9-924F-D891B3589063}"/>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pase identifica la cuenta. Los códigos de premio o beneficio sirven para validar una entrega concreta.</a:t>
            </a:r>
          </a:p>
        </p:txBody>
      </p:sp>
      <p:pic>
        <p:nvPicPr>
          <p:cNvPr id="11" name="">
            <a:extLst xmlns:a="http://schemas.openxmlformats.org/drawingml/2006/main">
              <a:ext uri="{FF2B5EF4-FFF2-40B4-BE49-F238E27FC236}">
                <a16:creationId xmlns:a16="http://schemas.microsoft.com/office/drawing/2014/main" id="{69301FB4-D463-44B9-9655-53E53422C53D}"/>
              </a:ext>
            </a:extLst>
          </p:cNvPr>
          <p:cNvPicPr>
            <a:picLocks xmlns:a="http://schemas.openxmlformats.org/drawingml/2006/main" noChangeAspect="1"/>
          </p:cNvPicPr>
          <p:nvPr/>
        </p:nvPicPr>
        <p:blipFill>
          <a:blip xmlns:r="http://schemas.openxmlformats.org/officeDocument/2006/relationships" xmlns:a="http://schemas.openxmlformats.org/drawingml/2006/main" r:embed="R5ef18b9faae64b60"/>
          <a:stretch xmlns:a="http://schemas.openxmlformats.org/drawingml/2006/main"/>
        </p:blipFill>
        <p:spPr>
          <a:xfrm xmlns:a="http://schemas.openxmlformats.org/drawingml/2006/main">
            <a:off x="5800725" y="2519233"/>
            <a:ext cx="8782050" cy="4657985"/>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336F1127-1499-4011-9225-2FF3E273872F}"/>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/club</a:t>
            </a:r>
          </a:p>
        </p:txBody>
      </p:sp>
    </p:spTree>
    <p:extLst>
      <p:ext uri="{BB962C8B-B14F-4D97-AF65-F5344CB8AC3E}">
        <p14:creationId xmlns:p14="http://schemas.microsoft.com/office/powerpoint/2010/main" val="663993851"/>
      </p:ext>
    </p:extLst>
  </p:cSld>
</p:sld>
</file>

<file path=ppt/slides/slide8.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EB2ED1BB-C374-4EFB-AAF1-6217F26812C3}"/>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2D9E14EB-7A72-4476-AC3E-23AD3964CAB6}"/>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Carta: encontrar qué pedir</a:t>
            </a:r>
          </a:p>
        </p:txBody>
      </p:sp>
      <p:sp>
        <p:nvSpPr>
          <p:cNvPr id="3" name="footer">
            <a:extLst xmlns:a="http://schemas.openxmlformats.org/drawingml/2006/main">
              <a:ext uri="{FF2B5EF4-FFF2-40B4-BE49-F238E27FC236}">
                <a16:creationId xmlns:a16="http://schemas.microsoft.com/office/drawing/2014/main" id="{F2B67BAB-DEE9-4E59-BC95-696B975E666C}"/>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2D62403A-2608-4DCA-BFCD-F675CF4BB099}"/>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08</a:t>
            </a:r>
          </a:p>
        </p:txBody>
      </p:sp>
      <p:sp>
        <p:nvSpPr>
          <p:cNvPr id="5" name="block-title-0">
            <a:extLst xmlns:a="http://schemas.openxmlformats.org/drawingml/2006/main">
              <a:ext uri="{FF2B5EF4-FFF2-40B4-BE49-F238E27FC236}">
                <a16:creationId xmlns:a16="http://schemas.microsoft.com/office/drawing/2014/main" id="{6BE64E55-AADA-4CD1-A609-54F4C52712FF}"/>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Explorar</a:t>
            </a:r>
          </a:p>
        </p:txBody>
      </p:sp>
      <p:sp>
        <p:nvSpPr>
          <p:cNvPr id="6" name="block-body-0">
            <a:extLst xmlns:a="http://schemas.openxmlformats.org/drawingml/2006/main">
              <a:ext uri="{FF2B5EF4-FFF2-40B4-BE49-F238E27FC236}">
                <a16:creationId xmlns:a16="http://schemas.microsoft.com/office/drawing/2014/main" id="{224CFF4D-DD5F-40E1-B36D-56427B80FDF2}"/>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Buscar por nombre y elegir Todo, Café, Brunch, Bistró o Dulce. Las categorías agrupan los productos.</a:t>
            </a:r>
          </a:p>
        </p:txBody>
      </p:sp>
      <p:sp>
        <p:nvSpPr>
          <p:cNvPr id="7" name="block-title-1">
            <a:extLst xmlns:a="http://schemas.openxmlformats.org/drawingml/2006/main">
              <a:ext uri="{FF2B5EF4-FFF2-40B4-BE49-F238E27FC236}">
                <a16:creationId xmlns:a16="http://schemas.microsoft.com/office/drawing/2014/main" id="{3BDCF3CE-931F-4C43-A8F7-46C2C1F8E601}"/>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Elegir</a:t>
            </a:r>
          </a:p>
        </p:txBody>
      </p:sp>
      <p:sp>
        <p:nvSpPr>
          <p:cNvPr id="8" name="block-body-1">
            <a:extLst xmlns:a="http://schemas.openxmlformats.org/drawingml/2006/main">
              <a:ext uri="{FF2B5EF4-FFF2-40B4-BE49-F238E27FC236}">
                <a16:creationId xmlns:a16="http://schemas.microsoft.com/office/drawing/2014/main" id="{DFCCE378-9DB0-48BC-9944-36E7E35F9B8D}"/>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Abrir la ficha del plato o añadirlo al pedido. La barra inferior muestra cantidad e importe.</a:t>
            </a:r>
          </a:p>
        </p:txBody>
      </p:sp>
      <p:sp>
        <p:nvSpPr>
          <p:cNvPr id="9" name="block-title-2">
            <a:extLst xmlns:a="http://schemas.openxmlformats.org/drawingml/2006/main">
              <a:ext uri="{FF2B5EF4-FFF2-40B4-BE49-F238E27FC236}">
                <a16:creationId xmlns:a16="http://schemas.microsoft.com/office/drawing/2014/main" id="{893834CD-EB73-4B10-9DA1-1A61A5C634B9}"/>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Condición de servicio</a:t>
            </a:r>
          </a:p>
        </p:txBody>
      </p:sp>
      <p:sp>
        <p:nvSpPr>
          <p:cNvPr id="10" name="block-body-2">
            <a:extLst xmlns:a="http://schemas.openxmlformats.org/drawingml/2006/main">
              <a:ext uri="{FF2B5EF4-FFF2-40B4-BE49-F238E27FC236}">
                <a16:creationId xmlns:a16="http://schemas.microsoft.com/office/drawing/2014/main" id="{18252E58-DA2C-427E-AEEA-46BD80663CE3}"/>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Los pedidos se retiran en barra. La app informa el horario, el empaque y las pausas de recepción.</a:t>
            </a:r>
          </a:p>
        </p:txBody>
      </p:sp>
      <p:pic>
        <p:nvPicPr>
          <p:cNvPr id="11" name="">
            <a:extLst xmlns:a="http://schemas.openxmlformats.org/drawingml/2006/main">
              <a:ext uri="{FF2B5EF4-FFF2-40B4-BE49-F238E27FC236}">
                <a16:creationId xmlns:a16="http://schemas.microsoft.com/office/drawing/2014/main" id="{5A8D5D04-7A48-457A-BC48-821937D72706}"/>
              </a:ext>
            </a:extLst>
          </p:cNvPr>
          <p:cNvPicPr>
            <a:picLocks xmlns:a="http://schemas.openxmlformats.org/drawingml/2006/main" noChangeAspect="1"/>
          </p:cNvPicPr>
          <p:nvPr/>
        </p:nvPicPr>
        <p:blipFill>
          <a:blip xmlns:r="http://schemas.openxmlformats.org/officeDocument/2006/relationships" xmlns:a="http://schemas.openxmlformats.org/drawingml/2006/main" r:embed="Re96ca1a190284a8f"/>
          <a:stretch xmlns:a="http://schemas.openxmlformats.org/drawingml/2006/main"/>
        </p:blipFill>
        <p:spPr>
          <a:xfrm xmlns:a="http://schemas.openxmlformats.org/drawingml/2006/main">
            <a:off x="5800725" y="2236862"/>
            <a:ext cx="8782050" cy="5222726"/>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4F55BC6D-AE38-48A8-A902-72322205490F}"/>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/pedir</a:t>
            </a:r>
          </a:p>
        </p:txBody>
      </p:sp>
    </p:spTree>
    <p:extLst>
      <p:ext uri="{BB962C8B-B14F-4D97-AF65-F5344CB8AC3E}">
        <p14:creationId xmlns:p14="http://schemas.microsoft.com/office/powerpoint/2010/main" val="1088666595"/>
      </p:ext>
    </p:extLst>
  </p:cSld>
</p:sld>
</file>

<file path=ppt/slides/slide9.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63A9A5C0-54A6-44B9-B43E-25EA7224706A}"/>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02E4A8F7-764E-4BF0-8DBB-410A4AEC9F8A}"/>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La ficha de cada producto</a:t>
            </a:r>
          </a:p>
        </p:txBody>
      </p:sp>
      <p:sp>
        <p:nvSpPr>
          <p:cNvPr id="3" name="footer">
            <a:extLst xmlns:a="http://schemas.openxmlformats.org/drawingml/2006/main">
              <a:ext uri="{FF2B5EF4-FFF2-40B4-BE49-F238E27FC236}">
                <a16:creationId xmlns:a16="http://schemas.microsoft.com/office/drawing/2014/main" id="{424BD4FC-5571-41E0-ABA9-FAB1E0DE27C7}"/>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440B9D50-709D-4940-9314-E3F3CF131FB3}"/>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09</a:t>
            </a:r>
          </a:p>
        </p:txBody>
      </p:sp>
      <p:sp>
        <p:nvSpPr>
          <p:cNvPr id="5" name="block-title-0">
            <a:extLst xmlns:a="http://schemas.openxmlformats.org/drawingml/2006/main">
              <a:ext uri="{FF2B5EF4-FFF2-40B4-BE49-F238E27FC236}">
                <a16:creationId xmlns:a16="http://schemas.microsoft.com/office/drawing/2014/main" id="{10973541-0F69-4FE5-8F4A-8776018FE6D6}"/>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Información para decidir</a:t>
            </a:r>
          </a:p>
        </p:txBody>
      </p:sp>
      <p:sp>
        <p:nvSpPr>
          <p:cNvPr id="6" name="block-body-0">
            <a:extLst xmlns:a="http://schemas.openxmlformats.org/drawingml/2006/main">
              <a:ext uri="{FF2B5EF4-FFF2-40B4-BE49-F238E27FC236}">
                <a16:creationId xmlns:a16="http://schemas.microsoft.com/office/drawing/2014/main" id="{6F23272D-A020-483E-BB78-18FF7B2685EF}"/>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Muestra descripción, foto, precio y porción cuando cocina ha confirmado esos datos.</a:t>
            </a:r>
          </a:p>
        </p:txBody>
      </p:sp>
      <p:sp>
        <p:nvSpPr>
          <p:cNvPr id="7" name="block-title-1">
            <a:extLst xmlns:a="http://schemas.openxmlformats.org/drawingml/2006/main">
              <a:ext uri="{FF2B5EF4-FFF2-40B4-BE49-F238E27FC236}">
                <a16:creationId xmlns:a16="http://schemas.microsoft.com/office/drawing/2014/main" id="{8C8AD1A0-2255-490E-8276-193D160E543E}"/>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Cantidad y opciones</a:t>
            </a:r>
          </a:p>
        </p:txBody>
      </p:sp>
      <p:sp>
        <p:nvSpPr>
          <p:cNvPr id="8" name="block-body-1">
            <a:extLst xmlns:a="http://schemas.openxmlformats.org/drawingml/2006/main">
              <a:ext uri="{FF2B5EF4-FFF2-40B4-BE49-F238E27FC236}">
                <a16:creationId xmlns:a16="http://schemas.microsoft.com/office/drawing/2014/main" id="{35E8E0F1-323F-467F-A127-A8A6C12642A2}"/>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cliente ajusta las unidades y las opciones disponibles antes de agregar.</a:t>
            </a:r>
          </a:p>
        </p:txBody>
      </p:sp>
      <p:sp>
        <p:nvSpPr>
          <p:cNvPr id="9" name="block-title-2">
            <a:extLst xmlns:a="http://schemas.openxmlformats.org/drawingml/2006/main">
              <a:ext uri="{FF2B5EF4-FFF2-40B4-BE49-F238E27FC236}">
                <a16:creationId xmlns:a16="http://schemas.microsoft.com/office/drawing/2014/main" id="{87FFAE8E-235B-4B9E-9EFC-E34909CD68A1}"/>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Alergias</a:t>
            </a:r>
          </a:p>
        </p:txBody>
      </p:sp>
      <p:sp>
        <p:nvSpPr>
          <p:cNvPr id="10" name="block-body-2">
            <a:extLst xmlns:a="http://schemas.openxmlformats.org/drawingml/2006/main">
              <a:ext uri="{FF2B5EF4-FFF2-40B4-BE49-F238E27FC236}">
                <a16:creationId xmlns:a16="http://schemas.microsoft.com/office/drawing/2014/main" id="{4AA9D055-C340-41D0-9CC1-A22526896E54}"/>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Las restricciones se confirman con el equipo. La descripción y la foto no garantizan ausencia de alérgenos.</a:t>
            </a:r>
          </a:p>
        </p:txBody>
      </p:sp>
      <p:pic>
        <p:nvPicPr>
          <p:cNvPr id="11" name="">
            <a:extLst xmlns:a="http://schemas.openxmlformats.org/drawingml/2006/main">
              <a:ext uri="{FF2B5EF4-FFF2-40B4-BE49-F238E27FC236}">
                <a16:creationId xmlns:a16="http://schemas.microsoft.com/office/drawing/2014/main" id="{7DF495BF-273B-4D32-BE38-0CCFEB1F9C60}"/>
              </a:ext>
            </a:extLst>
          </p:cNvPr>
          <p:cNvPicPr>
            <a:picLocks xmlns:a="http://schemas.openxmlformats.org/drawingml/2006/main" noChangeAspect="1"/>
          </p:cNvPicPr>
          <p:nvPr/>
        </p:nvPicPr>
        <p:blipFill>
          <a:blip xmlns:r="http://schemas.openxmlformats.org/officeDocument/2006/relationships" xmlns:a="http://schemas.openxmlformats.org/drawingml/2006/main" r:embed="Rd0dbd5f49bbc4d1d"/>
          <a:stretch xmlns:a="http://schemas.openxmlformats.org/drawingml/2006/main"/>
        </p:blipFill>
        <p:spPr>
          <a:xfrm xmlns:a="http://schemas.openxmlformats.org/drawingml/2006/main">
            <a:off x="5800725" y="2820967"/>
            <a:ext cx="8782050" cy="4054517"/>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DB239042-1C1F-4668-86BF-9884A5EB8F65}"/>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/pedir</a:t>
            </a:r>
          </a:p>
        </p:txBody>
      </p:sp>
    </p:spTree>
    <p:extLst>
      <p:ext uri="{BB962C8B-B14F-4D97-AF65-F5344CB8AC3E}">
        <p14:creationId xmlns:p14="http://schemas.microsoft.com/office/powerpoint/2010/main" val="429999869"/>
      </p:ext>
    </p:extLst>
  </p:cSld>
</p:sld>
</file>

<file path=ppt/slides/slide10.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D36A9C83-9729-460C-ADE2-AF6E040CA9FD}"/>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A1B783EE-508A-4307-A24C-00B33CDAE514}"/>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El pedido antes del pago</a:t>
            </a:r>
          </a:p>
        </p:txBody>
      </p:sp>
      <p:sp>
        <p:nvSpPr>
          <p:cNvPr id="3" name="footer">
            <a:extLst xmlns:a="http://schemas.openxmlformats.org/drawingml/2006/main">
              <a:ext uri="{FF2B5EF4-FFF2-40B4-BE49-F238E27FC236}">
                <a16:creationId xmlns:a16="http://schemas.microsoft.com/office/drawing/2014/main" id="{5AA76FBF-568D-42C0-BF9B-2D1E2B6DBC93}"/>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63756D19-CF84-427E-A689-D17AB60752FB}"/>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10</a:t>
            </a:r>
          </a:p>
        </p:txBody>
      </p:sp>
      <p:sp>
        <p:nvSpPr>
          <p:cNvPr id="5" name="block-title-0">
            <a:extLst xmlns:a="http://schemas.openxmlformats.org/drawingml/2006/main">
              <a:ext uri="{FF2B5EF4-FFF2-40B4-BE49-F238E27FC236}">
                <a16:creationId xmlns:a16="http://schemas.microsoft.com/office/drawing/2014/main" id="{B8A87EFF-F63F-445E-AF49-4C02291BC47A}"/>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Revisar</a:t>
            </a:r>
          </a:p>
        </p:txBody>
      </p:sp>
      <p:sp>
        <p:nvSpPr>
          <p:cNvPr id="6" name="block-body-0">
            <a:extLst xmlns:a="http://schemas.openxmlformats.org/drawingml/2006/main">
              <a:ext uri="{FF2B5EF4-FFF2-40B4-BE49-F238E27FC236}">
                <a16:creationId xmlns:a16="http://schemas.microsoft.com/office/drawing/2014/main" id="{AF4BCCB6-B3B3-4534-98F9-9941EECED28E}"/>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Cambiar cantidades, comprobar productos y empaque, y confirmar restricciones para ese pedido.</a:t>
            </a:r>
          </a:p>
        </p:txBody>
      </p:sp>
      <p:sp>
        <p:nvSpPr>
          <p:cNvPr id="7" name="block-title-1">
            <a:extLst xmlns:a="http://schemas.openxmlformats.org/drawingml/2006/main">
              <a:ext uri="{FF2B5EF4-FFF2-40B4-BE49-F238E27FC236}">
                <a16:creationId xmlns:a16="http://schemas.microsoft.com/office/drawing/2014/main" id="{10FC9401-88A9-447D-A54E-8EFD4CC3B621}"/>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Pagar con saldo</a:t>
            </a:r>
          </a:p>
        </p:txBody>
      </p:sp>
      <p:sp>
        <p:nvSpPr>
          <p:cNvPr id="8" name="block-body-1">
            <a:extLst xmlns:a="http://schemas.openxmlformats.org/drawingml/2006/main">
              <a:ext uri="{FF2B5EF4-FFF2-40B4-BE49-F238E27FC236}">
                <a16:creationId xmlns:a16="http://schemas.microsoft.com/office/drawing/2014/main" id="{67840E2B-A30B-4386-85A4-9C5EDB1CE037}"/>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«Revisar total para pagar» conduce a la revisión. El cargo ocurre al confirmar el pago.</a:t>
            </a:r>
          </a:p>
        </p:txBody>
      </p:sp>
      <p:sp>
        <p:nvSpPr>
          <p:cNvPr id="9" name="block-title-2">
            <a:extLst xmlns:a="http://schemas.openxmlformats.org/drawingml/2006/main">
              <a:ext uri="{FF2B5EF4-FFF2-40B4-BE49-F238E27FC236}">
                <a16:creationId xmlns:a16="http://schemas.microsoft.com/office/drawing/2014/main" id="{E7D49D1B-201E-47C5-8D5A-8ABBD27B4817}"/>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Si falta saldo</a:t>
            </a:r>
          </a:p>
        </p:txBody>
      </p:sp>
      <p:sp>
        <p:nvSpPr>
          <p:cNvPr id="10" name="block-body-2">
            <a:extLst xmlns:a="http://schemas.openxmlformats.org/drawingml/2006/main">
              <a:ext uri="{FF2B5EF4-FFF2-40B4-BE49-F238E27FC236}">
                <a16:creationId xmlns:a16="http://schemas.microsoft.com/office/drawing/2014/main" id="{6ED7AC6D-F475-4826-835B-3BE5C28FC74F}"/>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La app conserva el pedido mientras el cliente recarga en caja y actualiza su cuenta.</a:t>
            </a:r>
          </a:p>
        </p:txBody>
      </p:sp>
      <p:pic>
        <p:nvPicPr>
          <p:cNvPr id="11" name="">
            <a:extLst xmlns:a="http://schemas.openxmlformats.org/drawingml/2006/main">
              <a:ext uri="{FF2B5EF4-FFF2-40B4-BE49-F238E27FC236}">
                <a16:creationId xmlns:a16="http://schemas.microsoft.com/office/drawing/2014/main" id="{99F95CEE-07AC-40D1-95C9-B84E09A6E9BE}"/>
              </a:ext>
            </a:extLst>
          </p:cNvPr>
          <p:cNvPicPr>
            <a:picLocks xmlns:a="http://schemas.openxmlformats.org/drawingml/2006/main" noChangeAspect="1"/>
          </p:cNvPicPr>
          <p:nvPr/>
        </p:nvPicPr>
        <p:blipFill>
          <a:blip xmlns:r="http://schemas.openxmlformats.org/officeDocument/2006/relationships" xmlns:a="http://schemas.openxmlformats.org/drawingml/2006/main" r:embed="Ra5b4955139e941f5"/>
          <a:stretch xmlns:a="http://schemas.openxmlformats.org/drawingml/2006/main"/>
        </p:blipFill>
        <p:spPr>
          <a:xfrm xmlns:a="http://schemas.openxmlformats.org/drawingml/2006/main">
            <a:off x="7841469" y="2190750"/>
            <a:ext cx="4700561"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D2948232-7F5B-4D43-B106-78831F68A5B2}"/>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/pedir</a:t>
            </a:r>
          </a:p>
        </p:txBody>
      </p:sp>
    </p:spTree>
    <p:extLst>
      <p:ext uri="{BB962C8B-B14F-4D97-AF65-F5344CB8AC3E}">
        <p14:creationId xmlns:p14="http://schemas.microsoft.com/office/powerpoint/2010/main" val="2089462090"/>
      </p:ext>
    </p:extLst>
  </p:cSld>
</p:sld>
</file>

<file path=ppt/slides/slide11.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007D7A3F-2F1A-42D8-A8E2-8A4F2A857A92}"/>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C150015B-E7C7-47A1-ACC7-7AF347ACCEE1}"/>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Mis compras y reservas</a:t>
            </a:r>
          </a:p>
        </p:txBody>
      </p:sp>
      <p:sp>
        <p:nvSpPr>
          <p:cNvPr id="3" name="footer">
            <a:extLst xmlns:a="http://schemas.openxmlformats.org/drawingml/2006/main">
              <a:ext uri="{FF2B5EF4-FFF2-40B4-BE49-F238E27FC236}">
                <a16:creationId xmlns:a16="http://schemas.microsoft.com/office/drawing/2014/main" id="{4AFD5BE1-0A48-4BA1-ADBE-0685637EB8C5}"/>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FAA1D795-256F-4001-A3E7-A9CE09965410}"/>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11</a:t>
            </a:r>
          </a:p>
        </p:txBody>
      </p:sp>
      <p:sp>
        <p:nvSpPr>
          <p:cNvPr id="5" name="block-title-0">
            <a:extLst xmlns:a="http://schemas.openxmlformats.org/drawingml/2006/main">
              <a:ext uri="{FF2B5EF4-FFF2-40B4-BE49-F238E27FC236}">
                <a16:creationId xmlns:a16="http://schemas.microsoft.com/office/drawing/2014/main" id="{9CA1A9E1-26B7-4E94-9197-B701230F5763}"/>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Un historial para consultar</a:t>
            </a:r>
          </a:p>
        </p:txBody>
      </p:sp>
      <p:sp>
        <p:nvSpPr>
          <p:cNvPr id="6" name="block-body-0">
            <a:extLst xmlns:a="http://schemas.openxmlformats.org/drawingml/2006/main">
              <a:ext uri="{FF2B5EF4-FFF2-40B4-BE49-F238E27FC236}">
                <a16:creationId xmlns:a16="http://schemas.microsoft.com/office/drawing/2014/main" id="{FE3B0576-94FE-491F-9E68-5AE6F01CAE7E}"/>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Reúne pedidos, bolsas de café, entradas a experiencias y reservas de mesas.</a:t>
            </a:r>
          </a:p>
        </p:txBody>
      </p:sp>
      <p:sp>
        <p:nvSpPr>
          <p:cNvPr id="7" name="block-title-1">
            <a:extLst xmlns:a="http://schemas.openxmlformats.org/drawingml/2006/main">
              <a:ext uri="{FF2B5EF4-FFF2-40B4-BE49-F238E27FC236}">
                <a16:creationId xmlns:a16="http://schemas.microsoft.com/office/drawing/2014/main" id="{9989594F-06A9-44F1-AD2A-226D7F033870}"/>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Seguimiento</a:t>
            </a:r>
          </a:p>
        </p:txBody>
      </p:sp>
      <p:sp>
        <p:nvSpPr>
          <p:cNvPr id="8" name="block-body-1">
            <a:extLst xmlns:a="http://schemas.openxmlformats.org/drawingml/2006/main">
              <a:ext uri="{FF2B5EF4-FFF2-40B4-BE49-F238E27FC236}">
                <a16:creationId xmlns:a16="http://schemas.microsoft.com/office/drawing/2014/main" id="{FFDBEFE8-B0EF-4EC4-92CE-49DE367FE2D9}"/>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Muestra estados y comprobantes. Actualiza las compras activas cada treinta segundos mientras la pantalla está visible.</a:t>
            </a:r>
          </a:p>
        </p:txBody>
      </p:sp>
      <p:sp>
        <p:nvSpPr>
          <p:cNvPr id="9" name="block-title-2">
            <a:extLst xmlns:a="http://schemas.openxmlformats.org/drawingml/2006/main">
              <a:ext uri="{FF2B5EF4-FFF2-40B4-BE49-F238E27FC236}">
                <a16:creationId xmlns:a16="http://schemas.microsoft.com/office/drawing/2014/main" id="{5A38C60C-2288-44C9-9705-8B42BF8C51CC}"/>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Ayuda con contexto</a:t>
            </a:r>
          </a:p>
        </p:txBody>
      </p:sp>
      <p:sp>
        <p:nvSpPr>
          <p:cNvPr id="10" name="block-body-2">
            <a:extLst xmlns:a="http://schemas.openxmlformats.org/drawingml/2006/main">
              <a:ext uri="{FF2B5EF4-FFF2-40B4-BE49-F238E27FC236}">
                <a16:creationId xmlns:a16="http://schemas.microsoft.com/office/drawing/2014/main" id="{FBC59423-E290-4D44-8C42-AC74AFE0F718}"/>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cliente puede incluir el número del pedido o comprobante en una solicitud a la casa.</a:t>
            </a:r>
          </a:p>
        </p:txBody>
      </p:sp>
      <p:pic>
        <p:nvPicPr>
          <p:cNvPr id="11" name="">
            <a:extLst xmlns:a="http://schemas.openxmlformats.org/drawingml/2006/main">
              <a:ext uri="{FF2B5EF4-FFF2-40B4-BE49-F238E27FC236}">
                <a16:creationId xmlns:a16="http://schemas.microsoft.com/office/drawing/2014/main" id="{24BFC01F-7870-4C0A-892C-BD40224866E7}"/>
              </a:ext>
            </a:extLst>
          </p:cNvPr>
          <p:cNvPicPr>
            <a:picLocks xmlns:a="http://schemas.openxmlformats.org/drawingml/2006/main" noChangeAspect="1"/>
          </p:cNvPicPr>
          <p:nvPr/>
        </p:nvPicPr>
        <p:blipFill>
          <a:blip xmlns:r="http://schemas.openxmlformats.org/officeDocument/2006/relationships" xmlns:a="http://schemas.openxmlformats.org/drawingml/2006/main" r:embed="R24ac13a6d8cf48f9"/>
          <a:stretch xmlns:a="http://schemas.openxmlformats.org/drawingml/2006/main"/>
        </p:blipFill>
        <p:spPr>
          <a:xfrm xmlns:a="http://schemas.openxmlformats.org/drawingml/2006/main">
            <a:off x="5800725" y="2924664"/>
            <a:ext cx="8782050" cy="3847122"/>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CDA8F509-3915-4E25-923E-D0EF408C906F}"/>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/compras</a:t>
            </a:r>
          </a:p>
        </p:txBody>
      </p:sp>
    </p:spTree>
    <p:extLst>
      <p:ext uri="{BB962C8B-B14F-4D97-AF65-F5344CB8AC3E}">
        <p14:creationId xmlns:p14="http://schemas.microsoft.com/office/powerpoint/2010/main" val="799411348"/>
      </p:ext>
    </p:extLst>
  </p:cSld>
</p:sld>
</file>

<file path=ppt/slides/slide12.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A32FF9C1-2E02-4433-8FA5-53F258BDCDCB}"/>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865FBB23-379E-411B-B828-28D9DC86B1ED}"/>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Tienda: café para llevar a casa</a:t>
            </a:r>
          </a:p>
        </p:txBody>
      </p:sp>
      <p:sp>
        <p:nvSpPr>
          <p:cNvPr id="3" name="footer">
            <a:extLst xmlns:a="http://schemas.openxmlformats.org/drawingml/2006/main">
              <a:ext uri="{FF2B5EF4-FFF2-40B4-BE49-F238E27FC236}">
                <a16:creationId xmlns:a16="http://schemas.microsoft.com/office/drawing/2014/main" id="{B8F0F2D2-4866-4F0D-8B10-FD8580EAA9ED}"/>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921266E0-44C9-4DF8-BE42-811F560ADEE1}"/>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12</a:t>
            </a:r>
          </a:p>
        </p:txBody>
      </p:sp>
      <p:sp>
        <p:nvSpPr>
          <p:cNvPr id="5" name="block-title-0">
            <a:extLst xmlns:a="http://schemas.openxmlformats.org/drawingml/2006/main">
              <a:ext uri="{FF2B5EF4-FFF2-40B4-BE49-F238E27FC236}">
                <a16:creationId xmlns:a16="http://schemas.microsoft.com/office/drawing/2014/main" id="{1361E4D5-47CA-4B8A-BEC6-73AF37C8E9D1}"/>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Reserva de Cosecha</a:t>
            </a:r>
          </a:p>
        </p:txBody>
      </p:sp>
      <p:sp>
        <p:nvSpPr>
          <p:cNvPr id="6" name="block-body-0">
            <a:extLst xmlns:a="http://schemas.openxmlformats.org/drawingml/2006/main">
              <a:ext uri="{FF2B5EF4-FFF2-40B4-BE49-F238E27FC236}">
                <a16:creationId xmlns:a16="http://schemas.microsoft.com/office/drawing/2014/main" id="{40FDE3E0-11C4-4364-A28F-EFB652446340}"/>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La ficha muestra lote, precio, contenido, disponibilidad y condiciones de retiro.</a:t>
            </a:r>
          </a:p>
        </p:txBody>
      </p:sp>
      <p:sp>
        <p:nvSpPr>
          <p:cNvPr id="7" name="block-title-1">
            <a:extLst xmlns:a="http://schemas.openxmlformats.org/drawingml/2006/main">
              <a:ext uri="{FF2B5EF4-FFF2-40B4-BE49-F238E27FC236}">
                <a16:creationId xmlns:a16="http://schemas.microsoft.com/office/drawing/2014/main" id="{D63DFC3E-3373-40D4-97C0-913CA8EC715F}"/>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Compra cuando esté habilitada</a:t>
            </a:r>
          </a:p>
        </p:txBody>
      </p:sp>
      <p:sp>
        <p:nvSpPr>
          <p:cNvPr id="8" name="block-body-1">
            <a:extLst xmlns:a="http://schemas.openxmlformats.org/drawingml/2006/main">
              <a:ext uri="{FF2B5EF4-FFF2-40B4-BE49-F238E27FC236}">
                <a16:creationId xmlns:a16="http://schemas.microsoft.com/office/drawing/2014/main" id="{601BB821-1776-4F77-8B6F-E1C93CAFB894}"/>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cliente revisa las condiciones y paga con Cuenta de Casa. Conserva un comprobante de la compra.</a:t>
            </a:r>
          </a:p>
        </p:txBody>
      </p:sp>
      <p:sp>
        <p:nvSpPr>
          <p:cNvPr id="9" name="block-title-2">
            <a:extLst xmlns:a="http://schemas.openxmlformats.org/drawingml/2006/main">
              <a:ext uri="{FF2B5EF4-FFF2-40B4-BE49-F238E27FC236}">
                <a16:creationId xmlns:a16="http://schemas.microsoft.com/office/drawing/2014/main" id="{3673C22A-8E95-4499-ACA9-9D5EB100FD78}"/>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Estado observado</a:t>
            </a:r>
          </a:p>
        </p:txBody>
      </p:sp>
      <p:sp>
        <p:nvSpPr>
          <p:cNvPr id="10" name="block-body-2">
            <a:extLst xmlns:a="http://schemas.openxmlformats.org/drawingml/2006/main">
              <a:ext uri="{FF2B5EF4-FFF2-40B4-BE49-F238E27FC236}">
                <a16:creationId xmlns:a16="http://schemas.microsoft.com/office/drawing/2014/main" id="{6F16A436-496C-4273-B8D1-E92A05249950}"/>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lote requiere confirmar presentación y retiro. La pantalla ofrece consultar a la casa.</a:t>
            </a:r>
          </a:p>
        </p:txBody>
      </p:sp>
      <p:pic>
        <p:nvPicPr>
          <p:cNvPr id="11" name="">
            <a:extLst xmlns:a="http://schemas.openxmlformats.org/drawingml/2006/main">
              <a:ext uri="{FF2B5EF4-FFF2-40B4-BE49-F238E27FC236}">
                <a16:creationId xmlns:a16="http://schemas.microsoft.com/office/drawing/2014/main" id="{CF24D865-CAE5-4374-9E91-8AA0ADF468DD}"/>
              </a:ext>
            </a:extLst>
          </p:cNvPr>
          <p:cNvPicPr>
            <a:picLocks xmlns:a="http://schemas.openxmlformats.org/drawingml/2006/main" noChangeAspect="1"/>
          </p:cNvPicPr>
          <p:nvPr/>
        </p:nvPicPr>
        <p:blipFill>
          <a:blip xmlns:r="http://schemas.openxmlformats.org/officeDocument/2006/relationships" xmlns:a="http://schemas.openxmlformats.org/drawingml/2006/main" r:embed="Re88697adc5a24946"/>
          <a:stretch xmlns:a="http://schemas.openxmlformats.org/drawingml/2006/main"/>
        </p:blipFill>
        <p:spPr>
          <a:xfrm xmlns:a="http://schemas.openxmlformats.org/drawingml/2006/main">
            <a:off x="5800725" y="2358556"/>
            <a:ext cx="8782050" cy="4979337"/>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42501115-EE3C-4BAF-99F9-1735F17201B4}"/>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/tienda</a:t>
            </a:r>
          </a:p>
        </p:txBody>
      </p:sp>
    </p:spTree>
    <p:extLst>
      <p:ext uri="{BB962C8B-B14F-4D97-AF65-F5344CB8AC3E}">
        <p14:creationId xmlns:p14="http://schemas.microsoft.com/office/powerpoint/2010/main" val="1926509635"/>
      </p:ext>
    </p:extLst>
  </p:cSld>
</p:sld>
</file>

<file path=ppt/slides/slide13.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4AFCE43A-6BAE-44ED-8D14-2454F6FC53F8}"/>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0822AC58-EA84-4638-A056-D029BBB017CC}"/>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Encargos grandes y regalos</a:t>
            </a:r>
          </a:p>
        </p:txBody>
      </p:sp>
      <p:sp>
        <p:nvSpPr>
          <p:cNvPr id="3" name="footer">
            <a:extLst xmlns:a="http://schemas.openxmlformats.org/drawingml/2006/main">
              <a:ext uri="{FF2B5EF4-FFF2-40B4-BE49-F238E27FC236}">
                <a16:creationId xmlns:a16="http://schemas.microsoft.com/office/drawing/2014/main" id="{4BC2A635-540C-42C9-B6A7-DCACBC164824}"/>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E61D6A2F-2470-42D2-8839-27EF5F1643CA}"/>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13</a:t>
            </a:r>
          </a:p>
        </p:txBody>
      </p:sp>
      <p:sp>
        <p:nvSpPr>
          <p:cNvPr id="5" name="block-title-0">
            <a:extLst xmlns:a="http://schemas.openxmlformats.org/drawingml/2006/main">
              <a:ext uri="{FF2B5EF4-FFF2-40B4-BE49-F238E27FC236}">
                <a16:creationId xmlns:a16="http://schemas.microsoft.com/office/drawing/2014/main" id="{E5527A16-5A06-4EF0-925E-846365E74501}"/>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Consulta guiada</a:t>
            </a:r>
          </a:p>
        </p:txBody>
      </p:sp>
      <p:sp>
        <p:nvSpPr>
          <p:cNvPr id="6" name="block-body-0">
            <a:extLst xmlns:a="http://schemas.openxmlformats.org/drawingml/2006/main">
              <a:ext uri="{FF2B5EF4-FFF2-40B4-BE49-F238E27FC236}">
                <a16:creationId xmlns:a16="http://schemas.microsoft.com/office/drawing/2014/main" id="{EDD8FA89-1E23-42AD-844D-9F31F45D01C0}"/>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cliente elige cajas de regalo o café para oficina y puede indicar cantidad, fecha y zona.</a:t>
            </a:r>
          </a:p>
        </p:txBody>
      </p:sp>
      <p:sp>
        <p:nvSpPr>
          <p:cNvPr id="7" name="block-title-1">
            <a:extLst xmlns:a="http://schemas.openxmlformats.org/drawingml/2006/main">
              <a:ext uri="{FF2B5EF4-FFF2-40B4-BE49-F238E27FC236}">
                <a16:creationId xmlns:a16="http://schemas.microsoft.com/office/drawing/2014/main" id="{76F5825A-0BB2-4356-92A8-832C7898ADC1}"/>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Atención por WhatsApp</a:t>
            </a:r>
          </a:p>
        </p:txBody>
      </p:sp>
      <p:sp>
        <p:nvSpPr>
          <p:cNvPr id="8" name="block-body-1">
            <a:extLst xmlns:a="http://schemas.openxmlformats.org/drawingml/2006/main">
              <a:ext uri="{FF2B5EF4-FFF2-40B4-BE49-F238E27FC236}">
                <a16:creationId xmlns:a16="http://schemas.microsoft.com/office/drawing/2014/main" id="{FC2AE7F2-F414-409C-897F-2D09A5DC8899}"/>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«Preparar consulta» abre un mensaje con esos datos para coordinar con la casa.</a:t>
            </a:r>
          </a:p>
        </p:txBody>
      </p:sp>
      <p:sp>
        <p:nvSpPr>
          <p:cNvPr id="9" name="block-title-2">
            <a:extLst xmlns:a="http://schemas.openxmlformats.org/drawingml/2006/main">
              <a:ext uri="{FF2B5EF4-FFF2-40B4-BE49-F238E27FC236}">
                <a16:creationId xmlns:a16="http://schemas.microsoft.com/office/drawing/2014/main" id="{587539EC-D39D-4C4B-A812-6921BA82622A}"/>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Valor para la casa</a:t>
            </a:r>
          </a:p>
        </p:txBody>
      </p:sp>
      <p:sp>
        <p:nvSpPr>
          <p:cNvPr id="10" name="block-body-2">
            <a:extLst xmlns:a="http://schemas.openxmlformats.org/drawingml/2006/main">
              <a:ext uri="{FF2B5EF4-FFF2-40B4-BE49-F238E27FC236}">
                <a16:creationId xmlns:a16="http://schemas.microsoft.com/office/drawing/2014/main" id="{0872B003-DFF5-434D-B225-F3DE7A6D0098}"/>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equipo recibe una solicitud con contexto y acuerda opciones, precio y entrega.</a:t>
            </a:r>
          </a:p>
        </p:txBody>
      </p:sp>
      <p:pic>
        <p:nvPicPr>
          <p:cNvPr id="11" name="">
            <a:extLst xmlns:a="http://schemas.openxmlformats.org/drawingml/2006/main">
              <a:ext uri="{FF2B5EF4-FFF2-40B4-BE49-F238E27FC236}">
                <a16:creationId xmlns:a16="http://schemas.microsoft.com/office/drawing/2014/main" id="{4648DC72-CD99-4A8D-90D5-99062525855E}"/>
              </a:ext>
            </a:extLst>
          </p:cNvPr>
          <p:cNvPicPr>
            <a:picLocks xmlns:a="http://schemas.openxmlformats.org/drawingml/2006/main" noChangeAspect="1"/>
          </p:cNvPicPr>
          <p:nvPr/>
        </p:nvPicPr>
        <p:blipFill>
          <a:blip xmlns:r="http://schemas.openxmlformats.org/officeDocument/2006/relationships" xmlns:a="http://schemas.openxmlformats.org/drawingml/2006/main" r:embed="Rfcdbbc56938347d4"/>
          <a:stretch xmlns:a="http://schemas.openxmlformats.org/drawingml/2006/main"/>
        </p:blipFill>
        <p:spPr>
          <a:xfrm xmlns:a="http://schemas.openxmlformats.org/drawingml/2006/main">
            <a:off x="5800725" y="3288837"/>
            <a:ext cx="8782050" cy="3118776"/>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D86C9D72-1D0D-4007-B99D-231AC905FD4B}"/>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/tienda</a:t>
            </a:r>
          </a:p>
        </p:txBody>
      </p:sp>
    </p:spTree>
    <p:extLst>
      <p:ext uri="{BB962C8B-B14F-4D97-AF65-F5344CB8AC3E}">
        <p14:creationId xmlns:p14="http://schemas.microsoft.com/office/powerpoint/2010/main" val="518227334"/>
      </p:ext>
    </p:extLst>
  </p:cSld>
</p:sld>
</file>

<file path=ppt/slides/slide14.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C98D2E2B-4E7A-441E-A9BF-FCF6085794BD}"/>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C961EF88-6544-444E-9C52-6E3B80D9E613}"/>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Conocé tu club: beneficios y condiciones</a:t>
            </a:r>
          </a:p>
        </p:txBody>
      </p:sp>
      <p:sp>
        <p:nvSpPr>
          <p:cNvPr id="3" name="footer">
            <a:extLst xmlns:a="http://schemas.openxmlformats.org/drawingml/2006/main">
              <a:ext uri="{FF2B5EF4-FFF2-40B4-BE49-F238E27FC236}">
                <a16:creationId xmlns:a16="http://schemas.microsoft.com/office/drawing/2014/main" id="{5B255407-484E-4833-BC73-2F32BE3EA6D2}"/>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934BCE4B-8FB4-4FF3-A3A0-371135355AFE}"/>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14</a:t>
            </a:r>
          </a:p>
        </p:txBody>
      </p:sp>
      <p:sp>
        <p:nvSpPr>
          <p:cNvPr id="5" name="block-title-0">
            <a:extLst xmlns:a="http://schemas.openxmlformats.org/drawingml/2006/main">
              <a:ext uri="{FF2B5EF4-FFF2-40B4-BE49-F238E27FC236}">
                <a16:creationId xmlns:a16="http://schemas.microsoft.com/office/drawing/2014/main" id="{FD5E5217-A08D-45DD-856D-BAD860A2DA60}"/>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Una explicación pública</a:t>
            </a:r>
          </a:p>
        </p:txBody>
      </p:sp>
      <p:sp>
        <p:nvSpPr>
          <p:cNvPr id="6" name="block-body-0">
            <a:extLst xmlns:a="http://schemas.openxmlformats.org/drawingml/2006/main">
              <a:ext uri="{FF2B5EF4-FFF2-40B4-BE49-F238E27FC236}">
                <a16:creationId xmlns:a16="http://schemas.microsoft.com/office/drawing/2014/main" id="{B430506E-1194-4B04-B298-7A709C39F4DD}"/>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Presenta la cuenta gratuita y la membresía opcional antes de que el visitante decida registrarse.</a:t>
            </a:r>
          </a:p>
        </p:txBody>
      </p:sp>
      <p:sp>
        <p:nvSpPr>
          <p:cNvPr id="7" name="block-title-1">
            <a:extLst xmlns:a="http://schemas.openxmlformats.org/drawingml/2006/main">
              <a:ext uri="{FF2B5EF4-FFF2-40B4-BE49-F238E27FC236}">
                <a16:creationId xmlns:a16="http://schemas.microsoft.com/office/drawing/2014/main" id="{6D6ED1EC-E025-430C-9DCA-5609F179292C}"/>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Preguntas frecuentes</a:t>
            </a:r>
          </a:p>
        </p:txBody>
      </p:sp>
      <p:sp>
        <p:nvSpPr>
          <p:cNvPr id="8" name="block-body-1">
            <a:extLst xmlns:a="http://schemas.openxmlformats.org/drawingml/2006/main">
              <a:ext uri="{FF2B5EF4-FFF2-40B4-BE49-F238E27FC236}">
                <a16:creationId xmlns:a16="http://schemas.microsoft.com/office/drawing/2014/main" id="{204B39A1-4A90-4872-AA14-AF483C927656}"/>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Explica pagos, renovación, cancelación, beneficios, retiro y ayuda mediante respuestas desplegables.</a:t>
            </a:r>
          </a:p>
        </p:txBody>
      </p:sp>
      <p:sp>
        <p:nvSpPr>
          <p:cNvPr id="9" name="block-title-2">
            <a:extLst xmlns:a="http://schemas.openxmlformats.org/drawingml/2006/main">
              <a:ext uri="{FF2B5EF4-FFF2-40B4-BE49-F238E27FC236}">
                <a16:creationId xmlns:a16="http://schemas.microsoft.com/office/drawing/2014/main" id="{89F7965C-86CB-4C02-8FBD-CD9163A81448}"/>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Apoyo para el equipo</a:t>
            </a:r>
          </a:p>
        </p:txBody>
      </p:sp>
      <p:sp>
        <p:nvSpPr>
          <p:cNvPr id="10" name="block-body-2">
            <a:extLst xmlns:a="http://schemas.openxmlformats.org/drawingml/2006/main">
              <a:ext uri="{FF2B5EF4-FFF2-40B4-BE49-F238E27FC236}">
                <a16:creationId xmlns:a16="http://schemas.microsoft.com/office/drawing/2014/main" id="{C6F807E2-F476-4FBC-80F0-D06DEFB52D1B}"/>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Permite compartir una misma explicación del programa y dirigir al cliente hacia Mi Club o Reservar.</a:t>
            </a:r>
          </a:p>
        </p:txBody>
      </p:sp>
      <p:pic>
        <p:nvPicPr>
          <p:cNvPr id="11" name="">
            <a:extLst xmlns:a="http://schemas.openxmlformats.org/drawingml/2006/main">
              <a:ext uri="{FF2B5EF4-FFF2-40B4-BE49-F238E27FC236}">
                <a16:creationId xmlns:a16="http://schemas.microsoft.com/office/drawing/2014/main" id="{67347A2C-DBFC-4D43-B2E7-8C7439372524}"/>
              </a:ext>
            </a:extLst>
          </p:cNvPr>
          <p:cNvPicPr>
            <a:picLocks xmlns:a="http://schemas.openxmlformats.org/drawingml/2006/main" noChangeAspect="1"/>
          </p:cNvPicPr>
          <p:nvPr/>
        </p:nvPicPr>
        <p:blipFill>
          <a:blip xmlns:r="http://schemas.openxmlformats.org/officeDocument/2006/relationships" xmlns:a="http://schemas.openxmlformats.org/drawingml/2006/main" r:embed="Re07d7c5fbbe04bd3"/>
          <a:stretch xmlns:a="http://schemas.openxmlformats.org/drawingml/2006/main"/>
        </p:blipFill>
        <p:spPr>
          <a:xfrm xmlns:a="http://schemas.openxmlformats.org/drawingml/2006/main">
            <a:off x="5800725" y="2729942"/>
            <a:ext cx="8782050" cy="4236567"/>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FA5DFC82-4842-461D-B1C8-D9CCE5212ABB}"/>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/conoce-tu-club</a:t>
            </a:r>
          </a:p>
        </p:txBody>
      </p:sp>
    </p:spTree>
    <p:extLst>
      <p:ext uri="{BB962C8B-B14F-4D97-AF65-F5344CB8AC3E}">
        <p14:creationId xmlns:p14="http://schemas.microsoft.com/office/powerpoint/2010/main" val="929786550"/>
      </p:ext>
    </p:extLst>
  </p:cSld>
</p:sld>
</file>

<file path=ppt/slides/slide15.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7271B58E-C59B-4AC2-96FC-812F34835B58}"/>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B40E0CB7-C0EF-437D-8528-C663FB6A3E16}"/>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Mi Club: saldo, sellos y nivel</a:t>
            </a:r>
          </a:p>
        </p:txBody>
      </p:sp>
      <p:sp>
        <p:nvSpPr>
          <p:cNvPr id="3" name="footer">
            <a:extLst xmlns:a="http://schemas.openxmlformats.org/drawingml/2006/main">
              <a:ext uri="{FF2B5EF4-FFF2-40B4-BE49-F238E27FC236}">
                <a16:creationId xmlns:a16="http://schemas.microsoft.com/office/drawing/2014/main" id="{F02E03D4-29F1-43C9-91F2-20219A770702}"/>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07296AB5-1F09-4450-A5F2-7E717A9D4B27}"/>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15</a:t>
            </a:r>
          </a:p>
        </p:txBody>
      </p:sp>
      <p:sp>
        <p:nvSpPr>
          <p:cNvPr id="5" name="block-title-0">
            <a:extLst xmlns:a="http://schemas.openxmlformats.org/drawingml/2006/main">
              <a:ext uri="{FF2B5EF4-FFF2-40B4-BE49-F238E27FC236}">
                <a16:creationId xmlns:a16="http://schemas.microsoft.com/office/drawing/2014/main" id="{8553C8AA-7B09-4027-8768-985448FB6232}"/>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Sellos</a:t>
            </a:r>
          </a:p>
        </p:txBody>
      </p:sp>
      <p:sp>
        <p:nvSpPr>
          <p:cNvPr id="6" name="block-body-0">
            <a:extLst xmlns:a="http://schemas.openxmlformats.org/drawingml/2006/main">
              <a:ext uri="{FF2B5EF4-FFF2-40B4-BE49-F238E27FC236}">
                <a16:creationId xmlns:a16="http://schemas.microsoft.com/office/drawing/2014/main" id="{C806DABB-3399-4AA0-A241-A1CC29F8B27C}"/>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Registran compras elegibles. Al completar nueve se obtiene una bebida de cortesía.</a:t>
            </a:r>
          </a:p>
        </p:txBody>
      </p:sp>
      <p:sp>
        <p:nvSpPr>
          <p:cNvPr id="7" name="block-title-1">
            <a:extLst xmlns:a="http://schemas.openxmlformats.org/drawingml/2006/main">
              <a:ext uri="{FF2B5EF4-FFF2-40B4-BE49-F238E27FC236}">
                <a16:creationId xmlns:a16="http://schemas.microsoft.com/office/drawing/2014/main" id="{9FE15320-6305-4BCD-A4FC-45904AC124E2}"/>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Puntos y nivel</a:t>
            </a:r>
          </a:p>
        </p:txBody>
      </p:sp>
      <p:sp>
        <p:nvSpPr>
          <p:cNvPr id="8" name="block-body-1">
            <a:extLst xmlns:a="http://schemas.openxmlformats.org/drawingml/2006/main">
              <a:ext uri="{FF2B5EF4-FFF2-40B4-BE49-F238E27FC236}">
                <a16:creationId xmlns:a16="http://schemas.microsoft.com/office/drawing/2014/main" id="{7C036E99-8DDA-4DAD-A324-32C1A95E9CB4}"/>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perfil muestra el nivel y los puntos acumulados. Son independientes del dinero disponible.</a:t>
            </a:r>
          </a:p>
        </p:txBody>
      </p:sp>
      <p:sp>
        <p:nvSpPr>
          <p:cNvPr id="9" name="block-title-2">
            <a:extLst xmlns:a="http://schemas.openxmlformats.org/drawingml/2006/main">
              <a:ext uri="{FF2B5EF4-FFF2-40B4-BE49-F238E27FC236}">
                <a16:creationId xmlns:a16="http://schemas.microsoft.com/office/drawing/2014/main" id="{F871C9A2-458C-4B61-A70C-A705BC0A55DD}"/>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Mesa Fundadora</a:t>
            </a:r>
          </a:p>
        </p:txBody>
      </p:sp>
      <p:sp>
        <p:nvSpPr>
          <p:cNvPr id="10" name="block-body-2">
            <a:extLst xmlns:a="http://schemas.openxmlformats.org/drawingml/2006/main">
              <a:ext uri="{FF2B5EF4-FFF2-40B4-BE49-F238E27FC236}">
                <a16:creationId xmlns:a16="http://schemas.microsoft.com/office/drawing/2014/main" id="{BEA77975-AC1F-4853-8864-187BE34ABA87}"/>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Es una membresía opcional de pago, con beneficios y vigencia propios. Mi Club es gratuito.</a:t>
            </a:r>
          </a:p>
        </p:txBody>
      </p:sp>
      <p:pic>
        <p:nvPicPr>
          <p:cNvPr id="11" name="">
            <a:extLst xmlns:a="http://schemas.openxmlformats.org/drawingml/2006/main">
              <a:ext uri="{FF2B5EF4-FFF2-40B4-BE49-F238E27FC236}">
                <a16:creationId xmlns:a16="http://schemas.microsoft.com/office/drawing/2014/main" id="{6751486A-9CCF-4FD9-BD68-CD3E6F4287EE}"/>
              </a:ext>
            </a:extLst>
          </p:cNvPr>
          <p:cNvPicPr>
            <a:picLocks xmlns:a="http://schemas.openxmlformats.org/drawingml/2006/main" noChangeAspect="1"/>
          </p:cNvPicPr>
          <p:nvPr/>
        </p:nvPicPr>
        <p:blipFill>
          <a:blip xmlns:r="http://schemas.openxmlformats.org/officeDocument/2006/relationships" xmlns:a="http://schemas.openxmlformats.org/drawingml/2006/main" r:embed="Rb8c5f75e6b674270"/>
          <a:stretch xmlns:a="http://schemas.openxmlformats.org/drawingml/2006/main"/>
        </p:blipFill>
        <p:spPr>
          <a:xfrm xmlns:a="http://schemas.openxmlformats.org/drawingml/2006/main">
            <a:off x="6017998" y="2190750"/>
            <a:ext cx="8347504"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28CD8E3D-32A2-4D9A-A85A-9E7149D4AFCC}"/>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/club</a:t>
            </a:r>
          </a:p>
        </p:txBody>
      </p:sp>
    </p:spTree>
    <p:extLst>
      <p:ext uri="{BB962C8B-B14F-4D97-AF65-F5344CB8AC3E}">
        <p14:creationId xmlns:p14="http://schemas.microsoft.com/office/powerpoint/2010/main" val="880105019"/>
      </p:ext>
    </p:extLst>
  </p:cSld>
</p:sld>
</file>

<file path=ppt/slides/slide16.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86C1BA3D-9300-4A5D-8C58-D33CADB77246}"/>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2DA7B573-2CB6-4C23-877E-B7F489CEA24C}"/>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Mesa Fundadora y sus beneficios</a:t>
            </a:r>
          </a:p>
        </p:txBody>
      </p:sp>
      <p:sp>
        <p:nvSpPr>
          <p:cNvPr id="3" name="footer">
            <a:extLst xmlns:a="http://schemas.openxmlformats.org/drawingml/2006/main">
              <a:ext uri="{FF2B5EF4-FFF2-40B4-BE49-F238E27FC236}">
                <a16:creationId xmlns:a16="http://schemas.microsoft.com/office/drawing/2014/main" id="{93F2CD8F-2DA8-4055-A27B-FF773E5B6D8E}"/>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A8FD9084-8EF2-437E-A810-F636959093C0}"/>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16</a:t>
            </a:r>
          </a:p>
        </p:txBody>
      </p:sp>
      <p:sp>
        <p:nvSpPr>
          <p:cNvPr id="5" name="block-title-0">
            <a:extLst xmlns:a="http://schemas.openxmlformats.org/drawingml/2006/main">
              <a:ext uri="{FF2B5EF4-FFF2-40B4-BE49-F238E27FC236}">
                <a16:creationId xmlns:a16="http://schemas.microsoft.com/office/drawing/2014/main" id="{D63E60F0-3850-4F42-9673-5C2A3354F59A}"/>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Cuota y período</a:t>
            </a:r>
          </a:p>
        </p:txBody>
      </p:sp>
      <p:sp>
        <p:nvSpPr>
          <p:cNvPr id="6" name="block-body-0">
            <a:extLst xmlns:a="http://schemas.openxmlformats.org/drawingml/2006/main">
              <a:ext uri="{FF2B5EF4-FFF2-40B4-BE49-F238E27FC236}">
                <a16:creationId xmlns:a16="http://schemas.microsoft.com/office/drawing/2014/main" id="{32A7AB31-E4F6-4165-A2E2-715FC72D473B}"/>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C$950 por treinta días. La oferta contempla hasta cien plazas, sujetas a disponibilidad.</a:t>
            </a:r>
          </a:p>
        </p:txBody>
      </p:sp>
      <p:sp>
        <p:nvSpPr>
          <p:cNvPr id="7" name="block-title-1">
            <a:extLst xmlns:a="http://schemas.openxmlformats.org/drawingml/2006/main">
              <a:ext uri="{FF2B5EF4-FFF2-40B4-BE49-F238E27FC236}">
                <a16:creationId xmlns:a16="http://schemas.microsoft.com/office/drawing/2014/main" id="{727204C3-75F6-4946-BE55-99AA9269C24A}"/>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Beneficios</a:t>
            </a:r>
          </a:p>
        </p:txBody>
      </p:sp>
      <p:sp>
        <p:nvSpPr>
          <p:cNvPr id="8" name="block-body-1">
            <a:extLst xmlns:a="http://schemas.openxmlformats.org/drawingml/2006/main">
              <a:ext uri="{FF2B5EF4-FFF2-40B4-BE49-F238E27FC236}">
                <a16:creationId xmlns:a16="http://schemas.microsoft.com/office/drawing/2014/main" id="{DD5E92B6-49CD-4291-AD46-6901735DDE93}"/>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Café filtrado diario, bolsa de 250 g por período y 15% en repostería elegible.</a:t>
            </a:r>
          </a:p>
        </p:txBody>
      </p:sp>
      <p:sp>
        <p:nvSpPr>
          <p:cNvPr id="9" name="block-title-2">
            <a:extLst xmlns:a="http://schemas.openxmlformats.org/drawingml/2006/main">
              <a:ext uri="{FF2B5EF4-FFF2-40B4-BE49-F238E27FC236}">
                <a16:creationId xmlns:a16="http://schemas.microsoft.com/office/drawing/2014/main" id="{9FF4354C-7853-4DBE-B07A-33B8667166DB}"/>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Acceso preferente</a:t>
            </a:r>
          </a:p>
        </p:txBody>
      </p:sp>
      <p:sp>
        <p:nvSpPr>
          <p:cNvPr id="10" name="block-body-2">
            <a:extLst xmlns:a="http://schemas.openxmlformats.org/drawingml/2006/main">
              <a:ext uri="{FF2B5EF4-FFF2-40B4-BE49-F238E27FC236}">
                <a16:creationId xmlns:a16="http://schemas.microsoft.com/office/drawing/2014/main" id="{06011935-5229-4342-961C-87EC3B34BCF6}"/>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Prioridad VIP sujeta a disponibilidad y acceso a experiencias nuevas con 48 horas de anticipación.</a:t>
            </a:r>
          </a:p>
        </p:txBody>
      </p:sp>
      <p:pic>
        <p:nvPicPr>
          <p:cNvPr id="11" name="">
            <a:extLst xmlns:a="http://schemas.openxmlformats.org/drawingml/2006/main">
              <a:ext uri="{FF2B5EF4-FFF2-40B4-BE49-F238E27FC236}">
                <a16:creationId xmlns:a16="http://schemas.microsoft.com/office/drawing/2014/main" id="{1632B018-FE33-4DCA-B5BC-EEE9FDD73916}"/>
              </a:ext>
            </a:extLst>
          </p:cNvPr>
          <p:cNvPicPr>
            <a:picLocks xmlns:a="http://schemas.openxmlformats.org/drawingml/2006/main" noChangeAspect="1"/>
          </p:cNvPicPr>
          <p:nvPr/>
        </p:nvPicPr>
        <p:blipFill>
          <a:blip xmlns:r="http://schemas.openxmlformats.org/officeDocument/2006/relationships" xmlns:a="http://schemas.openxmlformats.org/drawingml/2006/main" r:embed="Rf3228227b2174cd9"/>
          <a:stretch xmlns:a="http://schemas.openxmlformats.org/drawingml/2006/main"/>
        </p:blipFill>
        <p:spPr>
          <a:xfrm xmlns:a="http://schemas.openxmlformats.org/drawingml/2006/main">
            <a:off x="6646119" y="2190750"/>
            <a:ext cx="7091262"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AC09AB1C-FB55-4472-A5F4-B9565E7D02A4}"/>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/club</a:t>
            </a:r>
          </a:p>
        </p:txBody>
      </p:sp>
    </p:spTree>
    <p:extLst>
      <p:ext uri="{BB962C8B-B14F-4D97-AF65-F5344CB8AC3E}">
        <p14:creationId xmlns:p14="http://schemas.microsoft.com/office/powerpoint/2010/main" val="277452792"/>
      </p:ext>
    </p:extLst>
  </p:cSld>
</p:sld>
</file>

<file path=ppt/slides/slide17.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F286FF08-C249-40CC-A651-6A41DA530283}"/>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9E71582D-A26B-4C4E-A47B-2CB9F4A9140C}"/>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Membresía: uso y renovación</a:t>
            </a:r>
          </a:p>
        </p:txBody>
      </p:sp>
      <p:sp>
        <p:nvSpPr>
          <p:cNvPr id="3" name="footer">
            <a:extLst xmlns:a="http://schemas.openxmlformats.org/drawingml/2006/main">
              <a:ext uri="{FF2B5EF4-FFF2-40B4-BE49-F238E27FC236}">
                <a16:creationId xmlns:a16="http://schemas.microsoft.com/office/drawing/2014/main" id="{C427757F-B0D6-4D7E-894F-CAA768D4723E}"/>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BBD5424D-179F-41D5-A704-16663A50916C}"/>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17</a:t>
            </a:r>
          </a:p>
        </p:txBody>
      </p:sp>
      <p:sp>
        <p:nvSpPr>
          <p:cNvPr id="5" name="block-title-0">
            <a:extLst xmlns:a="http://schemas.openxmlformats.org/drawingml/2006/main">
              <a:ext uri="{FF2B5EF4-FFF2-40B4-BE49-F238E27FC236}">
                <a16:creationId xmlns:a16="http://schemas.microsoft.com/office/drawing/2014/main" id="{EAD9022D-6348-4B18-8151-FA003CC6E324}"/>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Uso de beneficios</a:t>
            </a:r>
          </a:p>
        </p:txBody>
      </p:sp>
      <p:sp>
        <p:nvSpPr>
          <p:cNvPr id="6" name="block-body-0">
            <a:extLst xmlns:a="http://schemas.openxmlformats.org/drawingml/2006/main">
              <a:ext uri="{FF2B5EF4-FFF2-40B4-BE49-F238E27FC236}">
                <a16:creationId xmlns:a16="http://schemas.microsoft.com/office/drawing/2014/main" id="{DDCF7883-973D-4806-896B-16F2A240315C}"/>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miembro solicita su código de café o bolsa. Caja revisa la vigencia y confirma la entrega física.</a:t>
            </a:r>
          </a:p>
        </p:txBody>
      </p:sp>
      <p:sp>
        <p:nvSpPr>
          <p:cNvPr id="7" name="block-title-1">
            <a:extLst xmlns:a="http://schemas.openxmlformats.org/drawingml/2006/main">
              <a:ext uri="{FF2B5EF4-FFF2-40B4-BE49-F238E27FC236}">
                <a16:creationId xmlns:a16="http://schemas.microsoft.com/office/drawing/2014/main" id="{9491DD91-1717-47DF-B114-A13FA34C2CCF}"/>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Renovación autorizada</a:t>
            </a:r>
          </a:p>
        </p:txBody>
      </p:sp>
      <p:sp>
        <p:nvSpPr>
          <p:cNvPr id="8" name="block-body-1">
            <a:extLst xmlns:a="http://schemas.openxmlformats.org/drawingml/2006/main">
              <a:ext uri="{FF2B5EF4-FFF2-40B4-BE49-F238E27FC236}">
                <a16:creationId xmlns:a16="http://schemas.microsoft.com/office/drawing/2014/main" id="{7A447059-A158-41E1-833A-0C1C88EBB48A}"/>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Se cobra cada treinta días con consentimiento y saldo suficiente. El cliente puede desactivarla.</a:t>
            </a:r>
          </a:p>
        </p:txBody>
      </p:sp>
      <p:sp>
        <p:nvSpPr>
          <p:cNvPr id="9" name="block-title-2">
            <a:extLst xmlns:a="http://schemas.openxmlformats.org/drawingml/2006/main">
              <a:ext uri="{FF2B5EF4-FFF2-40B4-BE49-F238E27FC236}">
                <a16:creationId xmlns:a16="http://schemas.microsoft.com/office/drawing/2014/main" id="{487A5216-50B2-4604-80F4-533EB61ED8C9}"/>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Fin del período</a:t>
            </a:r>
          </a:p>
        </p:txBody>
      </p:sp>
      <p:sp>
        <p:nvSpPr>
          <p:cNvPr id="10" name="block-body-2">
            <a:extLst xmlns:a="http://schemas.openxmlformats.org/drawingml/2006/main">
              <a:ext uri="{FF2B5EF4-FFF2-40B4-BE49-F238E27FC236}">
                <a16:creationId xmlns:a16="http://schemas.microsoft.com/office/drawing/2014/main" id="{0FE48304-61B8-434A-A445-D0C971119E38}"/>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Desactivar la renovación conserva los beneficios ya pagados. Si falta saldo, el período termina sin deuda.</a:t>
            </a:r>
          </a:p>
        </p:txBody>
      </p:sp>
      <p:pic>
        <p:nvPicPr>
          <p:cNvPr id="11" name="">
            <a:extLst xmlns:a="http://schemas.openxmlformats.org/drawingml/2006/main">
              <a:ext uri="{FF2B5EF4-FFF2-40B4-BE49-F238E27FC236}">
                <a16:creationId xmlns:a16="http://schemas.microsoft.com/office/drawing/2014/main" id="{8167A03E-715C-46EA-9DAB-3981DD921988}"/>
              </a:ext>
            </a:extLst>
          </p:cNvPr>
          <p:cNvPicPr>
            <a:picLocks xmlns:a="http://schemas.openxmlformats.org/drawingml/2006/main" noChangeAspect="1"/>
          </p:cNvPicPr>
          <p:nvPr/>
        </p:nvPicPr>
        <p:blipFill>
          <a:blip xmlns:r="http://schemas.openxmlformats.org/officeDocument/2006/relationships" xmlns:a="http://schemas.openxmlformats.org/drawingml/2006/main" r:embed="Rd7df9e9545484f40"/>
          <a:stretch xmlns:a="http://schemas.openxmlformats.org/drawingml/2006/main"/>
        </p:blipFill>
        <p:spPr>
          <a:xfrm xmlns:a="http://schemas.openxmlformats.org/drawingml/2006/main">
            <a:off x="6275064" y="2190750"/>
            <a:ext cx="7833371"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BCE92698-5B2D-4DD6-9CE2-082C195BB007}"/>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/club</a:t>
            </a:r>
          </a:p>
        </p:txBody>
      </p:sp>
    </p:spTree>
    <p:extLst>
      <p:ext uri="{BB962C8B-B14F-4D97-AF65-F5344CB8AC3E}">
        <p14:creationId xmlns:p14="http://schemas.microsoft.com/office/powerpoint/2010/main" val="37403504"/>
      </p:ext>
    </p:extLst>
  </p:cSld>
</p:sld>
</file>

<file path=ppt/slides/slide18.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53A4D967-DC29-4791-A239-98C872CC5E8D}"/>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95786569-6BB3-45D4-8C56-CBA8F0AB1F0D}"/>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Experiencias y entradas</a:t>
            </a:r>
          </a:p>
        </p:txBody>
      </p:sp>
      <p:sp>
        <p:nvSpPr>
          <p:cNvPr id="3" name="footer">
            <a:extLst xmlns:a="http://schemas.openxmlformats.org/drawingml/2006/main">
              <a:ext uri="{FF2B5EF4-FFF2-40B4-BE49-F238E27FC236}">
                <a16:creationId xmlns:a16="http://schemas.microsoft.com/office/drawing/2014/main" id="{C117A3C3-0F17-4A10-B108-E964E717A7CD}"/>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37B1F7A8-F9C9-4F68-9DA6-2D69AC51BD74}"/>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18</a:t>
            </a:r>
          </a:p>
        </p:txBody>
      </p:sp>
      <p:sp>
        <p:nvSpPr>
          <p:cNvPr id="5" name="block-title-0">
            <a:extLst xmlns:a="http://schemas.openxmlformats.org/drawingml/2006/main">
              <a:ext uri="{FF2B5EF4-FFF2-40B4-BE49-F238E27FC236}">
                <a16:creationId xmlns:a16="http://schemas.microsoft.com/office/drawing/2014/main" id="{B97C1498-9CCB-4C3A-8E05-BE2AC3200A65}"/>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Oferta con cupos</a:t>
            </a:r>
          </a:p>
        </p:txBody>
      </p:sp>
      <p:sp>
        <p:nvSpPr>
          <p:cNvPr id="6" name="block-body-0">
            <a:extLst xmlns:a="http://schemas.openxmlformats.org/drawingml/2006/main">
              <a:ext uri="{FF2B5EF4-FFF2-40B4-BE49-F238E27FC236}">
                <a16:creationId xmlns:a16="http://schemas.microsoft.com/office/drawing/2014/main" id="{00A4A43E-2B52-4E88-9CF8-ACC0BBA6CB7D}"/>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Cuando se publica una experiencia, el cliente consulta fecha, precio, lugar, contenido y condiciones.</a:t>
            </a:r>
          </a:p>
        </p:txBody>
      </p:sp>
      <p:sp>
        <p:nvSpPr>
          <p:cNvPr id="7" name="block-title-1">
            <a:extLst xmlns:a="http://schemas.openxmlformats.org/drawingml/2006/main">
              <a:ext uri="{FF2B5EF4-FFF2-40B4-BE49-F238E27FC236}">
                <a16:creationId xmlns:a16="http://schemas.microsoft.com/office/drawing/2014/main" id="{254DCA34-8D85-42F1-A97A-26615BE5D8EC}"/>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Compra y asistencia</a:t>
            </a:r>
          </a:p>
        </p:txBody>
      </p:sp>
      <p:sp>
        <p:nvSpPr>
          <p:cNvPr id="8" name="block-body-1">
            <a:extLst xmlns:a="http://schemas.openxmlformats.org/drawingml/2006/main">
              <a:ext uri="{FF2B5EF4-FFF2-40B4-BE49-F238E27FC236}">
                <a16:creationId xmlns:a16="http://schemas.microsoft.com/office/drawing/2014/main" id="{B8AC760F-A448-4B0E-BCC8-26E3145CC6D3}"/>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La entrada queda en Mis compras. El equipo registra la asistencia al atender al titular.</a:t>
            </a:r>
          </a:p>
        </p:txBody>
      </p:sp>
      <p:sp>
        <p:nvSpPr>
          <p:cNvPr id="9" name="block-title-2">
            <a:extLst xmlns:a="http://schemas.openxmlformats.org/drawingml/2006/main">
              <a:ext uri="{FF2B5EF4-FFF2-40B4-BE49-F238E27FC236}">
                <a16:creationId xmlns:a16="http://schemas.microsoft.com/office/drawing/2014/main" id="{44B9940F-87E6-4603-A013-6D35D7D8AECD}"/>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Estado observado</a:t>
            </a:r>
          </a:p>
        </p:txBody>
      </p:sp>
      <p:sp>
        <p:nvSpPr>
          <p:cNvPr id="10" name="block-body-2">
            <a:extLst xmlns:a="http://schemas.openxmlformats.org/drawingml/2006/main">
              <a:ext uri="{FF2B5EF4-FFF2-40B4-BE49-F238E27FC236}">
                <a16:creationId xmlns:a16="http://schemas.microsoft.com/office/drawing/2014/main" id="{9CE4B85C-7692-4F10-B33F-94CC1B18DE89}"/>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No había experiencias publicadas en la consulta. La administración puede preparar nuevas actividades.</a:t>
            </a:r>
          </a:p>
        </p:txBody>
      </p:sp>
      <p:pic>
        <p:nvPicPr>
          <p:cNvPr id="11" name="">
            <a:extLst xmlns:a="http://schemas.openxmlformats.org/drawingml/2006/main">
              <a:ext uri="{FF2B5EF4-FFF2-40B4-BE49-F238E27FC236}">
                <a16:creationId xmlns:a16="http://schemas.microsoft.com/office/drawing/2014/main" id="{18B7B5D7-97E4-458F-ACED-972B89F76E4D}"/>
              </a:ext>
            </a:extLst>
          </p:cNvPr>
          <p:cNvPicPr>
            <a:picLocks xmlns:a="http://schemas.openxmlformats.org/drawingml/2006/main" noChangeAspect="1"/>
          </p:cNvPicPr>
          <p:nvPr/>
        </p:nvPicPr>
        <p:blipFill>
          <a:blip xmlns:r="http://schemas.openxmlformats.org/officeDocument/2006/relationships" xmlns:a="http://schemas.openxmlformats.org/drawingml/2006/main" r:embed="R263132f5306a4da2"/>
          <a:stretch xmlns:a="http://schemas.openxmlformats.org/drawingml/2006/main"/>
        </p:blipFill>
        <p:spPr>
          <a:xfrm xmlns:a="http://schemas.openxmlformats.org/drawingml/2006/main">
            <a:off x="6616238" y="2190750"/>
            <a:ext cx="7151024"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D770CEDD-0093-4C4C-81CC-6FBFAE1FB765}"/>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/club</a:t>
            </a:r>
          </a:p>
        </p:txBody>
      </p:sp>
    </p:spTree>
    <p:extLst>
      <p:ext uri="{BB962C8B-B14F-4D97-AF65-F5344CB8AC3E}">
        <p14:creationId xmlns:p14="http://schemas.microsoft.com/office/powerpoint/2010/main" val="1347998085"/>
      </p:ext>
    </p:extLst>
  </p:cSld>
</p:sld>
</file>

<file path=ppt/slides/slide19.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74889BE3-F7EF-48E5-9EAD-066BFE749BFF}"/>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D5149805-616C-4788-AE2C-078CF91F98F1}"/>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Reservar: elegir el lugar</a:t>
            </a:r>
          </a:p>
        </p:txBody>
      </p:sp>
      <p:sp>
        <p:nvSpPr>
          <p:cNvPr id="3" name="footer">
            <a:extLst xmlns:a="http://schemas.openxmlformats.org/drawingml/2006/main">
              <a:ext uri="{FF2B5EF4-FFF2-40B4-BE49-F238E27FC236}">
                <a16:creationId xmlns:a16="http://schemas.microsoft.com/office/drawing/2014/main" id="{9D2FEEAC-EB33-4E2E-A2FA-4A8F09A640F0}"/>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0B079E78-CC2E-49F9-B1CE-7C536A74EEA9}"/>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19</a:t>
            </a:r>
          </a:p>
        </p:txBody>
      </p:sp>
      <p:sp>
        <p:nvSpPr>
          <p:cNvPr id="5" name="block-title-0">
            <a:extLst xmlns:a="http://schemas.openxmlformats.org/drawingml/2006/main">
              <a:ext uri="{FF2B5EF4-FFF2-40B4-BE49-F238E27FC236}">
                <a16:creationId xmlns:a16="http://schemas.microsoft.com/office/drawing/2014/main" id="{62828A49-80FD-4C88-8CF2-AC621AC4F9D8}"/>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Cinco ambientes</a:t>
            </a:r>
          </a:p>
        </p:txBody>
      </p:sp>
      <p:sp>
        <p:nvSpPr>
          <p:cNvPr id="6" name="block-body-0">
            <a:extLst xmlns:a="http://schemas.openxmlformats.org/drawingml/2006/main">
              <a:ext uri="{FF2B5EF4-FFF2-40B4-BE49-F238E27FC236}">
                <a16:creationId xmlns:a16="http://schemas.microsoft.com/office/drawing/2014/main" id="{5BAFDB3F-2CC4-4E52-B3AB-A9FE4762BBF0}"/>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Terraza, Ventanal, Barra, Bistró y Salón VIP. Cada zona depende de sus mesas y capacidades registradas.</a:t>
            </a:r>
          </a:p>
        </p:txBody>
      </p:sp>
      <p:sp>
        <p:nvSpPr>
          <p:cNvPr id="7" name="block-title-1">
            <a:extLst xmlns:a="http://schemas.openxmlformats.org/drawingml/2006/main">
              <a:ext uri="{FF2B5EF4-FFF2-40B4-BE49-F238E27FC236}">
                <a16:creationId xmlns:a16="http://schemas.microsoft.com/office/drawing/2014/main" id="{963A2F2C-B3D8-4017-947A-1472BD40B732}"/>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Condiciones visibles</a:t>
            </a:r>
          </a:p>
        </p:txBody>
      </p:sp>
      <p:sp>
        <p:nvSpPr>
          <p:cNvPr id="8" name="block-body-1">
            <a:extLst xmlns:a="http://schemas.openxmlformats.org/drawingml/2006/main">
              <a:ext uri="{FF2B5EF4-FFF2-40B4-BE49-F238E27FC236}">
                <a16:creationId xmlns:a16="http://schemas.microsoft.com/office/drawing/2014/main" id="{76D2C191-848D-4F2E-BFBF-A25F275B54D3}"/>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Las zonas generales no llevan anticipo. Salón VIP indica C$500 aplicables al consumo.</a:t>
            </a:r>
          </a:p>
        </p:txBody>
      </p:sp>
      <p:sp>
        <p:nvSpPr>
          <p:cNvPr id="9" name="block-title-2">
            <a:extLst xmlns:a="http://schemas.openxmlformats.org/drawingml/2006/main">
              <a:ext uri="{FF2B5EF4-FFF2-40B4-BE49-F238E27FC236}">
                <a16:creationId xmlns:a16="http://schemas.microsoft.com/office/drawing/2014/main" id="{ADA18127-24C5-49D0-9CC2-04571A83B447}"/>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Estado observado</a:t>
            </a:r>
          </a:p>
        </p:txBody>
      </p:sp>
      <p:sp>
        <p:nvSpPr>
          <p:cNvPr id="10" name="block-body-2">
            <a:extLst xmlns:a="http://schemas.openxmlformats.org/drawingml/2006/main">
              <a:ext uri="{FF2B5EF4-FFF2-40B4-BE49-F238E27FC236}">
                <a16:creationId xmlns:a16="http://schemas.microsoft.com/office/drawing/2014/main" id="{C5E5303B-FF7D-438A-A27B-AF22F4B46BC2}"/>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Las capacidades aparecían pendientes. La consulta por WhatsApp permite coordinar mientras se completan.</a:t>
            </a:r>
          </a:p>
        </p:txBody>
      </p:sp>
      <p:pic>
        <p:nvPicPr>
          <p:cNvPr id="11" name="">
            <a:extLst xmlns:a="http://schemas.openxmlformats.org/drawingml/2006/main">
              <a:ext uri="{FF2B5EF4-FFF2-40B4-BE49-F238E27FC236}">
                <a16:creationId xmlns:a16="http://schemas.microsoft.com/office/drawing/2014/main" id="{B8BC0516-3764-4654-B7BC-5748E54EF837}"/>
              </a:ext>
            </a:extLst>
          </p:cNvPr>
          <p:cNvPicPr>
            <a:picLocks xmlns:a="http://schemas.openxmlformats.org/drawingml/2006/main" noChangeAspect="1"/>
          </p:cNvPicPr>
          <p:nvPr/>
        </p:nvPicPr>
        <p:blipFill>
          <a:blip xmlns:r="http://schemas.openxmlformats.org/officeDocument/2006/relationships" xmlns:a="http://schemas.openxmlformats.org/drawingml/2006/main" r:embed="R13a898cc94674c5a"/>
          <a:stretch xmlns:a="http://schemas.openxmlformats.org/drawingml/2006/main"/>
        </p:blipFill>
        <p:spPr>
          <a:xfrm xmlns:a="http://schemas.openxmlformats.org/drawingml/2006/main">
            <a:off x="7990609" y="2190750"/>
            <a:ext cx="4402282"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F34168B0-85C6-488A-9A23-499A47AD1F8F}"/>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/reservar</a:t>
            </a:r>
          </a:p>
        </p:txBody>
      </p:sp>
    </p:spTree>
    <p:extLst>
      <p:ext uri="{BB962C8B-B14F-4D97-AF65-F5344CB8AC3E}">
        <p14:creationId xmlns:p14="http://schemas.microsoft.com/office/powerpoint/2010/main" val="1510373648"/>
      </p:ext>
    </p:extLst>
  </p:cSld>
</p:sld>
</file>

<file path=ppt/slides/slide20.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D478FEAF-19A7-4803-A6F7-F1DDC104580E}"/>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7072D105-E1F1-42E0-A742-23ADB013A13B}"/>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Reservar: fecha, grupo y revisión</a:t>
            </a:r>
          </a:p>
        </p:txBody>
      </p:sp>
      <p:sp>
        <p:nvSpPr>
          <p:cNvPr id="3" name="footer">
            <a:extLst xmlns:a="http://schemas.openxmlformats.org/drawingml/2006/main">
              <a:ext uri="{FF2B5EF4-FFF2-40B4-BE49-F238E27FC236}">
                <a16:creationId xmlns:a16="http://schemas.microsoft.com/office/drawing/2014/main" id="{2A6A45E2-251E-4389-8AA6-26B65AB308F8}"/>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DF28703A-BCF3-4BB0-8184-553EFB927935}"/>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20</a:t>
            </a:r>
          </a:p>
        </p:txBody>
      </p:sp>
      <p:sp>
        <p:nvSpPr>
          <p:cNvPr id="5" name="block-title-0">
            <a:extLst xmlns:a="http://schemas.openxmlformats.org/drawingml/2006/main">
              <a:ext uri="{FF2B5EF4-FFF2-40B4-BE49-F238E27FC236}">
                <a16:creationId xmlns:a16="http://schemas.microsoft.com/office/drawing/2014/main" id="{3818296C-0459-4254-8E21-9D414209E31C}"/>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Definir la visita</a:t>
            </a:r>
          </a:p>
        </p:txBody>
      </p:sp>
      <p:sp>
        <p:nvSpPr>
          <p:cNvPr id="6" name="block-body-0">
            <a:extLst xmlns:a="http://schemas.openxmlformats.org/drawingml/2006/main">
              <a:ext uri="{FF2B5EF4-FFF2-40B4-BE49-F238E27FC236}">
                <a16:creationId xmlns:a16="http://schemas.microsoft.com/office/drawing/2014/main" id="{2FB2AC53-BBD1-4751-B204-6B08FD40F1F1}"/>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Elegir fecha, cantidad de personas, duración y uno de los horarios disponibles.</a:t>
            </a:r>
          </a:p>
        </p:txBody>
      </p:sp>
      <p:sp>
        <p:nvSpPr>
          <p:cNvPr id="7" name="block-title-1">
            <a:extLst xmlns:a="http://schemas.openxmlformats.org/drawingml/2006/main">
              <a:ext uri="{FF2B5EF4-FFF2-40B4-BE49-F238E27FC236}">
                <a16:creationId xmlns:a16="http://schemas.microsoft.com/office/drawing/2014/main" id="{39B4A6E9-6D96-4A17-B597-5723FC362CD7}"/>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Revisar y confirmar</a:t>
            </a:r>
          </a:p>
        </p:txBody>
      </p:sp>
      <p:sp>
        <p:nvSpPr>
          <p:cNvPr id="8" name="block-body-1">
            <a:extLst xmlns:a="http://schemas.openxmlformats.org/drawingml/2006/main">
              <a:ext uri="{FF2B5EF4-FFF2-40B4-BE49-F238E27FC236}">
                <a16:creationId xmlns:a16="http://schemas.microsoft.com/office/drawing/2014/main" id="{0A7F9D5F-78B2-44E0-84A0-2908C0B73771}"/>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La app presenta el resumen y las condiciones. La confirmación genera el comprobante de reserva.</a:t>
            </a:r>
          </a:p>
        </p:txBody>
      </p:sp>
      <p:sp>
        <p:nvSpPr>
          <p:cNvPr id="9" name="block-title-2">
            <a:extLst xmlns:a="http://schemas.openxmlformats.org/drawingml/2006/main">
              <a:ext uri="{FF2B5EF4-FFF2-40B4-BE49-F238E27FC236}">
                <a16:creationId xmlns:a16="http://schemas.microsoft.com/office/drawing/2014/main" id="{0AEDE5FF-A83B-4C17-9218-9FF25473A9E4}"/>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Disponibilidad real</a:t>
            </a:r>
          </a:p>
        </p:txBody>
      </p:sp>
      <p:sp>
        <p:nvSpPr>
          <p:cNvPr id="10" name="block-body-2">
            <a:extLst xmlns:a="http://schemas.openxmlformats.org/drawingml/2006/main">
              <a:ext uri="{FF2B5EF4-FFF2-40B4-BE49-F238E27FC236}">
                <a16:creationId xmlns:a16="http://schemas.microsoft.com/office/drawing/2014/main" id="{07020B70-24D3-4A9A-A742-46F0E375A723}"/>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horario usa la zona de Managua. Si cambia el cupo, hay que actualizar y elegir una opción disponible.</a:t>
            </a:r>
          </a:p>
        </p:txBody>
      </p:sp>
      <p:pic>
        <p:nvPicPr>
          <p:cNvPr id="11" name="">
            <a:extLst xmlns:a="http://schemas.openxmlformats.org/drawingml/2006/main">
              <a:ext uri="{FF2B5EF4-FFF2-40B4-BE49-F238E27FC236}">
                <a16:creationId xmlns:a16="http://schemas.microsoft.com/office/drawing/2014/main" id="{AE94899A-0B7F-4292-BC73-BF16212E9F14}"/>
              </a:ext>
            </a:extLst>
          </p:cNvPr>
          <p:cNvPicPr>
            <a:picLocks xmlns:a="http://schemas.openxmlformats.org/drawingml/2006/main" noChangeAspect="1"/>
          </p:cNvPicPr>
          <p:nvPr/>
        </p:nvPicPr>
        <p:blipFill>
          <a:blip xmlns:r="http://schemas.openxmlformats.org/officeDocument/2006/relationships" xmlns:a="http://schemas.openxmlformats.org/drawingml/2006/main" r:embed="R753d0c7021de4e22"/>
          <a:stretch xmlns:a="http://schemas.openxmlformats.org/drawingml/2006/main"/>
        </p:blipFill>
        <p:spPr>
          <a:xfrm xmlns:a="http://schemas.openxmlformats.org/drawingml/2006/main">
            <a:off x="8140279" y="2190750"/>
            <a:ext cx="4102943"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E39A6451-3F5B-4600-AC57-C03A2A684AEC}"/>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/reservar</a:t>
            </a:r>
          </a:p>
        </p:txBody>
      </p:sp>
    </p:spTree>
    <p:extLst>
      <p:ext uri="{BB962C8B-B14F-4D97-AF65-F5344CB8AC3E}">
        <p14:creationId xmlns:p14="http://schemas.microsoft.com/office/powerpoint/2010/main" val="503858984"/>
      </p:ext>
    </p:extLst>
  </p:cSld>
</p:sld>
</file>

<file path=ppt/slides/slide21.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DA21FABB-BE59-4AFA-B710-2EE615A9EB52}"/>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7E3684FC-3AEB-4124-8DA6-36805C71AFE0}"/>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Mis reservas y el anticipo VIP</a:t>
            </a:r>
          </a:p>
        </p:txBody>
      </p:sp>
      <p:sp>
        <p:nvSpPr>
          <p:cNvPr id="3" name="footer">
            <a:extLst xmlns:a="http://schemas.openxmlformats.org/drawingml/2006/main">
              <a:ext uri="{FF2B5EF4-FFF2-40B4-BE49-F238E27FC236}">
                <a16:creationId xmlns:a16="http://schemas.microsoft.com/office/drawing/2014/main" id="{570EA30B-C517-4EC5-8BA6-5C22B5FB125A}"/>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8C333CFB-D8A4-4C6A-BF97-932606D46D70}"/>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21</a:t>
            </a:r>
          </a:p>
        </p:txBody>
      </p:sp>
      <p:sp>
        <p:nvSpPr>
          <p:cNvPr id="5" name="block-title-0">
            <a:extLst xmlns:a="http://schemas.openxmlformats.org/drawingml/2006/main">
              <a:ext uri="{FF2B5EF4-FFF2-40B4-BE49-F238E27FC236}">
                <a16:creationId xmlns:a16="http://schemas.microsoft.com/office/drawing/2014/main" id="{4186A8A8-94B1-4415-8077-D214CA64E40C}"/>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Gestionar la visita</a:t>
            </a:r>
          </a:p>
        </p:txBody>
      </p:sp>
      <p:sp>
        <p:nvSpPr>
          <p:cNvPr id="6" name="block-body-0">
            <a:extLst xmlns:a="http://schemas.openxmlformats.org/drawingml/2006/main">
              <a:ext uri="{FF2B5EF4-FFF2-40B4-BE49-F238E27FC236}">
                <a16:creationId xmlns:a16="http://schemas.microsoft.com/office/drawing/2014/main" id="{BAAD96C1-D957-43AE-86F0-82BB918C9284}"/>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Consultar fecha, zona, personas y estado. Agregar al calendario, cambiar una visita elegible o cancelar.</a:t>
            </a:r>
          </a:p>
        </p:txBody>
      </p:sp>
      <p:sp>
        <p:nvSpPr>
          <p:cNvPr id="7" name="block-title-1">
            <a:extLst xmlns:a="http://schemas.openxmlformats.org/drawingml/2006/main">
              <a:ext uri="{FF2B5EF4-FFF2-40B4-BE49-F238E27FC236}">
                <a16:creationId xmlns:a16="http://schemas.microsoft.com/office/drawing/2014/main" id="{4DA73326-2A73-48A6-93DC-C00A4F6AAA4A}"/>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Anticipo aplicable</a:t>
            </a:r>
          </a:p>
        </p:txBody>
      </p:sp>
      <p:sp>
        <p:nvSpPr>
          <p:cNvPr id="8" name="block-body-1">
            <a:extLst xmlns:a="http://schemas.openxmlformats.org/drawingml/2006/main">
              <a:ext uri="{FF2B5EF4-FFF2-40B4-BE49-F238E27FC236}">
                <a16:creationId xmlns:a16="http://schemas.microsoft.com/office/drawing/2014/main" id="{F6027E42-5625-4862-A9BE-AB86B86E4148}"/>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Los C$500 del VIP se aplican al consumo. El personal registra esa aplicación para evitar cobrar dos veces.</a:t>
            </a:r>
          </a:p>
        </p:txBody>
      </p:sp>
      <p:sp>
        <p:nvSpPr>
          <p:cNvPr id="9" name="block-title-2">
            <a:extLst xmlns:a="http://schemas.openxmlformats.org/drawingml/2006/main">
              <a:ext uri="{FF2B5EF4-FFF2-40B4-BE49-F238E27FC236}">
                <a16:creationId xmlns:a16="http://schemas.microsoft.com/office/drawing/2014/main" id="{713E26C4-2AAB-4BFE-A14D-2E6DE254C078}"/>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Devolución vigente</a:t>
            </a:r>
          </a:p>
        </p:txBody>
      </p:sp>
      <p:sp>
        <p:nvSpPr>
          <p:cNvPr id="10" name="block-body-2">
            <a:extLst xmlns:a="http://schemas.openxmlformats.org/drawingml/2006/main">
              <a:ext uri="{FF2B5EF4-FFF2-40B4-BE49-F238E27FC236}">
                <a16:creationId xmlns:a16="http://schemas.microsoft.com/office/drawing/2014/main" id="{2F338BB4-D2BF-4E4E-ABFF-491C96F4636E}"/>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Al cancelar o registrar inasistencia, el anticipo pendiente vuelve íntegro a Cuenta de Casa.</a:t>
            </a:r>
          </a:p>
        </p:txBody>
      </p:sp>
      <p:pic>
        <p:nvPicPr>
          <p:cNvPr id="11" name="">
            <a:extLst xmlns:a="http://schemas.openxmlformats.org/drawingml/2006/main">
              <a:ext uri="{FF2B5EF4-FFF2-40B4-BE49-F238E27FC236}">
                <a16:creationId xmlns:a16="http://schemas.microsoft.com/office/drawing/2014/main" id="{A646BC47-FE12-46E9-91AD-2BBEBE6447E5}"/>
              </a:ext>
            </a:extLst>
          </p:cNvPr>
          <p:cNvPicPr>
            <a:picLocks xmlns:a="http://schemas.openxmlformats.org/drawingml/2006/main" noChangeAspect="1"/>
          </p:cNvPicPr>
          <p:nvPr/>
        </p:nvPicPr>
        <p:blipFill>
          <a:blip xmlns:r="http://schemas.openxmlformats.org/officeDocument/2006/relationships" xmlns:a="http://schemas.openxmlformats.org/drawingml/2006/main" r:embed="R7c3448f643004964"/>
          <a:stretch xmlns:a="http://schemas.openxmlformats.org/drawingml/2006/main"/>
        </p:blipFill>
        <p:spPr>
          <a:xfrm xmlns:a="http://schemas.openxmlformats.org/drawingml/2006/main">
            <a:off x="5800725" y="2849509"/>
            <a:ext cx="8782050" cy="3997432"/>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779DC2F7-A150-4325-BA30-1514ED270051}"/>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/reservas</a:t>
            </a:r>
          </a:p>
        </p:txBody>
      </p:sp>
    </p:spTree>
    <p:extLst>
      <p:ext uri="{BB962C8B-B14F-4D97-AF65-F5344CB8AC3E}">
        <p14:creationId xmlns:p14="http://schemas.microsoft.com/office/powerpoint/2010/main" val="362384035"/>
      </p:ext>
    </p:extLst>
  </p:cSld>
</p:sld>
</file>

<file path=ppt/slides/slide22.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8FEDFB41-33A0-4CE9-9DA5-DE8E8A6201A4}"/>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ADF6829C-1E40-419B-8C9B-54B603BEC9B8}"/>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Perfil y preferencias</a:t>
            </a:r>
          </a:p>
        </p:txBody>
      </p:sp>
      <p:sp>
        <p:nvSpPr>
          <p:cNvPr id="3" name="footer">
            <a:extLst xmlns:a="http://schemas.openxmlformats.org/drawingml/2006/main">
              <a:ext uri="{FF2B5EF4-FFF2-40B4-BE49-F238E27FC236}">
                <a16:creationId xmlns:a16="http://schemas.microsoft.com/office/drawing/2014/main" id="{11187D6F-BCC7-4162-817E-B4554D30F430}"/>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E7E9857E-D0B7-47B1-B9CB-A7AEDF2B4206}"/>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22</a:t>
            </a:r>
          </a:p>
        </p:txBody>
      </p:sp>
      <p:sp>
        <p:nvSpPr>
          <p:cNvPr id="5" name="block-title-0">
            <a:extLst xmlns:a="http://schemas.openxmlformats.org/drawingml/2006/main">
              <a:ext uri="{FF2B5EF4-FFF2-40B4-BE49-F238E27FC236}">
                <a16:creationId xmlns:a16="http://schemas.microsoft.com/office/drawing/2014/main" id="{386D4BB7-7301-4696-8398-5D9D233A6845}"/>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Datos de la cuenta</a:t>
            </a:r>
          </a:p>
        </p:txBody>
      </p:sp>
      <p:sp>
        <p:nvSpPr>
          <p:cNvPr id="6" name="block-body-0">
            <a:extLst xmlns:a="http://schemas.openxmlformats.org/drawingml/2006/main">
              <a:ext uri="{FF2B5EF4-FFF2-40B4-BE49-F238E27FC236}">
                <a16:creationId xmlns:a16="http://schemas.microsoft.com/office/drawing/2014/main" id="{5A7BB375-42DE-4A28-AD25-4E80D30ADA6A}"/>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cliente puede editar su nombre y preferencias opcionales: bebida habitual, cumpleaños y alergias.</a:t>
            </a:r>
          </a:p>
        </p:txBody>
      </p:sp>
      <p:sp>
        <p:nvSpPr>
          <p:cNvPr id="7" name="block-title-1">
            <a:extLst xmlns:a="http://schemas.openxmlformats.org/drawingml/2006/main">
              <a:ext uri="{FF2B5EF4-FFF2-40B4-BE49-F238E27FC236}">
                <a16:creationId xmlns:a16="http://schemas.microsoft.com/office/drawing/2014/main" id="{CEC1E18D-6C1A-49E7-9DA1-69FEA58AE49F}"/>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Atención más informada</a:t>
            </a:r>
          </a:p>
        </p:txBody>
      </p:sp>
      <p:sp>
        <p:nvSpPr>
          <p:cNvPr id="8" name="block-body-1">
            <a:extLst xmlns:a="http://schemas.openxmlformats.org/drawingml/2006/main">
              <a:ext uri="{FF2B5EF4-FFF2-40B4-BE49-F238E27FC236}">
                <a16:creationId xmlns:a16="http://schemas.microsoft.com/office/drawing/2014/main" id="{2A07AA07-317C-4721-859A-1880EEBD20AA}"/>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Propietario y encargado consultan la ficha. Cada pedido requiere confirmar sus restricciones relevantes.</a:t>
            </a:r>
          </a:p>
        </p:txBody>
      </p:sp>
      <p:sp>
        <p:nvSpPr>
          <p:cNvPr id="9" name="block-title-2">
            <a:extLst xmlns:a="http://schemas.openxmlformats.org/drawingml/2006/main">
              <a:ext uri="{FF2B5EF4-FFF2-40B4-BE49-F238E27FC236}">
                <a16:creationId xmlns:a16="http://schemas.microsoft.com/office/drawing/2014/main" id="{C17D6378-F062-446D-813A-A87237F1FA6A}"/>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Cambios de acceso</a:t>
            </a:r>
          </a:p>
        </p:txBody>
      </p:sp>
      <p:sp>
        <p:nvSpPr>
          <p:cNvPr id="10" name="block-body-2">
            <a:extLst xmlns:a="http://schemas.openxmlformats.org/drawingml/2006/main">
              <a:ext uri="{FF2B5EF4-FFF2-40B4-BE49-F238E27FC236}">
                <a16:creationId xmlns:a16="http://schemas.microsoft.com/office/drawing/2014/main" id="{746FF762-B9DE-4200-B4D3-4DE903A9FFFE}"/>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correo y el teléfono se gestionan mediante Ayuda con mi cuenta y verificación de identidad.</a:t>
            </a:r>
          </a:p>
        </p:txBody>
      </p:sp>
      <p:pic>
        <p:nvPicPr>
          <p:cNvPr id="11" name="">
            <a:extLst xmlns:a="http://schemas.openxmlformats.org/drawingml/2006/main">
              <a:ext uri="{FF2B5EF4-FFF2-40B4-BE49-F238E27FC236}">
                <a16:creationId xmlns:a16="http://schemas.microsoft.com/office/drawing/2014/main" id="{B2CBD16B-D6AC-4139-AF85-F9D2ECC42052}"/>
              </a:ext>
            </a:extLst>
          </p:cNvPr>
          <p:cNvPicPr>
            <a:picLocks xmlns:a="http://schemas.openxmlformats.org/drawingml/2006/main" noChangeAspect="1"/>
          </p:cNvPicPr>
          <p:nvPr/>
        </p:nvPicPr>
        <p:blipFill>
          <a:blip xmlns:r="http://schemas.openxmlformats.org/officeDocument/2006/relationships" xmlns:a="http://schemas.openxmlformats.org/drawingml/2006/main" r:embed="R1964e0f7311b4d87"/>
          <a:stretch xmlns:a="http://schemas.openxmlformats.org/drawingml/2006/main"/>
        </p:blipFill>
        <p:spPr>
          <a:xfrm xmlns:a="http://schemas.openxmlformats.org/drawingml/2006/main">
            <a:off x="7015743" y="2190750"/>
            <a:ext cx="6352013"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27DBC900-62BC-464E-BB92-CB5FC52E9D37}"/>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/perfil</a:t>
            </a:r>
          </a:p>
        </p:txBody>
      </p:sp>
    </p:spTree>
    <p:extLst>
      <p:ext uri="{BB962C8B-B14F-4D97-AF65-F5344CB8AC3E}">
        <p14:creationId xmlns:p14="http://schemas.microsoft.com/office/powerpoint/2010/main" val="1298502797"/>
      </p:ext>
    </p:extLst>
  </p:cSld>
</p:sld>
</file>

<file path=ppt/slides/slide23.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FF214272-C13C-477B-9A97-6835201739F3}"/>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EXPERIENCIA DEL CLIENTE</a:t>
            </a:r>
          </a:p>
        </p:txBody>
      </p:sp>
      <p:sp>
        <p:nvSpPr>
          <p:cNvPr id="2" name="title">
            <a:extLst xmlns:a="http://schemas.openxmlformats.org/drawingml/2006/main">
              <a:ext uri="{FF2B5EF4-FFF2-40B4-BE49-F238E27FC236}">
                <a16:creationId xmlns:a16="http://schemas.microsoft.com/office/drawing/2014/main" id="{A9AA564F-6952-4CCF-B631-279DE28A7064}"/>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Ayuda, comunicaciones y sesión</a:t>
            </a:r>
          </a:p>
        </p:txBody>
      </p:sp>
      <p:sp>
        <p:nvSpPr>
          <p:cNvPr id="3" name="footer">
            <a:extLst xmlns:a="http://schemas.openxmlformats.org/drawingml/2006/main">
              <a:ext uri="{FF2B5EF4-FFF2-40B4-BE49-F238E27FC236}">
                <a16:creationId xmlns:a16="http://schemas.microsoft.com/office/drawing/2014/main" id="{B1286557-028C-45AF-9A2D-0827EDDC60ED}"/>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508D86DA-3347-4F3C-BF5B-869064C4FDDF}"/>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23</a:t>
            </a:r>
          </a:p>
        </p:txBody>
      </p:sp>
      <p:sp>
        <p:nvSpPr>
          <p:cNvPr id="5" name="block-title-0">
            <a:extLst xmlns:a="http://schemas.openxmlformats.org/drawingml/2006/main">
              <a:ext uri="{FF2B5EF4-FFF2-40B4-BE49-F238E27FC236}">
                <a16:creationId xmlns:a16="http://schemas.microsoft.com/office/drawing/2014/main" id="{7575F794-DA9C-40BF-A689-82DC96313744}"/>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Solicitudes a la casa</a:t>
            </a:r>
          </a:p>
        </p:txBody>
      </p:sp>
      <p:sp>
        <p:nvSpPr>
          <p:cNvPr id="6" name="block-body-0">
            <a:extLst xmlns:a="http://schemas.openxmlformats.org/drawingml/2006/main">
              <a:ext uri="{FF2B5EF4-FFF2-40B4-BE49-F238E27FC236}">
                <a16:creationId xmlns:a16="http://schemas.microsoft.com/office/drawing/2014/main" id="{D58E5F62-683E-4143-9E03-358B6F18472C}"/>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cliente elige motivo, describe lo que necesita y recibe una respuesta dentro de la aplicación.</a:t>
            </a:r>
          </a:p>
        </p:txBody>
      </p:sp>
      <p:sp>
        <p:nvSpPr>
          <p:cNvPr id="7" name="block-title-1">
            <a:extLst xmlns:a="http://schemas.openxmlformats.org/drawingml/2006/main">
              <a:ext uri="{FF2B5EF4-FFF2-40B4-BE49-F238E27FC236}">
                <a16:creationId xmlns:a16="http://schemas.microsoft.com/office/drawing/2014/main" id="{D6B88582-9511-48AC-A9AA-A6DD0FF52556}"/>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Control de sus datos</a:t>
            </a:r>
          </a:p>
        </p:txBody>
      </p:sp>
      <p:sp>
        <p:nvSpPr>
          <p:cNvPr id="8" name="block-body-1">
            <a:extLst xmlns:a="http://schemas.openxmlformats.org/drawingml/2006/main">
              <a:ext uri="{FF2B5EF4-FFF2-40B4-BE49-F238E27FC236}">
                <a16:creationId xmlns:a16="http://schemas.microsoft.com/office/drawing/2014/main" id="{84408586-5DC1-440C-8527-7CBD4C6E29D7}"/>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Puede ajustar promociones por correo y solicitar copia, revisión o baja de la cuenta.</a:t>
            </a:r>
          </a:p>
        </p:txBody>
      </p:sp>
      <p:sp>
        <p:nvSpPr>
          <p:cNvPr id="9" name="block-title-2">
            <a:extLst xmlns:a="http://schemas.openxmlformats.org/drawingml/2006/main">
              <a:ext uri="{FF2B5EF4-FFF2-40B4-BE49-F238E27FC236}">
                <a16:creationId xmlns:a16="http://schemas.microsoft.com/office/drawing/2014/main" id="{6B1FC954-5626-4240-A250-C8E9647DC455}"/>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Uso compartido</a:t>
            </a:r>
          </a:p>
        </p:txBody>
      </p:sp>
      <p:sp>
        <p:nvSpPr>
          <p:cNvPr id="10" name="block-body-2">
            <a:extLst xmlns:a="http://schemas.openxmlformats.org/drawingml/2006/main">
              <a:ext uri="{FF2B5EF4-FFF2-40B4-BE49-F238E27FC236}">
                <a16:creationId xmlns:a16="http://schemas.microsoft.com/office/drawing/2014/main" id="{72B98A4F-71F3-4272-8DE8-62321AC6AC4D}"/>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Puede cerrar la sesión actual o las de todos sus dispositivos desde Perfil.</a:t>
            </a:r>
          </a:p>
        </p:txBody>
      </p:sp>
      <p:pic>
        <p:nvPicPr>
          <p:cNvPr id="11" name="">
            <a:extLst xmlns:a="http://schemas.openxmlformats.org/drawingml/2006/main">
              <a:ext uri="{FF2B5EF4-FFF2-40B4-BE49-F238E27FC236}">
                <a16:creationId xmlns:a16="http://schemas.microsoft.com/office/drawing/2014/main" id="{D98F3098-764B-4EAB-9B1C-53606172B7AA}"/>
              </a:ext>
            </a:extLst>
          </p:cNvPr>
          <p:cNvPicPr>
            <a:picLocks xmlns:a="http://schemas.openxmlformats.org/drawingml/2006/main" noChangeAspect="1"/>
          </p:cNvPicPr>
          <p:nvPr/>
        </p:nvPicPr>
        <p:blipFill>
          <a:blip xmlns:r="http://schemas.openxmlformats.org/officeDocument/2006/relationships" xmlns:a="http://schemas.openxmlformats.org/drawingml/2006/main" r:embed="R8d67fd8e92d1498a"/>
          <a:stretch xmlns:a="http://schemas.openxmlformats.org/drawingml/2006/main"/>
        </p:blipFill>
        <p:spPr>
          <a:xfrm xmlns:a="http://schemas.openxmlformats.org/drawingml/2006/main">
            <a:off x="7676077" y="2190750"/>
            <a:ext cx="5031346"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8D4BC8AC-370E-4AFC-8244-30DD9056F175}"/>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/perfil</a:t>
            </a:r>
          </a:p>
        </p:txBody>
      </p:sp>
    </p:spTree>
    <p:extLst>
      <p:ext uri="{BB962C8B-B14F-4D97-AF65-F5344CB8AC3E}">
        <p14:creationId xmlns:p14="http://schemas.microsoft.com/office/powerpoint/2010/main" val="1762400867"/>
      </p:ext>
    </p:extLst>
  </p:cSld>
</p:sld>
</file>

<file path=ppt/slides/slide24.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F9FAFDF6-0955-48D4-82A8-C07DC3B0E0E9}"/>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1913996B-6915-48E6-BBC0-40944F1C6C02}"/>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La operación de la casa</a:t>
            </a:r>
          </a:p>
        </p:txBody>
      </p:sp>
      <p:sp>
        <p:nvSpPr>
          <p:cNvPr id="3" name="footer">
            <a:extLst xmlns:a="http://schemas.openxmlformats.org/drawingml/2006/main">
              <a:ext uri="{FF2B5EF4-FFF2-40B4-BE49-F238E27FC236}">
                <a16:creationId xmlns:a16="http://schemas.microsoft.com/office/drawing/2014/main" id="{E3227DB0-DEA2-4897-857F-C3A6C6F007A5}"/>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61EC6B8F-24EF-4C00-92F0-67BC40076F4E}"/>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24</a:t>
            </a:r>
          </a:p>
        </p:txBody>
      </p:sp>
      <p:sp>
        <p:nvSpPr>
          <p:cNvPr id="5" name="block-title-0">
            <a:extLst xmlns:a="http://schemas.openxmlformats.org/drawingml/2006/main">
              <a:ext uri="{FF2B5EF4-FFF2-40B4-BE49-F238E27FC236}">
                <a16:creationId xmlns:a16="http://schemas.microsoft.com/office/drawing/2014/main" id="{2168A738-1789-4815-9FC9-7B74C5BF215E}"/>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Un espacio de trabajo</a:t>
            </a:r>
          </a:p>
        </p:txBody>
      </p:sp>
      <p:sp>
        <p:nvSpPr>
          <p:cNvPr id="6" name="block-body-0">
            <a:extLst xmlns:a="http://schemas.openxmlformats.org/drawingml/2006/main">
              <a:ext uri="{FF2B5EF4-FFF2-40B4-BE49-F238E27FC236}">
                <a16:creationId xmlns:a16="http://schemas.microsoft.com/office/drawing/2014/main" id="{6C857417-F726-48B2-8A21-18FFFC87C006}"/>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panel reúne las tareas que sostienen la experiencia del cliente: pedidos, caja, club y reservas.</a:t>
            </a:r>
          </a:p>
        </p:txBody>
      </p:sp>
      <p:sp>
        <p:nvSpPr>
          <p:cNvPr id="7" name="block-title-1">
            <a:extLst xmlns:a="http://schemas.openxmlformats.org/drawingml/2006/main">
              <a:ext uri="{FF2B5EF4-FFF2-40B4-BE49-F238E27FC236}">
                <a16:creationId xmlns:a16="http://schemas.microsoft.com/office/drawing/2014/main" id="{3600A345-7AAD-48CA-A913-2D005A10025F}"/>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Responsabilidad individual</a:t>
            </a:r>
          </a:p>
        </p:txBody>
      </p:sp>
      <p:sp>
        <p:nvSpPr>
          <p:cNvPr id="8" name="block-body-1">
            <a:extLst xmlns:a="http://schemas.openxmlformats.org/drawingml/2006/main">
              <a:ext uri="{FF2B5EF4-FFF2-40B4-BE49-F238E27FC236}">
                <a16:creationId xmlns:a16="http://schemas.microsoft.com/office/drawing/2014/main" id="{0C8D4F7A-9FAE-456C-8AB3-80448372A7F4}"/>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Cada persona ingresa con su acceso. El rol determina qué secciones y acciones puede utilizar.</a:t>
            </a:r>
          </a:p>
        </p:txBody>
      </p:sp>
      <p:sp>
        <p:nvSpPr>
          <p:cNvPr id="9" name="block-title-2">
            <a:extLst xmlns:a="http://schemas.openxmlformats.org/drawingml/2006/main">
              <a:ext uri="{FF2B5EF4-FFF2-40B4-BE49-F238E27FC236}">
                <a16:creationId xmlns:a16="http://schemas.microsoft.com/office/drawing/2014/main" id="{A9DB8D4E-ACCD-4C30-AB2E-038249680861}"/>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Datos compartidos</a:t>
            </a:r>
          </a:p>
        </p:txBody>
      </p:sp>
      <p:sp>
        <p:nvSpPr>
          <p:cNvPr id="10" name="block-body-2">
            <a:extLst xmlns:a="http://schemas.openxmlformats.org/drawingml/2006/main">
              <a:ext uri="{FF2B5EF4-FFF2-40B4-BE49-F238E27FC236}">
                <a16:creationId xmlns:a16="http://schemas.microsoft.com/office/drawing/2014/main" id="{7B7DA943-2D6F-473E-9717-FD0AF09AA2C6}"/>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Los registros conectan lo que ve el cliente con lo que confirma el equipo.</a:t>
            </a:r>
          </a:p>
        </p:txBody>
      </p:sp>
      <p:pic>
        <p:nvPicPr>
          <p:cNvPr id="11" name="">
            <a:extLst xmlns:a="http://schemas.openxmlformats.org/drawingml/2006/main">
              <a:ext uri="{FF2B5EF4-FFF2-40B4-BE49-F238E27FC236}">
                <a16:creationId xmlns:a16="http://schemas.microsoft.com/office/drawing/2014/main" id="{29F092BD-4610-4683-980F-90E311CC7CBB}"/>
              </a:ext>
            </a:extLst>
          </p:cNvPr>
          <p:cNvPicPr>
            <a:picLocks xmlns:a="http://schemas.openxmlformats.org/drawingml/2006/main" noChangeAspect="1"/>
          </p:cNvPicPr>
          <p:nvPr/>
        </p:nvPicPr>
        <p:blipFill>
          <a:blip xmlns:r="http://schemas.openxmlformats.org/officeDocument/2006/relationships" xmlns:a="http://schemas.openxmlformats.org/drawingml/2006/main" r:embed="R52dde625b7c94810"/>
          <a:stretch xmlns:a="http://schemas.openxmlformats.org/drawingml/2006/main"/>
        </p:blipFill>
        <p:spPr>
          <a:xfrm xmlns:a="http://schemas.openxmlformats.org/drawingml/2006/main">
            <a:off x="7177518" y="2190750"/>
            <a:ext cx="6028464"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BAC1F8F5-0A99-4941-9FCB-F253EE1FE3E6}"/>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123960134"/>
      </p:ext>
    </p:extLst>
  </p:cSld>
</p:sld>
</file>

<file path=ppt/slides/slide25.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8C865EBB-DA6A-4959-A9E1-4EC91731F70E}"/>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C56346C1-1FC6-464F-B58C-A6E97D104F38}"/>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Acceso del equipo y seguridad</a:t>
            </a:r>
          </a:p>
        </p:txBody>
      </p:sp>
      <p:sp>
        <p:nvSpPr>
          <p:cNvPr id="3" name="footer">
            <a:extLst xmlns:a="http://schemas.openxmlformats.org/drawingml/2006/main">
              <a:ext uri="{FF2B5EF4-FFF2-40B4-BE49-F238E27FC236}">
                <a16:creationId xmlns:a16="http://schemas.microsoft.com/office/drawing/2014/main" id="{CC8677A1-1505-4BD4-8D85-6C07981376AB}"/>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99EAA1BF-BAF0-476D-A72E-F15737CB5FA4}"/>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25</a:t>
            </a:r>
          </a:p>
        </p:txBody>
      </p:sp>
      <p:sp>
        <p:nvSpPr>
          <p:cNvPr id="5" name="block-title-0">
            <a:extLst xmlns:a="http://schemas.openxmlformats.org/drawingml/2006/main">
              <a:ext uri="{FF2B5EF4-FFF2-40B4-BE49-F238E27FC236}">
                <a16:creationId xmlns:a16="http://schemas.microsoft.com/office/drawing/2014/main" id="{8D91AB56-DD98-4C08-A00B-F6B8D32413E0}"/>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Entrada individual</a:t>
            </a:r>
          </a:p>
        </p:txBody>
      </p:sp>
      <p:sp>
        <p:nvSpPr>
          <p:cNvPr id="6" name="block-body-0">
            <a:extLst xmlns:a="http://schemas.openxmlformats.org/drawingml/2006/main">
              <a:ext uri="{FF2B5EF4-FFF2-40B4-BE49-F238E27FC236}">
                <a16:creationId xmlns:a16="http://schemas.microsoft.com/office/drawing/2014/main" id="{DB0540C9-03AF-4B0F-8A2C-D3CC5B58C3C2}"/>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Usuario y contraseña propios. Propietarios y encargados configuran además un autenticador.</a:t>
            </a:r>
          </a:p>
        </p:txBody>
      </p:sp>
      <p:sp>
        <p:nvSpPr>
          <p:cNvPr id="7" name="block-title-1">
            <a:extLst xmlns:a="http://schemas.openxmlformats.org/drawingml/2006/main">
              <a:ext uri="{FF2B5EF4-FFF2-40B4-BE49-F238E27FC236}">
                <a16:creationId xmlns:a16="http://schemas.microsoft.com/office/drawing/2014/main" id="{DB892CB1-6D44-4ED5-BCE4-960D0B668BF8}"/>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Dispositivo compartido</a:t>
            </a:r>
          </a:p>
        </p:txBody>
      </p:sp>
      <p:sp>
        <p:nvSpPr>
          <p:cNvPr id="8" name="block-body-1">
            <a:extLst xmlns:a="http://schemas.openxmlformats.org/drawingml/2006/main">
              <a:ext uri="{FF2B5EF4-FFF2-40B4-BE49-F238E27FC236}">
                <a16:creationId xmlns:a16="http://schemas.microsoft.com/office/drawing/2014/main" id="{2AC735CD-1E66-41FB-8E11-840A1942F22D}"/>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La opción «Uso un equipo compartido» aplica bloqueo por inactividad a los cinco minutos.</a:t>
            </a:r>
          </a:p>
        </p:txBody>
      </p:sp>
      <p:sp>
        <p:nvSpPr>
          <p:cNvPr id="9" name="block-title-2">
            <a:extLst xmlns:a="http://schemas.openxmlformats.org/drawingml/2006/main">
              <a:ext uri="{FF2B5EF4-FFF2-40B4-BE49-F238E27FC236}">
                <a16:creationId xmlns:a16="http://schemas.microsoft.com/office/drawing/2014/main" id="{881E95E0-7EFE-4FF3-889F-6B7B2BE484CB}"/>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Al cambiar de persona</a:t>
            </a:r>
          </a:p>
        </p:txBody>
      </p:sp>
      <p:sp>
        <p:nvSpPr>
          <p:cNvPr id="10" name="block-body-2">
            <a:extLst xmlns:a="http://schemas.openxmlformats.org/drawingml/2006/main">
              <a:ext uri="{FF2B5EF4-FFF2-40B4-BE49-F238E27FC236}">
                <a16:creationId xmlns:a16="http://schemas.microsoft.com/office/drawing/2014/main" id="{93D96D18-66F3-4AD1-AC2B-8D003950A9A1}"/>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Cerrar sesión o bloquear el panel. La siguiente persona debe utilizar su propio acceso.</a:t>
            </a:r>
          </a:p>
        </p:txBody>
      </p:sp>
      <p:pic>
        <p:nvPicPr>
          <p:cNvPr id="11" name="">
            <a:extLst xmlns:a="http://schemas.openxmlformats.org/drawingml/2006/main">
              <a:ext uri="{FF2B5EF4-FFF2-40B4-BE49-F238E27FC236}">
                <a16:creationId xmlns:a16="http://schemas.microsoft.com/office/drawing/2014/main" id="{8EFF0E2B-8E39-43AA-821D-DB743055981A}"/>
              </a:ext>
            </a:extLst>
          </p:cNvPr>
          <p:cNvPicPr>
            <a:picLocks xmlns:a="http://schemas.openxmlformats.org/drawingml/2006/main" noChangeAspect="1"/>
          </p:cNvPicPr>
          <p:nvPr/>
        </p:nvPicPr>
        <p:blipFill>
          <a:blip xmlns:r="http://schemas.openxmlformats.org/officeDocument/2006/relationships" xmlns:a="http://schemas.openxmlformats.org/drawingml/2006/main" r:embed="Redf4f858574a4a57"/>
          <a:stretch xmlns:a="http://schemas.openxmlformats.org/drawingml/2006/main"/>
        </p:blipFill>
        <p:spPr>
          <a:xfrm xmlns:a="http://schemas.openxmlformats.org/drawingml/2006/main">
            <a:off x="8221130" y="2190750"/>
            <a:ext cx="3941240"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5369C008-D364-4490-B4A7-36CABC6F373A}"/>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Recorte de la aplicación · /personal</a:t>
            </a:r>
          </a:p>
        </p:txBody>
      </p:sp>
    </p:spTree>
    <p:extLst>
      <p:ext uri="{BB962C8B-B14F-4D97-AF65-F5344CB8AC3E}">
        <p14:creationId xmlns:p14="http://schemas.microsoft.com/office/powerpoint/2010/main" val="1887425083"/>
      </p:ext>
    </p:extLst>
  </p:cSld>
</p:sld>
</file>

<file path=ppt/slides/slide26.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DCDE3123-DEEE-4E11-96C8-A54ADD55C4AD}"/>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7C2CB43A-E193-46DE-939A-F9697FD5025D}"/>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Resumen: prioridades del turno</a:t>
            </a:r>
          </a:p>
        </p:txBody>
      </p:sp>
      <p:sp>
        <p:nvSpPr>
          <p:cNvPr id="3" name="footer">
            <a:extLst xmlns:a="http://schemas.openxmlformats.org/drawingml/2006/main">
              <a:ext uri="{FF2B5EF4-FFF2-40B4-BE49-F238E27FC236}">
                <a16:creationId xmlns:a16="http://schemas.microsoft.com/office/drawing/2014/main" id="{4D8FDC50-15FA-411C-8A29-5FC2D7CF997A}"/>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ABD4FAF7-6B69-4379-BE46-015AFBB41DD4}"/>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26</a:t>
            </a:r>
          </a:p>
        </p:txBody>
      </p:sp>
      <p:sp>
        <p:nvSpPr>
          <p:cNvPr id="5" name="block-title-0">
            <a:extLst xmlns:a="http://schemas.openxmlformats.org/drawingml/2006/main">
              <a:ext uri="{FF2B5EF4-FFF2-40B4-BE49-F238E27FC236}">
                <a16:creationId xmlns:a16="http://schemas.microsoft.com/office/drawing/2014/main" id="{18402AD7-AEEB-4FE5-AEF9-EFD6D7E56B9E}"/>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Lo que requiere atención</a:t>
            </a:r>
          </a:p>
        </p:txBody>
      </p:sp>
      <p:sp>
        <p:nvSpPr>
          <p:cNvPr id="6" name="block-body-0">
            <a:extLst xmlns:a="http://schemas.openxmlformats.org/drawingml/2006/main">
              <a:ext uri="{FF2B5EF4-FFF2-40B4-BE49-F238E27FC236}">
                <a16:creationId xmlns:a16="http://schemas.microsoft.com/office/drawing/2014/main" id="{184CDE37-7EEE-4CCE-BE0D-514B712B4179}"/>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Pedidos activos, entregas pendientes, mesas del día y solicitudes abiertas. Cada indicador abre su sección.</a:t>
            </a:r>
          </a:p>
        </p:txBody>
      </p:sp>
      <p:sp>
        <p:nvSpPr>
          <p:cNvPr id="7" name="block-title-1">
            <a:extLst xmlns:a="http://schemas.openxmlformats.org/drawingml/2006/main">
              <a:ext uri="{FF2B5EF4-FFF2-40B4-BE49-F238E27FC236}">
                <a16:creationId xmlns:a16="http://schemas.microsoft.com/office/drawing/2014/main" id="{09053E1C-A5E9-4A37-BDFE-5F993CD83605}"/>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Atajos operativos</a:t>
            </a:r>
          </a:p>
        </p:txBody>
      </p:sp>
      <p:sp>
        <p:nvSpPr>
          <p:cNvPr id="8" name="block-body-1">
            <a:extLst xmlns:a="http://schemas.openxmlformats.org/drawingml/2006/main">
              <a:ext uri="{FF2B5EF4-FFF2-40B4-BE49-F238E27FC236}">
                <a16:creationId xmlns:a16="http://schemas.microsoft.com/office/drawing/2014/main" id="{F418841F-414C-4F53-B40A-C2B013CF7EA9}"/>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«Abrir caja» inicia la atención al cliente. «Consultar informes» amplía las cifras.</a:t>
            </a:r>
          </a:p>
        </p:txBody>
      </p:sp>
      <p:sp>
        <p:nvSpPr>
          <p:cNvPr id="9" name="block-title-2">
            <a:extLst xmlns:a="http://schemas.openxmlformats.org/drawingml/2006/main">
              <a:ext uri="{FF2B5EF4-FFF2-40B4-BE49-F238E27FC236}">
                <a16:creationId xmlns:a16="http://schemas.microsoft.com/office/drawing/2014/main" id="{4095DB0A-CABC-4B04-AEBB-0138A5853D3C}"/>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Lectura correcta</a:t>
            </a:r>
          </a:p>
        </p:txBody>
      </p:sp>
      <p:sp>
        <p:nvSpPr>
          <p:cNvPr id="10" name="block-body-2">
            <a:extLst xmlns:a="http://schemas.openxmlformats.org/drawingml/2006/main">
              <a:ext uri="{FF2B5EF4-FFF2-40B4-BE49-F238E27FC236}">
                <a16:creationId xmlns:a16="http://schemas.microsoft.com/office/drawing/2014/main" id="{8D262841-1DD0-4210-831F-85676F5BB73C}"/>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importe del día corresponde a pedidos de la app no cancelados. No suma recargas ni membresías.</a:t>
            </a:r>
          </a:p>
        </p:txBody>
      </p:sp>
      <p:pic>
        <p:nvPicPr>
          <p:cNvPr id="11" name="">
            <a:extLst xmlns:a="http://schemas.openxmlformats.org/drawingml/2006/main">
              <a:ext uri="{FF2B5EF4-FFF2-40B4-BE49-F238E27FC236}">
                <a16:creationId xmlns:a16="http://schemas.microsoft.com/office/drawing/2014/main" id="{60816451-8DE1-41CE-99E2-09CD6EAFDA09}"/>
              </a:ext>
            </a:extLst>
          </p:cNvPr>
          <p:cNvPicPr>
            <a:picLocks xmlns:a="http://schemas.openxmlformats.org/drawingml/2006/main" noChangeAspect="1"/>
          </p:cNvPicPr>
          <p:nvPr/>
        </p:nvPicPr>
        <p:blipFill>
          <a:blip xmlns:r="http://schemas.openxmlformats.org/officeDocument/2006/relationships" xmlns:a="http://schemas.openxmlformats.org/drawingml/2006/main" r:embed="Re59c1515bea14b44"/>
          <a:stretch xmlns:a="http://schemas.openxmlformats.org/drawingml/2006/main"/>
        </p:blipFill>
        <p:spPr>
          <a:xfrm xmlns:a="http://schemas.openxmlformats.org/drawingml/2006/main">
            <a:off x="5800725" y="2977267"/>
            <a:ext cx="8782050" cy="3741917"/>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5B5F2182-12C3-40CA-B348-467C45194132}"/>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2017251613"/>
      </p:ext>
    </p:extLst>
  </p:cSld>
</p:sld>
</file>

<file path=ppt/slides/slide27.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49BA1635-E430-42F0-BA6B-71093CD1B552}"/>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848B70ED-DC36-4491-9988-442EC85C171F}"/>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Pedidos: de recepción a entrega</a:t>
            </a:r>
          </a:p>
        </p:txBody>
      </p:sp>
      <p:sp>
        <p:nvSpPr>
          <p:cNvPr id="3" name="footer">
            <a:extLst xmlns:a="http://schemas.openxmlformats.org/drawingml/2006/main">
              <a:ext uri="{FF2B5EF4-FFF2-40B4-BE49-F238E27FC236}">
                <a16:creationId xmlns:a16="http://schemas.microsoft.com/office/drawing/2014/main" id="{316CD33C-ECEA-4A50-ADF3-299C52E7DA5D}"/>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0E05F3D0-AF9B-418B-A80B-836F5A15796B}"/>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27</a:t>
            </a:r>
          </a:p>
        </p:txBody>
      </p:sp>
      <p:sp>
        <p:nvSpPr>
          <p:cNvPr id="5" name="block-title-0">
            <a:extLst xmlns:a="http://schemas.openxmlformats.org/drawingml/2006/main">
              <a:ext uri="{FF2B5EF4-FFF2-40B4-BE49-F238E27FC236}">
                <a16:creationId xmlns:a16="http://schemas.microsoft.com/office/drawing/2014/main" id="{CC83298A-75E1-4372-A459-84E120B6ED66}"/>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Flujo del pedido</a:t>
            </a:r>
          </a:p>
        </p:txBody>
      </p:sp>
      <p:sp>
        <p:nvSpPr>
          <p:cNvPr id="6" name="block-body-0">
            <a:extLst xmlns:a="http://schemas.openxmlformats.org/drawingml/2006/main">
              <a:ext uri="{FF2B5EF4-FFF2-40B4-BE49-F238E27FC236}">
                <a16:creationId xmlns:a16="http://schemas.microsoft.com/office/drawing/2014/main" id="{80B61B40-6123-43B2-8622-FC34EA521023}"/>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Aceptar, comenzar preparación, marcar listo y confirmar entrega. Cada estado informa al cliente.</a:t>
            </a:r>
          </a:p>
        </p:txBody>
      </p:sp>
      <p:sp>
        <p:nvSpPr>
          <p:cNvPr id="7" name="block-title-1">
            <a:extLst xmlns:a="http://schemas.openxmlformats.org/drawingml/2006/main">
              <a:ext uri="{FF2B5EF4-FFF2-40B4-BE49-F238E27FC236}">
                <a16:creationId xmlns:a16="http://schemas.microsoft.com/office/drawing/2014/main" id="{728D626A-D01F-4B0E-B648-F14321264AA7}"/>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Búsqueda e historial</a:t>
            </a:r>
          </a:p>
        </p:txBody>
      </p:sp>
      <p:sp>
        <p:nvSpPr>
          <p:cNvPr id="8" name="block-body-1">
            <a:extLst xmlns:a="http://schemas.openxmlformats.org/drawingml/2006/main">
              <a:ext uri="{FF2B5EF4-FFF2-40B4-BE49-F238E27FC236}">
                <a16:creationId xmlns:a16="http://schemas.microsoft.com/office/drawing/2014/main" id="{56E363E1-AF2A-4522-BBEF-571D916BB7A2}"/>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Filtrar por estado, fecha, cliente o número de pedido. Revisar tiempos y restricciones confirmadas.</a:t>
            </a:r>
          </a:p>
        </p:txBody>
      </p:sp>
      <p:sp>
        <p:nvSpPr>
          <p:cNvPr id="9" name="block-title-2">
            <a:extLst xmlns:a="http://schemas.openxmlformats.org/drawingml/2006/main">
              <a:ext uri="{FF2B5EF4-FFF2-40B4-BE49-F238E27FC236}">
                <a16:creationId xmlns:a16="http://schemas.microsoft.com/office/drawing/2014/main" id="{6BCADF81-7FDB-4181-BEB0-2F65E504F3AC}"/>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Incidencias</a:t>
            </a:r>
          </a:p>
        </p:txBody>
      </p:sp>
      <p:sp>
        <p:nvSpPr>
          <p:cNvPr id="10" name="block-body-2">
            <a:extLst xmlns:a="http://schemas.openxmlformats.org/drawingml/2006/main">
              <a:ext uri="{FF2B5EF4-FFF2-40B4-BE49-F238E27FC236}">
                <a16:creationId xmlns:a16="http://schemas.microsoft.com/office/drawing/2014/main" id="{830593FB-0086-4F1D-9D87-43BB92CD20DD}"/>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Caja puede cancelar antes de preparar. Administración gestiona incidencias posteriores con motivo y devolución.</a:t>
            </a:r>
          </a:p>
        </p:txBody>
      </p:sp>
      <p:pic>
        <p:nvPicPr>
          <p:cNvPr id="11" name="">
            <a:extLst xmlns:a="http://schemas.openxmlformats.org/drawingml/2006/main">
              <a:ext uri="{FF2B5EF4-FFF2-40B4-BE49-F238E27FC236}">
                <a16:creationId xmlns:a16="http://schemas.microsoft.com/office/drawing/2014/main" id="{0C7ED9FB-A110-4F87-9431-3762E99B2F34}"/>
              </a:ext>
            </a:extLst>
          </p:cNvPr>
          <p:cNvPicPr>
            <a:picLocks xmlns:a="http://schemas.openxmlformats.org/drawingml/2006/main" noChangeAspect="1"/>
          </p:cNvPicPr>
          <p:nvPr/>
        </p:nvPicPr>
        <p:blipFill>
          <a:blip xmlns:r="http://schemas.openxmlformats.org/officeDocument/2006/relationships" xmlns:a="http://schemas.openxmlformats.org/drawingml/2006/main" r:embed="Rad87ef235a094d29"/>
          <a:stretch xmlns:a="http://schemas.openxmlformats.org/drawingml/2006/main"/>
        </p:blipFill>
        <p:spPr>
          <a:xfrm xmlns:a="http://schemas.openxmlformats.org/drawingml/2006/main">
            <a:off x="5800725" y="2365025"/>
            <a:ext cx="8782050" cy="4966401"/>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67D5C679-DE10-4126-8A55-FAAAE64F9A60}"/>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1177943452"/>
      </p:ext>
    </p:extLst>
  </p:cSld>
</p:sld>
</file>

<file path=ppt/slides/slide28.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EC256F45-A900-42C3-8476-307577B00B97}"/>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F24A484A-6116-4438-A2D3-4F2A60435C69}"/>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Carta: disponibilidad y recepción</a:t>
            </a:r>
          </a:p>
        </p:txBody>
      </p:sp>
      <p:sp>
        <p:nvSpPr>
          <p:cNvPr id="3" name="footer">
            <a:extLst xmlns:a="http://schemas.openxmlformats.org/drawingml/2006/main">
              <a:ext uri="{FF2B5EF4-FFF2-40B4-BE49-F238E27FC236}">
                <a16:creationId xmlns:a16="http://schemas.microsoft.com/office/drawing/2014/main" id="{68FF5121-871D-4759-A96A-C85A7E77F52A}"/>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22E43FE2-F518-49ED-95DE-9068AEBF5B6B}"/>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28</a:t>
            </a:r>
          </a:p>
        </p:txBody>
      </p:sp>
      <p:sp>
        <p:nvSpPr>
          <p:cNvPr id="5" name="block-title-0">
            <a:extLst xmlns:a="http://schemas.openxmlformats.org/drawingml/2006/main">
              <a:ext uri="{FF2B5EF4-FFF2-40B4-BE49-F238E27FC236}">
                <a16:creationId xmlns:a16="http://schemas.microsoft.com/office/drawing/2014/main" id="{F16645E7-24F9-424C-8F53-6975D09849F6}"/>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Ajustar la carga de trabajo</a:t>
            </a:r>
          </a:p>
        </p:txBody>
      </p:sp>
      <p:sp>
        <p:nvSpPr>
          <p:cNvPr id="6" name="block-body-0">
            <a:extLst xmlns:a="http://schemas.openxmlformats.org/drawingml/2006/main">
              <a:ext uri="{FF2B5EF4-FFF2-40B4-BE49-F238E27FC236}">
                <a16:creationId xmlns:a16="http://schemas.microsoft.com/office/drawing/2014/main" id="{E0A0C351-1F54-4230-8C49-87831843135F}"/>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Pausar treinta minutos o reanudar la recepción, indicar motivo y tiempo estimado de preparación.</a:t>
            </a:r>
          </a:p>
        </p:txBody>
      </p:sp>
      <p:sp>
        <p:nvSpPr>
          <p:cNvPr id="7" name="block-title-1">
            <a:extLst xmlns:a="http://schemas.openxmlformats.org/drawingml/2006/main">
              <a:ext uri="{FF2B5EF4-FFF2-40B4-BE49-F238E27FC236}">
                <a16:creationId xmlns:a16="http://schemas.microsoft.com/office/drawing/2014/main" id="{E3E12848-4A50-40A4-B8C9-A6421154F0E4}"/>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Mantener la oferta</a:t>
            </a:r>
          </a:p>
        </p:txBody>
      </p:sp>
      <p:sp>
        <p:nvSpPr>
          <p:cNvPr id="8" name="block-body-1">
            <a:extLst xmlns:a="http://schemas.openxmlformats.org/drawingml/2006/main">
              <a:ext uri="{FF2B5EF4-FFF2-40B4-BE49-F238E27FC236}">
                <a16:creationId xmlns:a16="http://schemas.microsoft.com/office/drawing/2014/main" id="{29A26159-3E72-4234-A194-8085540313D7}"/>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Pausar categorías y marcar productos agotados. Administración define horario, empaque y capacidad.</a:t>
            </a:r>
          </a:p>
        </p:txBody>
      </p:sp>
      <p:sp>
        <p:nvSpPr>
          <p:cNvPr id="9" name="block-title-2">
            <a:extLst xmlns:a="http://schemas.openxmlformats.org/drawingml/2006/main">
              <a:ext uri="{FF2B5EF4-FFF2-40B4-BE49-F238E27FC236}">
                <a16:creationId xmlns:a16="http://schemas.microsoft.com/office/drawing/2014/main" id="{9F61DC92-94C2-4736-87D0-81B2F5F65A0F}"/>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Aplicar los cambios</a:t>
            </a:r>
          </a:p>
        </p:txBody>
      </p:sp>
      <p:sp>
        <p:nvSpPr>
          <p:cNvPr id="10" name="block-body-2">
            <a:extLst xmlns:a="http://schemas.openxmlformats.org/drawingml/2006/main">
              <a:ext uri="{FF2B5EF4-FFF2-40B4-BE49-F238E27FC236}">
                <a16:creationId xmlns:a16="http://schemas.microsoft.com/office/drawing/2014/main" id="{CD16643E-EBDD-4532-9F0D-6A934C423CDC}"/>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Revisar y guardar las reglas. La app comprueba estas condiciones antes de nuevos cobros.</a:t>
            </a:r>
          </a:p>
        </p:txBody>
      </p:sp>
      <p:pic>
        <p:nvPicPr>
          <p:cNvPr id="11" name="">
            <a:extLst xmlns:a="http://schemas.openxmlformats.org/drawingml/2006/main">
              <a:ext uri="{FF2B5EF4-FFF2-40B4-BE49-F238E27FC236}">
                <a16:creationId xmlns:a16="http://schemas.microsoft.com/office/drawing/2014/main" id="{FA9E134B-5B0F-45F3-BC2A-40E1F341E14F}"/>
              </a:ext>
            </a:extLst>
          </p:cNvPr>
          <p:cNvPicPr>
            <a:picLocks xmlns:a="http://schemas.openxmlformats.org/drawingml/2006/main" noChangeAspect="1"/>
          </p:cNvPicPr>
          <p:nvPr/>
        </p:nvPicPr>
        <p:blipFill>
          <a:blip xmlns:r="http://schemas.openxmlformats.org/officeDocument/2006/relationships" xmlns:a="http://schemas.openxmlformats.org/drawingml/2006/main" r:embed="R4a1e62c55a4e4002"/>
          <a:stretch xmlns:a="http://schemas.openxmlformats.org/drawingml/2006/main"/>
        </p:blipFill>
        <p:spPr>
          <a:xfrm xmlns:a="http://schemas.openxmlformats.org/drawingml/2006/main">
            <a:off x="6330002" y="2190750"/>
            <a:ext cx="7723497"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3454D940-05AC-40AE-BFC8-873FFF063D8C}"/>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1622331580"/>
      </p:ext>
    </p:extLst>
  </p:cSld>
</p:sld>
</file>

<file path=ppt/slides/slide29.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07864296-A43C-4B14-B483-D7E6F41F0C1C}"/>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053F6C5C-53B3-449C-ADEF-3FB0851C203B}"/>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Fichas de productos verificadas</a:t>
            </a:r>
          </a:p>
        </p:txBody>
      </p:sp>
      <p:sp>
        <p:nvSpPr>
          <p:cNvPr id="3" name="footer">
            <a:extLst xmlns:a="http://schemas.openxmlformats.org/drawingml/2006/main">
              <a:ext uri="{FF2B5EF4-FFF2-40B4-BE49-F238E27FC236}">
                <a16:creationId xmlns:a16="http://schemas.microsoft.com/office/drawing/2014/main" id="{CF1C10E2-8D5A-4963-8A7E-B725E9090DEB}"/>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71E4CA62-6C5F-4CE5-9D75-E9C409503B51}"/>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29</a:t>
            </a:r>
          </a:p>
        </p:txBody>
      </p:sp>
      <p:sp>
        <p:nvSpPr>
          <p:cNvPr id="5" name="block-title-0">
            <a:extLst xmlns:a="http://schemas.openxmlformats.org/drawingml/2006/main">
              <a:ext uri="{FF2B5EF4-FFF2-40B4-BE49-F238E27FC236}">
                <a16:creationId xmlns:a16="http://schemas.microsoft.com/office/drawing/2014/main" id="{039DA492-B218-4F0F-A1E3-5C86430749F0}"/>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Qué se administra</a:t>
            </a:r>
          </a:p>
        </p:txBody>
      </p:sp>
      <p:sp>
        <p:nvSpPr>
          <p:cNvPr id="6" name="block-body-0">
            <a:extLst xmlns:a="http://schemas.openxmlformats.org/drawingml/2006/main">
              <a:ext uri="{FF2B5EF4-FFF2-40B4-BE49-F238E27FC236}">
                <a16:creationId xmlns:a16="http://schemas.microsoft.com/office/drawing/2014/main" id="{F27397BA-C03B-4CE6-B9F3-2F6BB75EB09C}"/>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Porción, componentes y correspondencia de la fotografía con el producto servido.</a:t>
            </a:r>
          </a:p>
        </p:txBody>
      </p:sp>
      <p:sp>
        <p:nvSpPr>
          <p:cNvPr id="7" name="block-title-1">
            <a:extLst xmlns:a="http://schemas.openxmlformats.org/drawingml/2006/main">
              <a:ext uri="{FF2B5EF4-FFF2-40B4-BE49-F238E27FC236}">
                <a16:creationId xmlns:a16="http://schemas.microsoft.com/office/drawing/2014/main" id="{FFB44E40-7452-4B90-B031-72F50B9A68FE}"/>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Cómo publicar</a:t>
            </a:r>
          </a:p>
        </p:txBody>
      </p:sp>
      <p:sp>
        <p:nvSpPr>
          <p:cNvPr id="8" name="block-body-1">
            <a:extLst xmlns:a="http://schemas.openxmlformats.org/drawingml/2006/main">
              <a:ext uri="{FF2B5EF4-FFF2-40B4-BE49-F238E27FC236}">
                <a16:creationId xmlns:a16="http://schemas.microsoft.com/office/drawing/2014/main" id="{A4758F13-5FD5-44ED-A41A-7092899D4AA7}"/>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Elegir el producto, documentar la fuente, confirmar con cocina y publicar la ficha revisada.</a:t>
            </a:r>
          </a:p>
        </p:txBody>
      </p:sp>
      <p:sp>
        <p:nvSpPr>
          <p:cNvPr id="9" name="block-title-2">
            <a:extLst xmlns:a="http://schemas.openxmlformats.org/drawingml/2006/main">
              <a:ext uri="{FF2B5EF4-FFF2-40B4-BE49-F238E27FC236}">
                <a16:creationId xmlns:a16="http://schemas.microsoft.com/office/drawing/2014/main" id="{875432C3-7E4E-4169-8FB5-49FBAD81FFB1}"/>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Valor para la casa</a:t>
            </a:r>
          </a:p>
        </p:txBody>
      </p:sp>
      <p:sp>
        <p:nvSpPr>
          <p:cNvPr id="10" name="block-body-2">
            <a:extLst xmlns:a="http://schemas.openxmlformats.org/drawingml/2006/main">
              <a:ext uri="{FF2B5EF4-FFF2-40B4-BE49-F238E27FC236}">
                <a16:creationId xmlns:a16="http://schemas.microsoft.com/office/drawing/2014/main" id="{3A9D0D6E-4C7A-4735-B2B5-B20F0A66FA2E}"/>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cliente decide con información comprobada y el equipo puede identificar la última revisión.</a:t>
            </a:r>
          </a:p>
        </p:txBody>
      </p:sp>
      <p:pic>
        <p:nvPicPr>
          <p:cNvPr id="11" name="">
            <a:extLst xmlns:a="http://schemas.openxmlformats.org/drawingml/2006/main">
              <a:ext uri="{FF2B5EF4-FFF2-40B4-BE49-F238E27FC236}">
                <a16:creationId xmlns:a16="http://schemas.microsoft.com/office/drawing/2014/main" id="{2731FD47-6765-4FE1-8842-E9307F7DC960}"/>
              </a:ext>
            </a:extLst>
          </p:cNvPr>
          <p:cNvPicPr>
            <a:picLocks xmlns:a="http://schemas.openxmlformats.org/drawingml/2006/main" noChangeAspect="1"/>
          </p:cNvPicPr>
          <p:nvPr/>
        </p:nvPicPr>
        <p:blipFill>
          <a:blip xmlns:r="http://schemas.openxmlformats.org/officeDocument/2006/relationships" xmlns:a="http://schemas.openxmlformats.org/drawingml/2006/main" r:embed="R741ca73b34544d79"/>
          <a:stretch xmlns:a="http://schemas.openxmlformats.org/drawingml/2006/main"/>
        </p:blipFill>
        <p:spPr>
          <a:xfrm xmlns:a="http://schemas.openxmlformats.org/drawingml/2006/main">
            <a:off x="5800725" y="2377317"/>
            <a:ext cx="8782050" cy="4941816"/>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E89135AF-399C-4583-B364-E8BAC620D673}"/>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9741132"/>
      </p:ext>
    </p:extLst>
  </p:cSld>
</p:sld>
</file>

<file path=ppt/slides/slide30.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191B9EEC-1B45-4C5C-A6EE-D642E50B381B}"/>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D6D3025F-6F4D-4530-9F8E-2EA84C28D336}"/>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Caja: cliente, sellos y recargas</a:t>
            </a:r>
          </a:p>
        </p:txBody>
      </p:sp>
      <p:sp>
        <p:nvSpPr>
          <p:cNvPr id="3" name="footer">
            <a:extLst xmlns:a="http://schemas.openxmlformats.org/drawingml/2006/main">
              <a:ext uri="{FF2B5EF4-FFF2-40B4-BE49-F238E27FC236}">
                <a16:creationId xmlns:a16="http://schemas.microsoft.com/office/drawing/2014/main" id="{4CF4A5C2-DB2D-410E-B8BC-F72064EE7B4B}"/>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20CAC342-9AE8-45B1-A3A4-10E13BF8D196}"/>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30</a:t>
            </a:r>
          </a:p>
        </p:txBody>
      </p:sp>
      <p:sp>
        <p:nvSpPr>
          <p:cNvPr id="5" name="block-title-0">
            <a:extLst xmlns:a="http://schemas.openxmlformats.org/drawingml/2006/main">
              <a:ext uri="{FF2B5EF4-FFF2-40B4-BE49-F238E27FC236}">
                <a16:creationId xmlns:a16="http://schemas.microsoft.com/office/drawing/2014/main" id="{F1CA55C3-B438-4938-8341-797B7B070980}"/>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Identificar al cliente</a:t>
            </a:r>
          </a:p>
        </p:txBody>
      </p:sp>
      <p:sp>
        <p:nvSpPr>
          <p:cNvPr id="6" name="block-body-0">
            <a:extLst xmlns:a="http://schemas.openxmlformats.org/drawingml/2006/main">
              <a:ext uri="{FF2B5EF4-FFF2-40B4-BE49-F238E27FC236}">
                <a16:creationId xmlns:a16="http://schemas.microsoft.com/office/drawing/2014/main" id="{C140F6E0-4EE1-4641-AB4F-34C6614099A9}"/>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Buscar por teléfono o código del pase. Verificar titular, saldo y movimientos recientes.</a:t>
            </a:r>
          </a:p>
        </p:txBody>
      </p:sp>
      <p:sp>
        <p:nvSpPr>
          <p:cNvPr id="7" name="block-title-1">
            <a:extLst xmlns:a="http://schemas.openxmlformats.org/drawingml/2006/main">
              <a:ext uri="{FF2B5EF4-FFF2-40B4-BE49-F238E27FC236}">
                <a16:creationId xmlns:a16="http://schemas.microsoft.com/office/drawing/2014/main" id="{7FCDF16E-8480-401E-A0A1-DFF03CBC5A6D}"/>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Registrar una compra</a:t>
            </a:r>
          </a:p>
        </p:txBody>
      </p:sp>
      <p:sp>
        <p:nvSpPr>
          <p:cNvPr id="8" name="block-body-1">
            <a:extLst xmlns:a="http://schemas.openxmlformats.org/drawingml/2006/main">
              <a:ext uri="{FF2B5EF4-FFF2-40B4-BE49-F238E27FC236}">
                <a16:creationId xmlns:a16="http://schemas.microsoft.com/office/drawing/2014/main" id="{C5485A3C-7833-451D-A41D-F4A7D8543B96}"/>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Usar la referencia del ticket para acreditar el sello que corresponda y evitar duplicados.</a:t>
            </a:r>
          </a:p>
        </p:txBody>
      </p:sp>
      <p:sp>
        <p:nvSpPr>
          <p:cNvPr id="9" name="block-title-2">
            <a:extLst xmlns:a="http://schemas.openxmlformats.org/drawingml/2006/main">
              <a:ext uri="{FF2B5EF4-FFF2-40B4-BE49-F238E27FC236}">
                <a16:creationId xmlns:a16="http://schemas.microsoft.com/office/drawing/2014/main" id="{8360F7F8-205B-4FAB-BE8E-3ADF16709E71}"/>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Registrar una recarga</a:t>
            </a:r>
          </a:p>
        </p:txBody>
      </p:sp>
      <p:sp>
        <p:nvSpPr>
          <p:cNvPr id="10" name="block-body-2">
            <a:extLst xmlns:a="http://schemas.openxmlformats.org/drawingml/2006/main">
              <a:ext uri="{FF2B5EF4-FFF2-40B4-BE49-F238E27FC236}">
                <a16:creationId xmlns:a16="http://schemas.microsoft.com/office/drawing/2014/main" id="{88999F58-B5B6-4A42-8B9B-21B50C75AD31}"/>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Después de recibir el pago, indicar importe y ticket, revisar y confirmar la recarga.</a:t>
            </a:r>
          </a:p>
        </p:txBody>
      </p:sp>
      <p:pic>
        <p:nvPicPr>
          <p:cNvPr id="11" name="">
            <a:extLst xmlns:a="http://schemas.openxmlformats.org/drawingml/2006/main">
              <a:ext uri="{FF2B5EF4-FFF2-40B4-BE49-F238E27FC236}">
                <a16:creationId xmlns:a16="http://schemas.microsoft.com/office/drawing/2014/main" id="{50167709-9B05-4D2C-82ED-9D43633E4721}"/>
              </a:ext>
            </a:extLst>
          </p:cNvPr>
          <p:cNvPicPr>
            <a:picLocks xmlns:a="http://schemas.openxmlformats.org/drawingml/2006/main" noChangeAspect="1"/>
          </p:cNvPicPr>
          <p:nvPr/>
        </p:nvPicPr>
        <p:blipFill>
          <a:blip xmlns:r="http://schemas.openxmlformats.org/officeDocument/2006/relationships" xmlns:a="http://schemas.openxmlformats.org/drawingml/2006/main" r:embed="R5e6d2ab19c76426d"/>
          <a:stretch xmlns:a="http://schemas.openxmlformats.org/drawingml/2006/main"/>
        </p:blipFill>
        <p:spPr>
          <a:xfrm xmlns:a="http://schemas.openxmlformats.org/drawingml/2006/main">
            <a:off x="8228519" y="2190750"/>
            <a:ext cx="3926462"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97B33DB5-C742-4A79-A294-3B8BE27DD1D5}"/>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1630195969"/>
      </p:ext>
    </p:extLst>
  </p:cSld>
</p:sld>
</file>

<file path=ppt/slides/slide31.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93308564-E356-409C-B95D-EB45BDD03B19}"/>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E244D91C-0F0D-4E24-A42A-8D05F975E455}"/>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Caja: premios y beneficios</a:t>
            </a:r>
          </a:p>
        </p:txBody>
      </p:sp>
      <p:sp>
        <p:nvSpPr>
          <p:cNvPr id="3" name="footer">
            <a:extLst xmlns:a="http://schemas.openxmlformats.org/drawingml/2006/main">
              <a:ext uri="{FF2B5EF4-FFF2-40B4-BE49-F238E27FC236}">
                <a16:creationId xmlns:a16="http://schemas.microsoft.com/office/drawing/2014/main" id="{9CAECA8C-C723-4636-9CD5-DA0368A61C06}"/>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97AC7457-9FFE-409E-95E2-CBC60072A1B7}"/>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31</a:t>
            </a:r>
          </a:p>
        </p:txBody>
      </p:sp>
      <p:sp>
        <p:nvSpPr>
          <p:cNvPr id="5" name="block-title-0">
            <a:extLst xmlns:a="http://schemas.openxmlformats.org/drawingml/2006/main">
              <a:ext uri="{FF2B5EF4-FFF2-40B4-BE49-F238E27FC236}">
                <a16:creationId xmlns:a16="http://schemas.microsoft.com/office/drawing/2014/main" id="{212C0729-CDE0-4FF8-A865-BF3D92081DFB}"/>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Beneficio de membresía</a:t>
            </a:r>
          </a:p>
        </p:txBody>
      </p:sp>
      <p:sp>
        <p:nvSpPr>
          <p:cNvPr id="6" name="block-body-0">
            <a:extLst xmlns:a="http://schemas.openxmlformats.org/drawingml/2006/main">
              <a:ext uri="{FF2B5EF4-FFF2-40B4-BE49-F238E27FC236}">
                <a16:creationId xmlns:a16="http://schemas.microsoft.com/office/drawing/2014/main" id="{73D5AB71-BE96-40C6-B6C2-F831C0AAEE93}"/>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Consultar el código de café o bolsa, comprobar titular y vigencia, y confirmar al entregar el producto.</a:t>
            </a:r>
          </a:p>
        </p:txBody>
      </p:sp>
      <p:sp>
        <p:nvSpPr>
          <p:cNvPr id="7" name="block-title-1">
            <a:extLst xmlns:a="http://schemas.openxmlformats.org/drawingml/2006/main">
              <a:ext uri="{FF2B5EF4-FFF2-40B4-BE49-F238E27FC236}">
                <a16:creationId xmlns:a16="http://schemas.microsoft.com/office/drawing/2014/main" id="{87C2716D-C790-4FFB-99C5-C7312972E272}"/>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Premio por sellos</a:t>
            </a:r>
          </a:p>
        </p:txBody>
      </p:sp>
      <p:sp>
        <p:nvSpPr>
          <p:cNvPr id="8" name="block-body-1">
            <a:extLst xmlns:a="http://schemas.openxmlformats.org/drawingml/2006/main">
              <a:ext uri="{FF2B5EF4-FFF2-40B4-BE49-F238E27FC236}">
                <a16:creationId xmlns:a16="http://schemas.microsoft.com/office/drawing/2014/main" id="{A830C7C9-647A-4EF5-934B-49837052376B}"/>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Consultar el código de premio y validar sus condiciones antes de registrar la bebida entregada.</a:t>
            </a:r>
          </a:p>
        </p:txBody>
      </p:sp>
      <p:sp>
        <p:nvSpPr>
          <p:cNvPr id="9" name="block-title-2">
            <a:extLst xmlns:a="http://schemas.openxmlformats.org/drawingml/2006/main">
              <a:ext uri="{FF2B5EF4-FFF2-40B4-BE49-F238E27FC236}">
                <a16:creationId xmlns:a16="http://schemas.microsoft.com/office/drawing/2014/main" id="{66533216-DAF1-4AEA-B193-58047ED0DFC9}"/>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Control de uso</a:t>
            </a:r>
          </a:p>
        </p:txBody>
      </p:sp>
      <p:sp>
        <p:nvSpPr>
          <p:cNvPr id="10" name="block-body-2">
            <a:extLst xmlns:a="http://schemas.openxmlformats.org/drawingml/2006/main">
              <a:ext uri="{FF2B5EF4-FFF2-40B4-BE49-F238E27FC236}">
                <a16:creationId xmlns:a16="http://schemas.microsoft.com/office/drawing/2014/main" id="{7E5940BF-7643-41C8-BC00-66B1B7A47A42}"/>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Un código vencido o una entrega ya registrada evita reutilizar el mismo beneficio.</a:t>
            </a:r>
          </a:p>
        </p:txBody>
      </p:sp>
      <p:pic>
        <p:nvPicPr>
          <p:cNvPr id="11" name="">
            <a:extLst xmlns:a="http://schemas.openxmlformats.org/drawingml/2006/main">
              <a:ext uri="{FF2B5EF4-FFF2-40B4-BE49-F238E27FC236}">
                <a16:creationId xmlns:a16="http://schemas.microsoft.com/office/drawing/2014/main" id="{8BB8D4B7-0BA0-457B-A9B5-2D4143DE088A}"/>
              </a:ext>
            </a:extLst>
          </p:cNvPr>
          <p:cNvPicPr>
            <a:picLocks xmlns:a="http://schemas.openxmlformats.org/drawingml/2006/main" noChangeAspect="1"/>
          </p:cNvPicPr>
          <p:nvPr/>
        </p:nvPicPr>
        <p:blipFill>
          <a:blip xmlns:r="http://schemas.openxmlformats.org/officeDocument/2006/relationships" xmlns:a="http://schemas.openxmlformats.org/drawingml/2006/main" r:embed="Raf366327ce45433c"/>
          <a:stretch xmlns:a="http://schemas.openxmlformats.org/drawingml/2006/main"/>
        </p:blipFill>
        <p:spPr>
          <a:xfrm xmlns:a="http://schemas.openxmlformats.org/drawingml/2006/main">
            <a:off x="7872258" y="2190750"/>
            <a:ext cx="4638984"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0EB884FF-5C37-4039-9142-D050D7BAAFFA}"/>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1957238057"/>
      </p:ext>
    </p:extLst>
  </p:cSld>
</p:sld>
</file>

<file path=ppt/slides/slide32.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5D5BBA2B-41CA-4B7B-8913-BD6C1565D387}"/>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66B73F7A-6FD7-4FCD-AB49-80CE437F7CBB}"/>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Caja: descuento de repostería</a:t>
            </a:r>
          </a:p>
        </p:txBody>
      </p:sp>
      <p:sp>
        <p:nvSpPr>
          <p:cNvPr id="3" name="footer">
            <a:extLst xmlns:a="http://schemas.openxmlformats.org/drawingml/2006/main">
              <a:ext uri="{FF2B5EF4-FFF2-40B4-BE49-F238E27FC236}">
                <a16:creationId xmlns:a16="http://schemas.microsoft.com/office/drawing/2014/main" id="{44D6A374-ECC2-411C-90A7-17CBD806A7BF}"/>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00670E29-F268-4B10-841C-49D33ADE7634}"/>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32</a:t>
            </a:r>
          </a:p>
        </p:txBody>
      </p:sp>
      <p:sp>
        <p:nvSpPr>
          <p:cNvPr id="5" name="block-title-0">
            <a:extLst xmlns:a="http://schemas.openxmlformats.org/drawingml/2006/main">
              <a:ext uri="{FF2B5EF4-FFF2-40B4-BE49-F238E27FC236}">
                <a16:creationId xmlns:a16="http://schemas.microsoft.com/office/drawing/2014/main" id="{CC952451-128F-400C-B834-E73F1BA610F1}"/>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Preparar la revisión</a:t>
            </a:r>
          </a:p>
        </p:txBody>
      </p:sp>
      <p:sp>
        <p:nvSpPr>
          <p:cNvPr id="6" name="block-body-0">
            <a:extLst xmlns:a="http://schemas.openxmlformats.org/drawingml/2006/main">
              <a:ext uri="{FF2B5EF4-FFF2-40B4-BE49-F238E27FC236}">
                <a16:creationId xmlns:a16="http://schemas.microsoft.com/office/drawing/2014/main" id="{D8401D94-93FF-41C7-B81E-FE2B3652D66A}"/>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Consultar el pase y seleccionar las porciones elegibles con cantidades y precios.</a:t>
            </a:r>
          </a:p>
        </p:txBody>
      </p:sp>
      <p:sp>
        <p:nvSpPr>
          <p:cNvPr id="7" name="block-title-1">
            <a:extLst xmlns:a="http://schemas.openxmlformats.org/drawingml/2006/main">
              <a:ext uri="{FF2B5EF4-FFF2-40B4-BE49-F238E27FC236}">
                <a16:creationId xmlns:a16="http://schemas.microsoft.com/office/drawing/2014/main" id="{ED806D5F-51CE-40D0-9F0C-0E431EE786D4}"/>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Aplicar en caja</a:t>
            </a:r>
          </a:p>
        </p:txBody>
      </p:sp>
      <p:sp>
        <p:nvSpPr>
          <p:cNvPr id="8" name="block-body-1">
            <a:extLst xmlns:a="http://schemas.openxmlformats.org/drawingml/2006/main">
              <a:ext uri="{FF2B5EF4-FFF2-40B4-BE49-F238E27FC236}">
                <a16:creationId xmlns:a16="http://schemas.microsoft.com/office/drawing/2014/main" id="{31339715-1820-44E5-84FD-F153FB96328B}"/>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Revisar el 15%, comprobar el ticket y confirmar el descuento aplicado en el comprobante físico.</a:t>
            </a:r>
          </a:p>
        </p:txBody>
      </p:sp>
      <p:sp>
        <p:nvSpPr>
          <p:cNvPr id="9" name="block-title-2">
            <a:extLst xmlns:a="http://schemas.openxmlformats.org/drawingml/2006/main">
              <a:ext uri="{FF2B5EF4-FFF2-40B4-BE49-F238E27FC236}">
                <a16:creationId xmlns:a16="http://schemas.microsoft.com/office/drawing/2014/main" id="{31CAB96E-F7C1-45E6-8102-60DD68259101}"/>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Conservar el registro</a:t>
            </a:r>
          </a:p>
        </p:txBody>
      </p:sp>
      <p:sp>
        <p:nvSpPr>
          <p:cNvPr id="10" name="block-body-2">
            <a:extLst xmlns:a="http://schemas.openxmlformats.org/drawingml/2006/main">
              <a:ext uri="{FF2B5EF4-FFF2-40B4-BE49-F238E27FC236}">
                <a16:creationId xmlns:a16="http://schemas.microsoft.com/office/drawing/2014/main" id="{F2BD2D0C-7292-4E58-B1DA-DA25CDE3B51A}"/>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La app registra el descuento. Una anulación deja el motivo y requiere resolver también la corrección de caja.</a:t>
            </a:r>
          </a:p>
        </p:txBody>
      </p:sp>
      <p:pic>
        <p:nvPicPr>
          <p:cNvPr id="11" name="">
            <a:extLst xmlns:a="http://schemas.openxmlformats.org/drawingml/2006/main">
              <a:ext uri="{FF2B5EF4-FFF2-40B4-BE49-F238E27FC236}">
                <a16:creationId xmlns:a16="http://schemas.microsoft.com/office/drawing/2014/main" id="{BE0D76FD-619E-4F38-AF46-9F4ED9359220}"/>
              </a:ext>
            </a:extLst>
          </p:cNvPr>
          <p:cNvPicPr>
            <a:picLocks xmlns:a="http://schemas.openxmlformats.org/drawingml/2006/main" noChangeAspect="1"/>
          </p:cNvPicPr>
          <p:nvPr/>
        </p:nvPicPr>
        <p:blipFill>
          <a:blip xmlns:r="http://schemas.openxmlformats.org/officeDocument/2006/relationships" xmlns:a="http://schemas.openxmlformats.org/drawingml/2006/main" r:embed="Re08d30df29e3452e"/>
          <a:stretch xmlns:a="http://schemas.openxmlformats.org/drawingml/2006/main"/>
        </p:blipFill>
        <p:spPr>
          <a:xfrm xmlns:a="http://schemas.openxmlformats.org/drawingml/2006/main">
            <a:off x="5800725" y="2613668"/>
            <a:ext cx="8782050" cy="4469114"/>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58D3FA40-46B8-4F52-B267-BAB7427D89A9}"/>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59896876"/>
      </p:ext>
    </p:extLst>
  </p:cSld>
</p:sld>
</file>

<file path=ppt/slides/slide33.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26CD6EC5-B1D1-47F1-BC80-E30E083308E2}"/>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D3A40990-D539-4D2F-84E8-A90CEC6EBE8F}"/>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Mi Club: condiciones y control</a:t>
            </a:r>
          </a:p>
        </p:txBody>
      </p:sp>
      <p:sp>
        <p:nvSpPr>
          <p:cNvPr id="3" name="footer">
            <a:extLst xmlns:a="http://schemas.openxmlformats.org/drawingml/2006/main">
              <a:ext uri="{FF2B5EF4-FFF2-40B4-BE49-F238E27FC236}">
                <a16:creationId xmlns:a16="http://schemas.microsoft.com/office/drawing/2014/main" id="{A54A8DA5-796D-45E8-AC00-93E38C8DE1C8}"/>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A72E50FF-1459-43C3-B0E6-61670B3869BB}"/>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33</a:t>
            </a:r>
          </a:p>
        </p:txBody>
      </p:sp>
      <p:sp>
        <p:nvSpPr>
          <p:cNvPr id="5" name="block-title-0">
            <a:extLst xmlns:a="http://schemas.openxmlformats.org/drawingml/2006/main">
              <a:ext uri="{FF2B5EF4-FFF2-40B4-BE49-F238E27FC236}">
                <a16:creationId xmlns:a16="http://schemas.microsoft.com/office/drawing/2014/main" id="{83835322-F643-4CC8-AB27-2B84598EDEA9}"/>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Condiciones del programa</a:t>
            </a:r>
          </a:p>
        </p:txBody>
      </p:sp>
      <p:sp>
        <p:nvSpPr>
          <p:cNvPr id="6" name="block-body-0">
            <a:extLst xmlns:a="http://schemas.openxmlformats.org/drawingml/2006/main">
              <a:ext uri="{FF2B5EF4-FFF2-40B4-BE49-F238E27FC236}">
                <a16:creationId xmlns:a16="http://schemas.microsoft.com/office/drawing/2014/main" id="{862ACEE1-5842-495E-BBFE-B25A84CD5013}"/>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Consultar cuota, período y beneficios. El propietario verifica condiciones operativas y costos reales.</a:t>
            </a:r>
          </a:p>
        </p:txBody>
      </p:sp>
      <p:sp>
        <p:nvSpPr>
          <p:cNvPr id="7" name="block-title-1">
            <a:extLst xmlns:a="http://schemas.openxmlformats.org/drawingml/2006/main">
              <a:ext uri="{FF2B5EF4-FFF2-40B4-BE49-F238E27FC236}">
                <a16:creationId xmlns:a16="http://schemas.microsoft.com/office/drawing/2014/main" id="{2B470BDF-B0C5-4F00-B130-F19F28A9768C}"/>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Membresías y espera</a:t>
            </a:r>
          </a:p>
        </p:txBody>
      </p:sp>
      <p:sp>
        <p:nvSpPr>
          <p:cNvPr id="8" name="block-body-1">
            <a:extLst xmlns:a="http://schemas.openxmlformats.org/drawingml/2006/main">
              <a:ext uri="{FF2B5EF4-FFF2-40B4-BE49-F238E27FC236}">
                <a16:creationId xmlns:a16="http://schemas.microsoft.com/office/drawing/2014/main" id="{95EE77A7-13DC-431C-AC90-7B1BC9A12DC9}"/>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Revisar personas que esperan una plaza y registrar el contacto realizado. Contactar no reserva ni cobra.</a:t>
            </a:r>
          </a:p>
        </p:txBody>
      </p:sp>
      <p:sp>
        <p:nvSpPr>
          <p:cNvPr id="9" name="block-title-2">
            <a:extLst xmlns:a="http://schemas.openxmlformats.org/drawingml/2006/main">
              <a:ext uri="{FF2B5EF4-FFF2-40B4-BE49-F238E27FC236}">
                <a16:creationId xmlns:a16="http://schemas.microsoft.com/office/drawing/2014/main" id="{CAC19897-ED53-46F4-BA09-924309FE751F}"/>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Sostenibilidad</a:t>
            </a:r>
          </a:p>
        </p:txBody>
      </p:sp>
      <p:sp>
        <p:nvSpPr>
          <p:cNvPr id="10" name="block-body-2">
            <a:extLst xmlns:a="http://schemas.openxmlformats.org/drawingml/2006/main">
              <a:ext uri="{FF2B5EF4-FFF2-40B4-BE49-F238E27FC236}">
                <a16:creationId xmlns:a16="http://schemas.microsoft.com/office/drawing/2014/main" id="{EA377CC5-B87C-404C-B09E-1188D5463B80}"/>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Seguir cobros, cafés, bolsas y descuentos. Los costos conocidos permiten estimar una contribución parcial.</a:t>
            </a:r>
          </a:p>
        </p:txBody>
      </p:sp>
      <p:pic>
        <p:nvPicPr>
          <p:cNvPr id="11" name="">
            <a:extLst xmlns:a="http://schemas.openxmlformats.org/drawingml/2006/main">
              <a:ext uri="{FF2B5EF4-FFF2-40B4-BE49-F238E27FC236}">
                <a16:creationId xmlns:a16="http://schemas.microsoft.com/office/drawing/2014/main" id="{8A993E7F-8082-4900-B0C8-56568AEB7289}"/>
              </a:ext>
            </a:extLst>
          </p:cNvPr>
          <p:cNvPicPr>
            <a:picLocks xmlns:a="http://schemas.openxmlformats.org/drawingml/2006/main" noChangeAspect="1"/>
          </p:cNvPicPr>
          <p:nvPr/>
        </p:nvPicPr>
        <p:blipFill>
          <a:blip xmlns:r="http://schemas.openxmlformats.org/officeDocument/2006/relationships" xmlns:a="http://schemas.openxmlformats.org/drawingml/2006/main" r:embed="Rf27ff1eaf72449a2"/>
          <a:stretch xmlns:a="http://schemas.openxmlformats.org/drawingml/2006/main"/>
        </p:blipFill>
        <p:spPr>
          <a:xfrm xmlns:a="http://schemas.openxmlformats.org/drawingml/2006/main">
            <a:off x="6279356" y="2190750"/>
            <a:ext cx="7824788"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C7B79921-E559-4CDA-AB12-E29757410AD7}"/>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353693636"/>
      </p:ext>
    </p:extLst>
  </p:cSld>
</p:sld>
</file>

<file path=ppt/slides/slide34.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2870BF9D-9A1C-4833-8CD0-67A77A92DA6E}"/>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45FF24F1-C34F-4A20-8A29-44DC5DFC59F5}"/>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Reglas del club y espera VIP</a:t>
            </a:r>
          </a:p>
        </p:txBody>
      </p:sp>
      <p:sp>
        <p:nvSpPr>
          <p:cNvPr id="3" name="footer">
            <a:extLst xmlns:a="http://schemas.openxmlformats.org/drawingml/2006/main">
              <a:ext uri="{FF2B5EF4-FFF2-40B4-BE49-F238E27FC236}">
                <a16:creationId xmlns:a16="http://schemas.microsoft.com/office/drawing/2014/main" id="{47D17DC4-8AED-46D1-AE68-BEDABB9B3F34}"/>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EE5C030F-8368-4CF7-B6AE-DB972BAD5B3E}"/>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34</a:t>
            </a:r>
          </a:p>
        </p:txBody>
      </p:sp>
      <p:sp>
        <p:nvSpPr>
          <p:cNvPr id="5" name="block-title-0">
            <a:extLst xmlns:a="http://schemas.openxmlformats.org/drawingml/2006/main">
              <a:ext uri="{FF2B5EF4-FFF2-40B4-BE49-F238E27FC236}">
                <a16:creationId xmlns:a16="http://schemas.microsoft.com/office/drawing/2014/main" id="{A066B4AA-B81D-40FF-A070-501A581ACB3F}"/>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Activación por propietario</a:t>
            </a:r>
          </a:p>
        </p:txBody>
      </p:sp>
      <p:sp>
        <p:nvSpPr>
          <p:cNvPr id="6" name="block-body-0">
            <a:extLst xmlns:a="http://schemas.openxmlformats.org/drawingml/2006/main">
              <a:ext uri="{FF2B5EF4-FFF2-40B4-BE49-F238E27FC236}">
                <a16:creationId xmlns:a16="http://schemas.microsoft.com/office/drawing/2014/main" id="{B2115F3E-2D82-41D9-81CC-5509A6D24253}"/>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La versión aprobada exige comprobar costos, presentaciones, postres y mesas antes de habilitarla.</a:t>
            </a:r>
          </a:p>
        </p:txBody>
      </p:sp>
      <p:sp>
        <p:nvSpPr>
          <p:cNvPr id="7" name="block-title-1">
            <a:extLst xmlns:a="http://schemas.openxmlformats.org/drawingml/2006/main">
              <a:ext uri="{FF2B5EF4-FFF2-40B4-BE49-F238E27FC236}">
                <a16:creationId xmlns:a16="http://schemas.microsoft.com/office/drawing/2014/main" id="{1DFA8528-087F-47CC-B49B-850C0E7C4DA9}"/>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Regla de sellos aprobada</a:t>
            </a:r>
          </a:p>
        </p:txBody>
      </p:sp>
      <p:sp>
        <p:nvSpPr>
          <p:cNvPr id="8" name="block-body-1">
            <a:extLst xmlns:a="http://schemas.openxmlformats.org/drawingml/2006/main">
              <a:ext uri="{FF2B5EF4-FFF2-40B4-BE49-F238E27FC236}">
                <a16:creationId xmlns:a16="http://schemas.microsoft.com/office/drawing/2014/main" id="{E1654684-B2D4-44C2-8027-856D93382B4C}"/>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Un sello por ticket con al menos C$100 netos elegibles. Sus exclusiones aparecen en el panel.</a:t>
            </a:r>
          </a:p>
        </p:txBody>
      </p:sp>
      <p:sp>
        <p:nvSpPr>
          <p:cNvPr id="9" name="block-title-2">
            <a:extLst xmlns:a="http://schemas.openxmlformats.org/drawingml/2006/main">
              <a:ext uri="{FF2B5EF4-FFF2-40B4-BE49-F238E27FC236}">
                <a16:creationId xmlns:a16="http://schemas.microsoft.com/office/drawing/2014/main" id="{80C474C4-4FD3-48BF-89CE-AC800BC734AE}"/>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Prioridad VIP</a:t>
            </a:r>
          </a:p>
        </p:txBody>
      </p:sp>
      <p:sp>
        <p:nvSpPr>
          <p:cNvPr id="10" name="block-body-2">
            <a:extLst xmlns:a="http://schemas.openxmlformats.org/drawingml/2006/main">
              <a:ext uri="{FF2B5EF4-FFF2-40B4-BE49-F238E27FC236}">
                <a16:creationId xmlns:a16="http://schemas.microsoft.com/office/drawing/2014/main" id="{E4904B04-357A-4A20-8209-4C0C3ABDC20B}"/>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La lista ordena solicitudes comparables. Registrar una oferta o gestión no crea una reserva.</a:t>
            </a:r>
          </a:p>
        </p:txBody>
      </p:sp>
      <p:pic>
        <p:nvPicPr>
          <p:cNvPr id="11" name="">
            <a:extLst xmlns:a="http://schemas.openxmlformats.org/drawingml/2006/main">
              <a:ext uri="{FF2B5EF4-FFF2-40B4-BE49-F238E27FC236}">
                <a16:creationId xmlns:a16="http://schemas.microsoft.com/office/drawing/2014/main" id="{D883A91A-C010-4186-9306-8DD6DC96F447}"/>
              </a:ext>
            </a:extLst>
          </p:cNvPr>
          <p:cNvPicPr>
            <a:picLocks xmlns:a="http://schemas.openxmlformats.org/drawingml/2006/main" noChangeAspect="1"/>
          </p:cNvPicPr>
          <p:nvPr/>
        </p:nvPicPr>
        <p:blipFill>
          <a:blip xmlns:r="http://schemas.openxmlformats.org/officeDocument/2006/relationships" xmlns:a="http://schemas.openxmlformats.org/drawingml/2006/main" r:embed="R098742b882fd428a"/>
          <a:stretch xmlns:a="http://schemas.openxmlformats.org/drawingml/2006/main"/>
        </p:blipFill>
        <p:spPr>
          <a:xfrm xmlns:a="http://schemas.openxmlformats.org/drawingml/2006/main">
            <a:off x="5800725" y="2859259"/>
            <a:ext cx="8782050" cy="3977932"/>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D4AA830C-9514-43C0-A200-98A2C081F566}"/>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137685309"/>
      </p:ext>
    </p:extLst>
  </p:cSld>
</p:sld>
</file>

<file path=ppt/slides/slide35.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5A86BD5F-8BDB-4EAD-AC50-2DA66699D494}"/>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13961882-B600-425B-ABC4-1FD38F5D6ADD}"/>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Beneficios: revisión y reposiciones</a:t>
            </a:r>
          </a:p>
        </p:txBody>
      </p:sp>
      <p:sp>
        <p:nvSpPr>
          <p:cNvPr id="3" name="footer">
            <a:extLst xmlns:a="http://schemas.openxmlformats.org/drawingml/2006/main">
              <a:ext uri="{FF2B5EF4-FFF2-40B4-BE49-F238E27FC236}">
                <a16:creationId xmlns:a16="http://schemas.microsoft.com/office/drawing/2014/main" id="{4427F65C-45E7-4A93-931E-3A71EBAB1A62}"/>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44C8D056-B421-4793-84DB-819128D8356B}"/>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35</a:t>
            </a:r>
          </a:p>
        </p:txBody>
      </p:sp>
      <p:sp>
        <p:nvSpPr>
          <p:cNvPr id="5" name="block-title-0">
            <a:extLst xmlns:a="http://schemas.openxmlformats.org/drawingml/2006/main">
              <a:ext uri="{FF2B5EF4-FFF2-40B4-BE49-F238E27FC236}">
                <a16:creationId xmlns:a16="http://schemas.microsoft.com/office/drawing/2014/main" id="{C082F2CA-8F61-4032-BDC4-F46CE2623C3D}"/>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Localizar una entrega</a:t>
            </a:r>
          </a:p>
        </p:txBody>
      </p:sp>
      <p:sp>
        <p:nvSpPr>
          <p:cNvPr id="6" name="block-body-0">
            <a:extLst xmlns:a="http://schemas.openxmlformats.org/drawingml/2006/main">
              <a:ext uri="{FF2B5EF4-FFF2-40B4-BE49-F238E27FC236}">
                <a16:creationId xmlns:a16="http://schemas.microsoft.com/office/drawing/2014/main" id="{0672AFE6-9709-4FE3-B27C-10D39FDE1489}"/>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Administración busca por nombre o pase y comprueba el registro original del café o la bolsa.</a:t>
            </a:r>
          </a:p>
        </p:txBody>
      </p:sp>
      <p:sp>
        <p:nvSpPr>
          <p:cNvPr id="7" name="block-title-1">
            <a:extLst xmlns:a="http://schemas.openxmlformats.org/drawingml/2006/main">
              <a:ext uri="{FF2B5EF4-FFF2-40B4-BE49-F238E27FC236}">
                <a16:creationId xmlns:a16="http://schemas.microsoft.com/office/drawing/2014/main" id="{21E1EF0A-CB09-44E6-8B22-7443FFF42324}"/>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Documentar el caso</a:t>
            </a:r>
          </a:p>
        </p:txBody>
      </p:sp>
      <p:sp>
        <p:nvSpPr>
          <p:cNvPr id="8" name="block-body-1">
            <a:extLst xmlns:a="http://schemas.openxmlformats.org/drawingml/2006/main">
              <a:ext uri="{FF2B5EF4-FFF2-40B4-BE49-F238E27FC236}">
                <a16:creationId xmlns:a16="http://schemas.microsoft.com/office/drawing/2014/main" id="{FFC565E6-C08A-4D1D-8B59-4A5F35CF0B59}"/>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Si hubo un error, escribe qué verificó y confirma la autorización de una reposición.</a:t>
            </a:r>
          </a:p>
        </p:txBody>
      </p:sp>
      <p:sp>
        <p:nvSpPr>
          <p:cNvPr id="9" name="block-title-2">
            <a:extLst xmlns:a="http://schemas.openxmlformats.org/drawingml/2006/main">
              <a:ext uri="{FF2B5EF4-FFF2-40B4-BE49-F238E27FC236}">
                <a16:creationId xmlns:a16="http://schemas.microsoft.com/office/drawing/2014/main" id="{0730D282-82AC-4528-89DB-392D78895C0D}"/>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Entregar una sola vez</a:t>
            </a:r>
          </a:p>
        </p:txBody>
      </p:sp>
      <p:sp>
        <p:nvSpPr>
          <p:cNvPr id="10" name="block-body-2">
            <a:extLst xmlns:a="http://schemas.openxmlformats.org/drawingml/2006/main">
              <a:ext uri="{FF2B5EF4-FFF2-40B4-BE49-F238E27FC236}">
                <a16:creationId xmlns:a16="http://schemas.microsoft.com/office/drawing/2014/main" id="{ACB76FCC-262E-453B-81E3-8B3D001113D7}"/>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cliente obtiene el código en Mi Club y caja registra la entrega adicional. El historial original permanece.</a:t>
            </a:r>
          </a:p>
        </p:txBody>
      </p:sp>
      <p:pic>
        <p:nvPicPr>
          <p:cNvPr id="11" name="">
            <a:extLst xmlns:a="http://schemas.openxmlformats.org/drawingml/2006/main">
              <a:ext uri="{FF2B5EF4-FFF2-40B4-BE49-F238E27FC236}">
                <a16:creationId xmlns:a16="http://schemas.microsoft.com/office/drawing/2014/main" id="{BDCE0B16-DC59-4AC6-A72C-126D0D7ECB22}"/>
              </a:ext>
            </a:extLst>
          </p:cNvPr>
          <p:cNvPicPr>
            <a:picLocks xmlns:a="http://schemas.openxmlformats.org/drawingml/2006/main" noChangeAspect="1"/>
          </p:cNvPicPr>
          <p:nvPr/>
        </p:nvPicPr>
        <p:blipFill>
          <a:blip xmlns:r="http://schemas.openxmlformats.org/officeDocument/2006/relationships" xmlns:a="http://schemas.openxmlformats.org/drawingml/2006/main" r:embed="R6d257733b9234988"/>
          <a:stretch xmlns:a="http://schemas.openxmlformats.org/drawingml/2006/main"/>
        </p:blipFill>
        <p:spPr>
          <a:xfrm xmlns:a="http://schemas.openxmlformats.org/drawingml/2006/main">
            <a:off x="5800725" y="3486548"/>
            <a:ext cx="8782050" cy="2723353"/>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38E22A63-1EAB-4AE2-BB74-E90C2817E0BC}"/>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993600331"/>
      </p:ext>
    </p:extLst>
  </p:cSld>
</p:sld>
</file>

<file path=ppt/slides/slide36.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71B48884-3C78-4FA8-BD90-EED76B6F27B6}"/>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D5D5CB9F-63A6-448E-9DAC-A0A0C18E218A}"/>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Experiencias: publicación y seguimiento</a:t>
            </a:r>
          </a:p>
        </p:txBody>
      </p:sp>
      <p:sp>
        <p:nvSpPr>
          <p:cNvPr id="3" name="footer">
            <a:extLst xmlns:a="http://schemas.openxmlformats.org/drawingml/2006/main">
              <a:ext uri="{FF2B5EF4-FFF2-40B4-BE49-F238E27FC236}">
                <a16:creationId xmlns:a16="http://schemas.microsoft.com/office/drawing/2014/main" id="{F9498309-4410-4D4B-98D0-1E76EE8764A3}"/>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C48AD0A1-73C5-4585-AC0C-89D65BF7D03F}"/>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36</a:t>
            </a:r>
          </a:p>
        </p:txBody>
      </p:sp>
      <p:sp>
        <p:nvSpPr>
          <p:cNvPr id="5" name="block-title-0">
            <a:extLst xmlns:a="http://schemas.openxmlformats.org/drawingml/2006/main">
              <a:ext uri="{FF2B5EF4-FFF2-40B4-BE49-F238E27FC236}">
                <a16:creationId xmlns:a16="http://schemas.microsoft.com/office/drawing/2014/main" id="{74DC4604-5CC9-4062-A02A-7BD74D0BD707}"/>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Preparar la actividad</a:t>
            </a:r>
          </a:p>
        </p:txBody>
      </p:sp>
      <p:sp>
        <p:nvSpPr>
          <p:cNvPr id="6" name="block-body-0">
            <a:extLst xmlns:a="http://schemas.openxmlformats.org/drawingml/2006/main">
              <a:ext uri="{FF2B5EF4-FFF2-40B4-BE49-F238E27FC236}">
                <a16:creationId xmlns:a16="http://schemas.microsoft.com/office/drawing/2014/main" id="{650F5044-6828-4277-B2E1-857618CBE466}"/>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Completar nombre, fecha, duración, lugar, cupos, precio, contenido y condiciones.</a:t>
            </a:r>
          </a:p>
        </p:txBody>
      </p:sp>
      <p:sp>
        <p:nvSpPr>
          <p:cNvPr id="7" name="block-title-1">
            <a:extLst xmlns:a="http://schemas.openxmlformats.org/drawingml/2006/main">
              <a:ext uri="{FF2B5EF4-FFF2-40B4-BE49-F238E27FC236}">
                <a16:creationId xmlns:a16="http://schemas.microsoft.com/office/drawing/2014/main" id="{EEC97FDA-8E55-40BC-9F5D-01142682D2E0}"/>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Abrir la venta</a:t>
            </a:r>
          </a:p>
        </p:txBody>
      </p:sp>
      <p:sp>
        <p:nvSpPr>
          <p:cNvPr id="8" name="block-body-1">
            <a:extLst xmlns:a="http://schemas.openxmlformats.org/drawingml/2006/main">
              <a:ext uri="{FF2B5EF4-FFF2-40B4-BE49-F238E27FC236}">
                <a16:creationId xmlns:a16="http://schemas.microsoft.com/office/drawing/2014/main" id="{85FC17E6-86C4-4D15-B398-291B08B17BD3}"/>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Programar el acceso de socios. El público entra 48 horas después. Revisar los datos y confirmar la publicación.</a:t>
            </a:r>
          </a:p>
        </p:txBody>
      </p:sp>
      <p:sp>
        <p:nvSpPr>
          <p:cNvPr id="9" name="block-title-2">
            <a:extLst xmlns:a="http://schemas.openxmlformats.org/drawingml/2006/main">
              <a:ext uri="{FF2B5EF4-FFF2-40B4-BE49-F238E27FC236}">
                <a16:creationId xmlns:a16="http://schemas.microsoft.com/office/drawing/2014/main" id="{CE76C12C-7968-46DB-B016-97731DA492F6}"/>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Si se cancela</a:t>
            </a:r>
          </a:p>
        </p:txBody>
      </p:sp>
      <p:sp>
        <p:nvSpPr>
          <p:cNvPr id="10" name="block-body-2">
            <a:extLst xmlns:a="http://schemas.openxmlformats.org/drawingml/2006/main">
              <a:ext uri="{FF2B5EF4-FFF2-40B4-BE49-F238E27FC236}">
                <a16:creationId xmlns:a16="http://schemas.microsoft.com/office/drawing/2014/main" id="{46B12FCB-ABC4-4494-BD3B-14A074094474}"/>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Administración documenta el motivo y procesa devoluciones comprobadas de entradas sin asistencia.</a:t>
            </a:r>
          </a:p>
        </p:txBody>
      </p:sp>
      <p:pic>
        <p:nvPicPr>
          <p:cNvPr id="11" name="">
            <a:extLst xmlns:a="http://schemas.openxmlformats.org/drawingml/2006/main">
              <a:ext uri="{FF2B5EF4-FFF2-40B4-BE49-F238E27FC236}">
                <a16:creationId xmlns:a16="http://schemas.microsoft.com/office/drawing/2014/main" id="{EFA14B45-5193-4D06-8BC6-0366F8A75D1B}"/>
              </a:ext>
            </a:extLst>
          </p:cNvPr>
          <p:cNvPicPr>
            <a:picLocks xmlns:a="http://schemas.openxmlformats.org/drawingml/2006/main" noChangeAspect="1"/>
          </p:cNvPicPr>
          <p:nvPr/>
        </p:nvPicPr>
        <p:blipFill>
          <a:blip xmlns:r="http://schemas.openxmlformats.org/officeDocument/2006/relationships" xmlns:a="http://schemas.openxmlformats.org/drawingml/2006/main" r:embed="R9dd6da10fe8b42d7"/>
          <a:stretch xmlns:a="http://schemas.openxmlformats.org/drawingml/2006/main"/>
        </p:blipFill>
        <p:spPr>
          <a:xfrm xmlns:a="http://schemas.openxmlformats.org/drawingml/2006/main">
            <a:off x="5800725" y="3939340"/>
            <a:ext cx="8782050" cy="1817769"/>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697745AD-4831-4295-A531-8D470F0A1DAB}"/>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257883000"/>
      </p:ext>
    </p:extLst>
  </p:cSld>
</p:sld>
</file>

<file path=ppt/slides/slide37.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026A9C08-9750-4DA1-9F9E-24A8C2486C8B}"/>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BD3BAF10-BFEF-4CE5-B9F1-B06AF3DBED32}"/>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Tienda: lotes, bolsas y devoluciones</a:t>
            </a:r>
          </a:p>
        </p:txBody>
      </p:sp>
      <p:sp>
        <p:nvSpPr>
          <p:cNvPr id="3" name="footer">
            <a:extLst xmlns:a="http://schemas.openxmlformats.org/drawingml/2006/main">
              <a:ext uri="{FF2B5EF4-FFF2-40B4-BE49-F238E27FC236}">
                <a16:creationId xmlns:a16="http://schemas.microsoft.com/office/drawing/2014/main" id="{18F2D5B8-DA75-4A87-AD0A-9B15DF648B29}"/>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BCD1EF32-C77D-40A0-A9C1-043B21C53223}"/>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37</a:t>
            </a:r>
          </a:p>
        </p:txBody>
      </p:sp>
      <p:sp>
        <p:nvSpPr>
          <p:cNvPr id="5" name="block-title-0">
            <a:extLst xmlns:a="http://schemas.openxmlformats.org/drawingml/2006/main">
              <a:ext uri="{FF2B5EF4-FFF2-40B4-BE49-F238E27FC236}">
                <a16:creationId xmlns:a16="http://schemas.microsoft.com/office/drawing/2014/main" id="{DF212521-D0CA-46DB-A906-19A1CF9E9B8F}"/>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Ficha del lote</a:t>
            </a:r>
          </a:p>
        </p:txBody>
      </p:sp>
      <p:sp>
        <p:nvSpPr>
          <p:cNvPr id="6" name="block-body-0">
            <a:extLst xmlns:a="http://schemas.openxmlformats.org/drawingml/2006/main">
              <a:ext uri="{FF2B5EF4-FFF2-40B4-BE49-F238E27FC236}">
                <a16:creationId xmlns:a16="http://schemas.microsoft.com/office/drawing/2014/main" id="{DF4AB6C6-2C7A-4369-8A20-27886F21988C}"/>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propietario confirma presentación, origen, retiro, condiciones y fuente antes de habilitar preventas.</a:t>
            </a:r>
          </a:p>
        </p:txBody>
      </p:sp>
      <p:sp>
        <p:nvSpPr>
          <p:cNvPr id="7" name="block-title-1">
            <a:extLst xmlns:a="http://schemas.openxmlformats.org/drawingml/2006/main">
              <a:ext uri="{FF2B5EF4-FFF2-40B4-BE49-F238E27FC236}">
                <a16:creationId xmlns:a16="http://schemas.microsoft.com/office/drawing/2014/main" id="{07231849-8BBD-4BEC-ABCD-61769077C1BD}"/>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Seguimiento de bolsas</a:t>
            </a:r>
          </a:p>
        </p:txBody>
      </p:sp>
      <p:sp>
        <p:nvSpPr>
          <p:cNvPr id="8" name="block-body-1">
            <a:extLst xmlns:a="http://schemas.openxmlformats.org/drawingml/2006/main">
              <a:ext uri="{FF2B5EF4-FFF2-40B4-BE49-F238E27FC236}">
                <a16:creationId xmlns:a16="http://schemas.microsoft.com/office/drawing/2014/main" id="{3C375347-E5AF-4614-9F62-D616BE48BCA3}"/>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Filtrar compras y pasar de pagada a lista para retiro y después a entregada.</a:t>
            </a:r>
          </a:p>
        </p:txBody>
      </p:sp>
      <p:sp>
        <p:nvSpPr>
          <p:cNvPr id="9" name="block-title-2">
            <a:extLst xmlns:a="http://schemas.openxmlformats.org/drawingml/2006/main">
              <a:ext uri="{FF2B5EF4-FFF2-40B4-BE49-F238E27FC236}">
                <a16:creationId xmlns:a16="http://schemas.microsoft.com/office/drawing/2014/main" id="{AFCDDE8E-6795-4A81-890F-A6EA70C3633F}"/>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Resolver incidencias</a:t>
            </a:r>
          </a:p>
        </p:txBody>
      </p:sp>
      <p:sp>
        <p:nvSpPr>
          <p:cNvPr id="10" name="block-body-2">
            <a:extLst xmlns:a="http://schemas.openxmlformats.org/drawingml/2006/main">
              <a:ext uri="{FF2B5EF4-FFF2-40B4-BE49-F238E27FC236}">
                <a16:creationId xmlns:a16="http://schemas.microsoft.com/office/drawing/2014/main" id="{04524620-FCCF-4B97-A61F-B65A955055C7}"/>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Administración puede cancelar y devolver a Cuenta de Casa cuando existe un cobro conciliado.</a:t>
            </a:r>
          </a:p>
        </p:txBody>
      </p:sp>
      <p:pic>
        <p:nvPicPr>
          <p:cNvPr id="11" name="">
            <a:extLst xmlns:a="http://schemas.openxmlformats.org/drawingml/2006/main">
              <a:ext uri="{FF2B5EF4-FFF2-40B4-BE49-F238E27FC236}">
                <a16:creationId xmlns:a16="http://schemas.microsoft.com/office/drawing/2014/main" id="{A23679FA-1F71-4F76-9C68-D0D5037D5F17}"/>
              </a:ext>
            </a:extLst>
          </p:cNvPr>
          <p:cNvPicPr>
            <a:picLocks xmlns:a="http://schemas.openxmlformats.org/drawingml/2006/main" noChangeAspect="1"/>
          </p:cNvPicPr>
          <p:nvPr/>
        </p:nvPicPr>
        <p:blipFill>
          <a:blip xmlns:r="http://schemas.openxmlformats.org/officeDocument/2006/relationships" xmlns:a="http://schemas.openxmlformats.org/drawingml/2006/main" r:embed="R5953c6e840d94148"/>
          <a:stretch xmlns:a="http://schemas.openxmlformats.org/drawingml/2006/main"/>
        </p:blipFill>
        <p:spPr>
          <a:xfrm xmlns:a="http://schemas.openxmlformats.org/drawingml/2006/main">
            <a:off x="5800725" y="3528623"/>
            <a:ext cx="8782050" cy="2639205"/>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52EFEEEF-2050-48DC-8F43-05D6F41A72EB}"/>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1183047653"/>
      </p:ext>
    </p:extLst>
  </p:cSld>
</p:sld>
</file>

<file path=ppt/slides/slide38.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7067CD04-7ED4-4291-AF77-539D50FC6C7A}"/>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036713B7-504A-4947-9F96-3DDCD302F5E5}"/>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Entregas: retiro y asistencia</a:t>
            </a:r>
          </a:p>
        </p:txBody>
      </p:sp>
      <p:sp>
        <p:nvSpPr>
          <p:cNvPr id="3" name="footer">
            <a:extLst xmlns:a="http://schemas.openxmlformats.org/drawingml/2006/main">
              <a:ext uri="{FF2B5EF4-FFF2-40B4-BE49-F238E27FC236}">
                <a16:creationId xmlns:a16="http://schemas.microsoft.com/office/drawing/2014/main" id="{C07139C1-A031-4D09-A62D-458AC8A14C0F}"/>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08F178B9-BA8E-49E1-BCEB-1E928ACBC4D0}"/>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38</a:t>
            </a:r>
          </a:p>
        </p:txBody>
      </p:sp>
      <p:sp>
        <p:nvSpPr>
          <p:cNvPr id="5" name="block-title-0">
            <a:extLst xmlns:a="http://schemas.openxmlformats.org/drawingml/2006/main">
              <a:ext uri="{FF2B5EF4-FFF2-40B4-BE49-F238E27FC236}">
                <a16:creationId xmlns:a16="http://schemas.microsoft.com/office/drawing/2014/main" id="{0DE4614C-3125-46CF-93C1-B3B4074BE404}"/>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Bandeja de pendientes</a:t>
            </a:r>
          </a:p>
        </p:txBody>
      </p:sp>
      <p:sp>
        <p:nvSpPr>
          <p:cNvPr id="6" name="block-body-0">
            <a:extLst xmlns:a="http://schemas.openxmlformats.org/drawingml/2006/main">
              <a:ext uri="{FF2B5EF4-FFF2-40B4-BE49-F238E27FC236}">
                <a16:creationId xmlns:a16="http://schemas.microsoft.com/office/drawing/2014/main" id="{4C4B5C83-7EA8-4FA5-84AB-AE028952C113}"/>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Buscar por cliente, teléfono o comprobante. Filtrar bolsas, asistencias, completadas o historial.</a:t>
            </a:r>
          </a:p>
        </p:txBody>
      </p:sp>
      <p:sp>
        <p:nvSpPr>
          <p:cNvPr id="7" name="block-title-1">
            <a:extLst xmlns:a="http://schemas.openxmlformats.org/drawingml/2006/main">
              <a:ext uri="{FF2B5EF4-FFF2-40B4-BE49-F238E27FC236}">
                <a16:creationId xmlns:a16="http://schemas.microsoft.com/office/drawing/2014/main" id="{BAA84CA9-0AB2-4F14-88EA-A1367DE1759D}"/>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Confirmar lo ocurrido</a:t>
            </a:r>
          </a:p>
        </p:txBody>
      </p:sp>
      <p:sp>
        <p:nvSpPr>
          <p:cNvPr id="8" name="block-body-1">
            <a:extLst xmlns:a="http://schemas.openxmlformats.org/drawingml/2006/main">
              <a:ext uri="{FF2B5EF4-FFF2-40B4-BE49-F238E27FC236}">
                <a16:creationId xmlns:a16="http://schemas.microsoft.com/office/drawing/2014/main" id="{3E4BBF06-0450-48BA-B1BD-839AAC83AB62}"/>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Registrar entrega después de entregar la bolsa, o asistencia cuando la persona acude a la experiencia.</a:t>
            </a:r>
          </a:p>
        </p:txBody>
      </p:sp>
      <p:sp>
        <p:nvSpPr>
          <p:cNvPr id="9" name="block-title-2">
            <a:extLst xmlns:a="http://schemas.openxmlformats.org/drawingml/2006/main">
              <a:ext uri="{FF2B5EF4-FFF2-40B4-BE49-F238E27FC236}">
                <a16:creationId xmlns:a16="http://schemas.microsoft.com/office/drawing/2014/main" id="{D5D582C3-4EBB-45F1-B877-67C75BBBF315}"/>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Valor para la casa</a:t>
            </a:r>
          </a:p>
        </p:txBody>
      </p:sp>
      <p:sp>
        <p:nvSpPr>
          <p:cNvPr id="10" name="block-body-2">
            <a:extLst xmlns:a="http://schemas.openxmlformats.org/drawingml/2006/main">
              <a:ext uri="{FF2B5EF4-FFF2-40B4-BE49-F238E27FC236}">
                <a16:creationId xmlns:a16="http://schemas.microsoft.com/office/drawing/2014/main" id="{2599A0E2-146B-447B-AD18-8AD03B95B5CC}"/>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Cada confirmación queda asociada al acceso del empleado y evita dejar retiros sin registrar.</a:t>
            </a:r>
          </a:p>
        </p:txBody>
      </p:sp>
      <p:pic>
        <p:nvPicPr>
          <p:cNvPr id="11" name="">
            <a:extLst xmlns:a="http://schemas.openxmlformats.org/drawingml/2006/main">
              <a:ext uri="{FF2B5EF4-FFF2-40B4-BE49-F238E27FC236}">
                <a16:creationId xmlns:a16="http://schemas.microsoft.com/office/drawing/2014/main" id="{E6E4AEFA-B11A-44BB-BB52-EF80F01786CD}"/>
              </a:ext>
            </a:extLst>
          </p:cNvPr>
          <p:cNvPicPr>
            <a:picLocks xmlns:a="http://schemas.openxmlformats.org/drawingml/2006/main" noChangeAspect="1"/>
          </p:cNvPicPr>
          <p:nvPr/>
        </p:nvPicPr>
        <p:blipFill>
          <a:blip xmlns:r="http://schemas.openxmlformats.org/officeDocument/2006/relationships" xmlns:a="http://schemas.openxmlformats.org/drawingml/2006/main" r:embed="R013709b3a8554a05"/>
          <a:stretch xmlns:a="http://schemas.openxmlformats.org/drawingml/2006/main"/>
        </p:blipFill>
        <p:spPr>
          <a:xfrm xmlns:a="http://schemas.openxmlformats.org/drawingml/2006/main">
            <a:off x="5800725" y="4220936"/>
            <a:ext cx="8782050" cy="1254579"/>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E2579714-C342-4B24-AE5B-DC6FB669502C}"/>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2133735020"/>
      </p:ext>
    </p:extLst>
  </p:cSld>
</p:sld>
</file>

<file path=ppt/slides/slide39.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C216E0AE-BE6E-47AA-BEF8-0DCEF6DE3057}"/>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0A4AE7AB-2E26-4845-BADE-D77DA2E3EFC0}"/>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Agenda: acompañar cada visita</a:t>
            </a:r>
          </a:p>
        </p:txBody>
      </p:sp>
      <p:sp>
        <p:nvSpPr>
          <p:cNvPr id="3" name="footer">
            <a:extLst xmlns:a="http://schemas.openxmlformats.org/drawingml/2006/main">
              <a:ext uri="{FF2B5EF4-FFF2-40B4-BE49-F238E27FC236}">
                <a16:creationId xmlns:a16="http://schemas.microsoft.com/office/drawing/2014/main" id="{4B928E32-A995-4086-97C2-90FA307984A3}"/>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2D2BD774-BB1E-4AFA-9776-5C4F7134C20D}"/>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39</a:t>
            </a:r>
          </a:p>
        </p:txBody>
      </p:sp>
      <p:sp>
        <p:nvSpPr>
          <p:cNvPr id="5" name="block-title-0">
            <a:extLst xmlns:a="http://schemas.openxmlformats.org/drawingml/2006/main">
              <a:ext uri="{FF2B5EF4-FFF2-40B4-BE49-F238E27FC236}">
                <a16:creationId xmlns:a16="http://schemas.microsoft.com/office/drawing/2014/main" id="{2698E5A0-39A3-4F3B-B9D3-BFEA9B29A3DF}"/>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Consultar y localizar</a:t>
            </a:r>
          </a:p>
        </p:txBody>
      </p:sp>
      <p:sp>
        <p:nvSpPr>
          <p:cNvPr id="6" name="block-body-0">
            <a:extLst xmlns:a="http://schemas.openxmlformats.org/drawingml/2006/main">
              <a:ext uri="{FF2B5EF4-FFF2-40B4-BE49-F238E27FC236}">
                <a16:creationId xmlns:a16="http://schemas.microsoft.com/office/drawing/2014/main" id="{534EF6F2-07B2-4D16-9E1A-326F99003774}"/>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Revisar las reservas por fecha, estado o búsqueda. Ver zona, grupo, mesas y anticipo.</a:t>
            </a:r>
          </a:p>
        </p:txBody>
      </p:sp>
      <p:sp>
        <p:nvSpPr>
          <p:cNvPr id="7" name="block-title-1">
            <a:extLst xmlns:a="http://schemas.openxmlformats.org/drawingml/2006/main">
              <a:ext uri="{FF2B5EF4-FFF2-40B4-BE49-F238E27FC236}">
                <a16:creationId xmlns:a16="http://schemas.microsoft.com/office/drawing/2014/main" id="{A66B7493-723A-4394-A6E1-BD49A1A4DA30}"/>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Registrar el servicio</a:t>
            </a:r>
          </a:p>
        </p:txBody>
      </p:sp>
      <p:sp>
        <p:nvSpPr>
          <p:cNvPr id="8" name="block-body-1">
            <a:extLst xmlns:a="http://schemas.openxmlformats.org/drawingml/2006/main">
              <a:ext uri="{FF2B5EF4-FFF2-40B4-BE49-F238E27FC236}">
                <a16:creationId xmlns:a16="http://schemas.microsoft.com/office/drawing/2014/main" id="{96EC300C-1AF6-42BD-82DC-8350630EBE2B}"/>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Llegada, mesa ocupada y salida. Registrar inasistencia cuando corresponda.</a:t>
            </a:r>
          </a:p>
        </p:txBody>
      </p:sp>
      <p:sp>
        <p:nvSpPr>
          <p:cNvPr id="9" name="block-title-2">
            <a:extLst xmlns:a="http://schemas.openxmlformats.org/drawingml/2006/main">
              <a:ext uri="{FF2B5EF4-FFF2-40B4-BE49-F238E27FC236}">
                <a16:creationId xmlns:a16="http://schemas.microsoft.com/office/drawing/2014/main" id="{EB69C477-788A-4529-98E7-2D70EAEEC1CA}"/>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Cambios asistidos</a:t>
            </a:r>
          </a:p>
        </p:txBody>
      </p:sp>
      <p:sp>
        <p:nvSpPr>
          <p:cNvPr id="10" name="block-body-2">
            <a:extLst xmlns:a="http://schemas.openxmlformats.org/drawingml/2006/main">
              <a:ext uri="{FF2B5EF4-FFF2-40B4-BE49-F238E27FC236}">
                <a16:creationId xmlns:a16="http://schemas.microsoft.com/office/drawing/2014/main" id="{CCF40F8A-CF45-45C7-869E-073D95F13F51}"/>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Cambiar o cancelar reservas y registrar una visita para una cuenta existente con las condiciones vigentes.</a:t>
            </a:r>
          </a:p>
        </p:txBody>
      </p:sp>
      <p:pic>
        <p:nvPicPr>
          <p:cNvPr id="11" name="">
            <a:extLst xmlns:a="http://schemas.openxmlformats.org/drawingml/2006/main">
              <a:ext uri="{FF2B5EF4-FFF2-40B4-BE49-F238E27FC236}">
                <a16:creationId xmlns:a16="http://schemas.microsoft.com/office/drawing/2014/main" id="{AD4BD17F-2A64-461E-B8F7-4AF764CF7B9E}"/>
              </a:ext>
            </a:extLst>
          </p:cNvPr>
          <p:cNvPicPr>
            <a:picLocks xmlns:a="http://schemas.openxmlformats.org/drawingml/2006/main" noChangeAspect="1"/>
          </p:cNvPicPr>
          <p:nvPr/>
        </p:nvPicPr>
        <p:blipFill>
          <a:blip xmlns:r="http://schemas.openxmlformats.org/officeDocument/2006/relationships" xmlns:a="http://schemas.openxmlformats.org/drawingml/2006/main" r:embed="Rf228efdfb7a54c8e"/>
          <a:stretch xmlns:a="http://schemas.openxmlformats.org/drawingml/2006/main"/>
        </p:blipFill>
        <p:spPr>
          <a:xfrm xmlns:a="http://schemas.openxmlformats.org/drawingml/2006/main">
            <a:off x="5800725" y="3905984"/>
            <a:ext cx="8782050" cy="1884482"/>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21FEC7EA-02B8-4439-8AF9-BD681807A935}"/>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728909861"/>
      </p:ext>
    </p:extLst>
  </p:cSld>
</p:sld>
</file>

<file path=ppt/slides/slide40.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BD091CFE-DCC4-4DFF-B80B-0B6DF78A8BFD}"/>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4A1B49E9-F709-4666-B13C-FC9B0D8373E3}"/>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Agenda: mesas, horarios y cierres</a:t>
            </a:r>
          </a:p>
        </p:txBody>
      </p:sp>
      <p:sp>
        <p:nvSpPr>
          <p:cNvPr id="3" name="footer">
            <a:extLst xmlns:a="http://schemas.openxmlformats.org/drawingml/2006/main">
              <a:ext uri="{FF2B5EF4-FFF2-40B4-BE49-F238E27FC236}">
                <a16:creationId xmlns:a16="http://schemas.microsoft.com/office/drawing/2014/main" id="{977A8A60-8187-4857-8CAA-E9A8EAD3FD0E}"/>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BDA4EED5-46A7-4F47-B421-A15CAD9C9661}"/>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40</a:t>
            </a:r>
          </a:p>
        </p:txBody>
      </p:sp>
      <p:sp>
        <p:nvSpPr>
          <p:cNvPr id="5" name="block-title-0">
            <a:extLst xmlns:a="http://schemas.openxmlformats.org/drawingml/2006/main">
              <a:ext uri="{FF2B5EF4-FFF2-40B4-BE49-F238E27FC236}">
                <a16:creationId xmlns:a16="http://schemas.microsoft.com/office/drawing/2014/main" id="{6C040361-6C31-4344-A495-FF67CEBEDF7C}"/>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Inventario real</a:t>
            </a:r>
          </a:p>
        </p:txBody>
      </p:sp>
      <p:sp>
        <p:nvSpPr>
          <p:cNvPr id="6" name="block-body-0">
            <a:extLst xmlns:a="http://schemas.openxmlformats.org/drawingml/2006/main">
              <a:ext uri="{FF2B5EF4-FFF2-40B4-BE49-F238E27FC236}">
                <a16:creationId xmlns:a16="http://schemas.microsoft.com/office/drawing/2014/main" id="{C193D939-EC99-45AE-AA37-455F0F50B716}"/>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Registrar cada mesa, capacidad y combinaciones permitidas. Confirmar descripción y accesibilidad de la zona.</a:t>
            </a:r>
          </a:p>
        </p:txBody>
      </p:sp>
      <p:sp>
        <p:nvSpPr>
          <p:cNvPr id="7" name="block-title-1">
            <a:extLst xmlns:a="http://schemas.openxmlformats.org/drawingml/2006/main">
              <a:ext uri="{FF2B5EF4-FFF2-40B4-BE49-F238E27FC236}">
                <a16:creationId xmlns:a16="http://schemas.microsoft.com/office/drawing/2014/main" id="{4F7D8916-3329-47E3-AB77-082DDE5D8E25}"/>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Disponibilidad</a:t>
            </a:r>
          </a:p>
        </p:txBody>
      </p:sp>
      <p:sp>
        <p:nvSpPr>
          <p:cNvPr id="8" name="block-body-1">
            <a:extLst xmlns:a="http://schemas.openxmlformats.org/drawingml/2006/main">
              <a:ext uri="{FF2B5EF4-FFF2-40B4-BE49-F238E27FC236}">
                <a16:creationId xmlns:a16="http://schemas.microsoft.com/office/drawing/2014/main" id="{943A645B-4DF6-409C-9C6E-951B203182FD}"/>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Definir horarios, anticipación, duración y reservas máximas por cuenta. Añadir fechas excepcionales o cierres.</a:t>
            </a:r>
          </a:p>
        </p:txBody>
      </p:sp>
      <p:sp>
        <p:nvSpPr>
          <p:cNvPr id="9" name="block-title-2">
            <a:extLst xmlns:a="http://schemas.openxmlformats.org/drawingml/2006/main">
              <a:ext uri="{FF2B5EF4-FFF2-40B4-BE49-F238E27FC236}">
                <a16:creationId xmlns:a16="http://schemas.microsoft.com/office/drawing/2014/main" id="{BDD269A5-77A7-493E-A33D-6E50DE5659A9}"/>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Salón VIP</a:t>
            </a:r>
          </a:p>
        </p:txBody>
      </p:sp>
      <p:sp>
        <p:nvSpPr>
          <p:cNvPr id="10" name="block-body-2">
            <a:extLst xmlns:a="http://schemas.openxmlformats.org/drawingml/2006/main">
              <a:ext uri="{FF2B5EF4-FFF2-40B4-BE49-F238E27FC236}">
                <a16:creationId xmlns:a16="http://schemas.microsoft.com/office/drawing/2014/main" id="{5722464D-5767-489A-9236-AAD5724B43C9}"/>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Se asigna a un solo grupo a la vez. Una zona sin inventario confirmado no acepta reservas en línea.</a:t>
            </a:r>
          </a:p>
        </p:txBody>
      </p:sp>
      <p:pic>
        <p:nvPicPr>
          <p:cNvPr id="11" name="">
            <a:extLst xmlns:a="http://schemas.openxmlformats.org/drawingml/2006/main">
              <a:ext uri="{FF2B5EF4-FFF2-40B4-BE49-F238E27FC236}">
                <a16:creationId xmlns:a16="http://schemas.microsoft.com/office/drawing/2014/main" id="{51253192-8742-41CD-9774-4343220AAC63}"/>
              </a:ext>
            </a:extLst>
          </p:cNvPr>
          <p:cNvPicPr>
            <a:picLocks xmlns:a="http://schemas.openxmlformats.org/drawingml/2006/main" noChangeAspect="1"/>
          </p:cNvPicPr>
          <p:nvPr/>
        </p:nvPicPr>
        <p:blipFill>
          <a:blip xmlns:r="http://schemas.openxmlformats.org/officeDocument/2006/relationships" xmlns:a="http://schemas.openxmlformats.org/drawingml/2006/main" r:embed="R36097a56cdf24833"/>
          <a:stretch xmlns:a="http://schemas.openxmlformats.org/drawingml/2006/main"/>
        </p:blipFill>
        <p:spPr>
          <a:xfrm xmlns:a="http://schemas.openxmlformats.org/drawingml/2006/main">
            <a:off x="5800725" y="4152326"/>
            <a:ext cx="8782050" cy="1391798"/>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62B85840-9FF5-4F96-AF39-7097A3593C2E}"/>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1075989800"/>
      </p:ext>
    </p:extLst>
  </p:cSld>
</p:sld>
</file>

<file path=ppt/slides/slide41.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74AA4825-0704-449E-AC9E-BC58F0CCA9FF}"/>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B4F2CA17-6D0C-4DFB-93EC-E81E025B0E8F}"/>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Agenda: aplicación del anticipo</a:t>
            </a:r>
          </a:p>
        </p:txBody>
      </p:sp>
      <p:sp>
        <p:nvSpPr>
          <p:cNvPr id="3" name="footer">
            <a:extLst xmlns:a="http://schemas.openxmlformats.org/drawingml/2006/main">
              <a:ext uri="{FF2B5EF4-FFF2-40B4-BE49-F238E27FC236}">
                <a16:creationId xmlns:a16="http://schemas.microsoft.com/office/drawing/2014/main" id="{C5889BA6-0467-4C39-BA23-7FD44205FD9F}"/>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3265F582-109A-461B-8117-0B6C02A780A2}"/>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41</a:t>
            </a:r>
          </a:p>
        </p:txBody>
      </p:sp>
      <p:sp>
        <p:nvSpPr>
          <p:cNvPr id="5" name="block-title-0">
            <a:extLst xmlns:a="http://schemas.openxmlformats.org/drawingml/2006/main">
              <a:ext uri="{FF2B5EF4-FFF2-40B4-BE49-F238E27FC236}">
                <a16:creationId xmlns:a16="http://schemas.microsoft.com/office/drawing/2014/main" id="{6CB1CF78-1BB9-4C21-AA93-FE0A2CAD4DEE}"/>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Consumo registrado en caja</a:t>
            </a:r>
          </a:p>
        </p:txBody>
      </p:sp>
      <p:sp>
        <p:nvSpPr>
          <p:cNvPr id="6" name="block-body-0">
            <a:extLst xmlns:a="http://schemas.openxmlformats.org/drawingml/2006/main">
              <a:ext uri="{FF2B5EF4-FFF2-40B4-BE49-F238E27FC236}">
                <a16:creationId xmlns:a16="http://schemas.microsoft.com/office/drawing/2014/main" id="{CCCE3690-149A-46AB-A913-2AEBDD3FF96D}"/>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La app usa primero el anticipo y cobra del saldo la diferencia que corresponda. Se utiliza una referencia única.</a:t>
            </a:r>
          </a:p>
        </p:txBody>
      </p:sp>
      <p:sp>
        <p:nvSpPr>
          <p:cNvPr id="7" name="block-title-1">
            <a:extLst xmlns:a="http://schemas.openxmlformats.org/drawingml/2006/main">
              <a:ext uri="{FF2B5EF4-FFF2-40B4-BE49-F238E27FC236}">
                <a16:creationId xmlns:a16="http://schemas.microsoft.com/office/drawing/2014/main" id="{A08D80E9-9867-418F-B149-A7F93F30E78D}"/>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Pedido ya pagado</a:t>
            </a:r>
          </a:p>
        </p:txBody>
      </p:sp>
      <p:sp>
        <p:nvSpPr>
          <p:cNvPr id="8" name="block-body-1">
            <a:extLst xmlns:a="http://schemas.openxmlformats.org/drawingml/2006/main">
              <a:ext uri="{FF2B5EF4-FFF2-40B4-BE49-F238E27FC236}">
                <a16:creationId xmlns:a16="http://schemas.microsoft.com/office/drawing/2014/main" id="{5C62769E-3B94-4CCB-8C61-F5FAB0D01D98}"/>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Al aplicar el anticipo a ese pedido, la parte aplicada vuelve a Cuenta de Casa para compensar el pago previo.</a:t>
            </a:r>
          </a:p>
        </p:txBody>
      </p:sp>
      <p:sp>
        <p:nvSpPr>
          <p:cNvPr id="9" name="block-title-2">
            <a:extLst xmlns:a="http://schemas.openxmlformats.org/drawingml/2006/main">
              <a:ext uri="{FF2B5EF4-FFF2-40B4-BE49-F238E27FC236}">
                <a16:creationId xmlns:a16="http://schemas.microsoft.com/office/drawing/2014/main" id="{30ED3BB9-7A3E-4AC5-AADD-A93B7AE070D6}"/>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Remanente pendiente</a:t>
            </a:r>
          </a:p>
        </p:txBody>
      </p:sp>
      <p:sp>
        <p:nvSpPr>
          <p:cNvPr id="10" name="block-body-2">
            <a:extLst xmlns:a="http://schemas.openxmlformats.org/drawingml/2006/main">
              <a:ext uri="{FF2B5EF4-FFF2-40B4-BE49-F238E27FC236}">
                <a16:creationId xmlns:a16="http://schemas.microsoft.com/office/drawing/2014/main" id="{E57F6845-5079-4109-B563-99AC9BDAD3B4}"/>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Se conserva para la visita. Administración puede devolverlo por separado sin cancelar automáticamente la reserva.</a:t>
            </a:r>
          </a:p>
        </p:txBody>
      </p:sp>
      <p:pic>
        <p:nvPicPr>
          <p:cNvPr id="11" name="">
            <a:extLst xmlns:a="http://schemas.openxmlformats.org/drawingml/2006/main">
              <a:ext uri="{FF2B5EF4-FFF2-40B4-BE49-F238E27FC236}">
                <a16:creationId xmlns:a16="http://schemas.microsoft.com/office/drawing/2014/main" id="{C0609AF7-4C2D-4C3A-B04C-680766CD1ED3}"/>
              </a:ext>
            </a:extLst>
          </p:cNvPr>
          <p:cNvPicPr>
            <a:picLocks xmlns:a="http://schemas.openxmlformats.org/drawingml/2006/main" noChangeAspect="1"/>
          </p:cNvPicPr>
          <p:nvPr/>
        </p:nvPicPr>
        <p:blipFill>
          <a:blip xmlns:r="http://schemas.openxmlformats.org/officeDocument/2006/relationships" xmlns:a="http://schemas.openxmlformats.org/drawingml/2006/main" r:embed="R8eed0e7c9de94fc5"/>
          <a:stretch xmlns:a="http://schemas.openxmlformats.org/drawingml/2006/main"/>
        </p:blipFill>
        <p:spPr>
          <a:xfrm xmlns:a="http://schemas.openxmlformats.org/drawingml/2006/main">
            <a:off x="5800725" y="3640693"/>
            <a:ext cx="8782050" cy="2415064"/>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CBA2CC1D-B0A4-4087-A8DA-9526A428DB28}"/>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1501548643"/>
      </p:ext>
    </p:extLst>
  </p:cSld>
</p:sld>
</file>

<file path=ppt/slides/slide42.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AB010CCD-94DA-4AC2-B8E7-E7CA4ED27E47}"/>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0E03BE40-3B77-440E-9A79-0F782E657C5B}"/>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Atención: solicitudes con respuesta</a:t>
            </a:r>
          </a:p>
        </p:txBody>
      </p:sp>
      <p:sp>
        <p:nvSpPr>
          <p:cNvPr id="3" name="footer">
            <a:extLst xmlns:a="http://schemas.openxmlformats.org/drawingml/2006/main">
              <a:ext uri="{FF2B5EF4-FFF2-40B4-BE49-F238E27FC236}">
                <a16:creationId xmlns:a16="http://schemas.microsoft.com/office/drawing/2014/main" id="{F74A3BEA-03F7-4B90-9C6B-0C54E46F0FC1}"/>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E157CF75-6208-4BAC-8FD3-C963EFAE79C3}"/>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42</a:t>
            </a:r>
          </a:p>
        </p:txBody>
      </p:sp>
      <p:sp>
        <p:nvSpPr>
          <p:cNvPr id="5" name="block-title-0">
            <a:extLst xmlns:a="http://schemas.openxmlformats.org/drawingml/2006/main">
              <a:ext uri="{FF2B5EF4-FFF2-40B4-BE49-F238E27FC236}">
                <a16:creationId xmlns:a16="http://schemas.microsoft.com/office/drawing/2014/main" id="{45A2FD0E-2D8A-4FEE-BC0B-B0BE2980FA39}"/>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Bandeja de solicitudes</a:t>
            </a:r>
          </a:p>
        </p:txBody>
      </p:sp>
      <p:sp>
        <p:nvSpPr>
          <p:cNvPr id="6" name="block-body-0">
            <a:extLst xmlns:a="http://schemas.openxmlformats.org/drawingml/2006/main">
              <a:ext uri="{FF2B5EF4-FFF2-40B4-BE49-F238E27FC236}">
                <a16:creationId xmlns:a16="http://schemas.microsoft.com/office/drawing/2014/main" id="{20B91FD1-74EF-495F-AD8F-34F8457E1C1A}"/>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Filtrar pendientes o resueltas y buscar por cliente o texto. Revisar motivo e historial.</a:t>
            </a:r>
          </a:p>
        </p:txBody>
      </p:sp>
      <p:sp>
        <p:nvSpPr>
          <p:cNvPr id="7" name="block-title-1">
            <a:extLst xmlns:a="http://schemas.openxmlformats.org/drawingml/2006/main">
              <a:ext uri="{FF2B5EF4-FFF2-40B4-BE49-F238E27FC236}">
                <a16:creationId xmlns:a16="http://schemas.microsoft.com/office/drawing/2014/main" id="{DF6713A3-7411-4CD7-9D88-69427ADBC645}"/>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Responder y resolver</a:t>
            </a:r>
          </a:p>
        </p:txBody>
      </p:sp>
      <p:sp>
        <p:nvSpPr>
          <p:cNvPr id="8" name="block-body-1">
            <a:extLst xmlns:a="http://schemas.openxmlformats.org/drawingml/2006/main">
              <a:ext uri="{FF2B5EF4-FFF2-40B4-BE49-F238E27FC236}">
                <a16:creationId xmlns:a16="http://schemas.microsoft.com/office/drawing/2014/main" id="{91FAB410-639F-4EA6-943F-FBEE3C4D4024}"/>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Escribir una respuesta clara y completar «Enviar respuesta y resolver» cuando la gestión corresponda.</a:t>
            </a:r>
          </a:p>
        </p:txBody>
      </p:sp>
      <p:sp>
        <p:nvSpPr>
          <p:cNvPr id="9" name="block-title-2">
            <a:extLst xmlns:a="http://schemas.openxmlformats.org/drawingml/2006/main">
              <a:ext uri="{FF2B5EF4-FFF2-40B4-BE49-F238E27FC236}">
                <a16:creationId xmlns:a16="http://schemas.microsoft.com/office/drawing/2014/main" id="{7493146F-67EB-4C39-AD0B-8D86950E5828}"/>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Alcance de la respuesta</a:t>
            </a:r>
          </a:p>
        </p:txBody>
      </p:sp>
      <p:sp>
        <p:nvSpPr>
          <p:cNvPr id="10" name="block-body-2">
            <a:extLst xmlns:a="http://schemas.openxmlformats.org/drawingml/2006/main">
              <a:ext uri="{FF2B5EF4-FFF2-40B4-BE49-F238E27FC236}">
                <a16:creationId xmlns:a16="http://schemas.microsoft.com/office/drawing/2014/main" id="{28B7FD0C-62BB-43F1-9A8C-7391680B9DE5}"/>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Responder cierra la solicitud. Los cambios de reserva, acceso o dinero se realizan en su flujo específico.</a:t>
            </a:r>
          </a:p>
        </p:txBody>
      </p:sp>
      <p:pic>
        <p:nvPicPr>
          <p:cNvPr id="11" name="">
            <a:extLst xmlns:a="http://schemas.openxmlformats.org/drawingml/2006/main">
              <a:ext uri="{FF2B5EF4-FFF2-40B4-BE49-F238E27FC236}">
                <a16:creationId xmlns:a16="http://schemas.microsoft.com/office/drawing/2014/main" id="{287F02C3-8090-4286-BE0A-40FF9F382815}"/>
              </a:ext>
            </a:extLst>
          </p:cNvPr>
          <p:cNvPicPr>
            <a:picLocks xmlns:a="http://schemas.openxmlformats.org/drawingml/2006/main" noChangeAspect="1"/>
          </p:cNvPicPr>
          <p:nvPr/>
        </p:nvPicPr>
        <p:blipFill>
          <a:blip xmlns:r="http://schemas.openxmlformats.org/officeDocument/2006/relationships" xmlns:a="http://schemas.openxmlformats.org/drawingml/2006/main" r:embed="Red96c81bb17447d0"/>
          <a:stretch xmlns:a="http://schemas.openxmlformats.org/drawingml/2006/main"/>
        </p:blipFill>
        <p:spPr>
          <a:xfrm xmlns:a="http://schemas.openxmlformats.org/drawingml/2006/main">
            <a:off x="5800725" y="3501848"/>
            <a:ext cx="8782050" cy="2692754"/>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5784352B-74A9-4F2B-8928-C1DB3B7A3846}"/>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691162976"/>
      </p:ext>
    </p:extLst>
  </p:cSld>
</p:sld>
</file>

<file path=ppt/slides/slide43.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7E9335C9-EE29-460E-A1E3-3D5D4B36E28F}"/>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507C277D-B320-4243-9306-D894895AF1D4}"/>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Informes y registro de actividad</a:t>
            </a:r>
          </a:p>
        </p:txBody>
      </p:sp>
      <p:sp>
        <p:nvSpPr>
          <p:cNvPr id="3" name="footer">
            <a:extLst xmlns:a="http://schemas.openxmlformats.org/drawingml/2006/main">
              <a:ext uri="{FF2B5EF4-FFF2-40B4-BE49-F238E27FC236}">
                <a16:creationId xmlns:a16="http://schemas.microsoft.com/office/drawing/2014/main" id="{96EABBCE-3286-4DE0-87DD-180C0157E662}"/>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39D8E891-CF95-4C27-A0DC-6E3374BC2F1C}"/>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43</a:t>
            </a:r>
          </a:p>
        </p:txBody>
      </p:sp>
      <p:sp>
        <p:nvSpPr>
          <p:cNvPr id="5" name="block-title-0">
            <a:extLst xmlns:a="http://schemas.openxmlformats.org/drawingml/2006/main">
              <a:ext uri="{FF2B5EF4-FFF2-40B4-BE49-F238E27FC236}">
                <a16:creationId xmlns:a16="http://schemas.microsoft.com/office/drawing/2014/main" id="{16B19C90-8A29-4E68-8577-96037A37E25E}"/>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Períodos de consulta</a:t>
            </a:r>
          </a:p>
        </p:txBody>
      </p:sp>
      <p:sp>
        <p:nvSpPr>
          <p:cNvPr id="6" name="block-body-0">
            <a:extLst xmlns:a="http://schemas.openxmlformats.org/drawingml/2006/main">
              <a:ext uri="{FF2B5EF4-FFF2-40B4-BE49-F238E27FC236}">
                <a16:creationId xmlns:a16="http://schemas.microsoft.com/office/drawing/2014/main" id="{D6427164-57E0-4394-962C-04A82ECAE81D}"/>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Elegir últimas 24 horas o últimos 7, 30 o 90 días. Consultar pedidos, entregados, cancelados e importe.</a:t>
            </a:r>
          </a:p>
        </p:txBody>
      </p:sp>
      <p:sp>
        <p:nvSpPr>
          <p:cNvPr id="7" name="block-title-1">
            <a:extLst xmlns:a="http://schemas.openxmlformats.org/drawingml/2006/main">
              <a:ext uri="{FF2B5EF4-FFF2-40B4-BE49-F238E27FC236}">
                <a16:creationId xmlns:a16="http://schemas.microsoft.com/office/drawing/2014/main" id="{012AD40E-BD54-4221-A029-EFE6F2C4706F}"/>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Exportación</a:t>
            </a:r>
          </a:p>
        </p:txBody>
      </p:sp>
      <p:sp>
        <p:nvSpPr>
          <p:cNvPr id="8" name="block-body-1">
            <a:extLst xmlns:a="http://schemas.openxmlformats.org/drawingml/2006/main">
              <a:ext uri="{FF2B5EF4-FFF2-40B4-BE49-F238E27FC236}">
                <a16:creationId xmlns:a16="http://schemas.microsoft.com/office/drawing/2014/main" id="{8D694C3A-6372-4820-96F4-E5BE5D70E09B}"/>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«Exportar cifras CSV» descarga los indicadores del período para trabajar con ellos.</a:t>
            </a:r>
          </a:p>
        </p:txBody>
      </p:sp>
      <p:sp>
        <p:nvSpPr>
          <p:cNvPr id="9" name="block-title-2">
            <a:extLst xmlns:a="http://schemas.openxmlformats.org/drawingml/2006/main">
              <a:ext uri="{FF2B5EF4-FFF2-40B4-BE49-F238E27FC236}">
                <a16:creationId xmlns:a16="http://schemas.microsoft.com/office/drawing/2014/main" id="{84DDAEDC-3BB2-49E4-BF5E-E947D5D68824}"/>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Responsables</a:t>
            </a:r>
          </a:p>
        </p:txBody>
      </p:sp>
      <p:sp>
        <p:nvSpPr>
          <p:cNvPr id="10" name="block-body-2">
            <a:extLst xmlns:a="http://schemas.openxmlformats.org/drawingml/2006/main">
              <a:ext uri="{FF2B5EF4-FFF2-40B4-BE49-F238E27FC236}">
                <a16:creationId xmlns:a16="http://schemas.microsoft.com/office/drawing/2014/main" id="{F0E86B65-047F-4257-8C11-A47BC2BCEC8C}"/>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registro de actividad permite buscar acciones, fechas y personas y abrir el detalle.</a:t>
            </a:r>
          </a:p>
        </p:txBody>
      </p:sp>
      <p:pic>
        <p:nvPicPr>
          <p:cNvPr id="11" name="">
            <a:extLst xmlns:a="http://schemas.openxmlformats.org/drawingml/2006/main">
              <a:ext uri="{FF2B5EF4-FFF2-40B4-BE49-F238E27FC236}">
                <a16:creationId xmlns:a16="http://schemas.microsoft.com/office/drawing/2014/main" id="{CCDE9B42-1156-4A08-99CD-AE782EE69C87}"/>
              </a:ext>
            </a:extLst>
          </p:cNvPr>
          <p:cNvPicPr>
            <a:picLocks xmlns:a="http://schemas.openxmlformats.org/drawingml/2006/main" noChangeAspect="1"/>
          </p:cNvPicPr>
          <p:nvPr/>
        </p:nvPicPr>
        <p:blipFill>
          <a:blip xmlns:r="http://schemas.openxmlformats.org/officeDocument/2006/relationships" xmlns:a="http://schemas.openxmlformats.org/drawingml/2006/main" r:embed="Rc48dff5de0e74e6d"/>
          <a:stretch xmlns:a="http://schemas.openxmlformats.org/drawingml/2006/main"/>
        </p:blipFill>
        <p:spPr>
          <a:xfrm xmlns:a="http://schemas.openxmlformats.org/drawingml/2006/main">
            <a:off x="5800725" y="2545614"/>
            <a:ext cx="8782050" cy="4605221"/>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9EC704FB-C69E-4FF1-AC34-88A59F9A976B}"/>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861084293"/>
      </p:ext>
    </p:extLst>
  </p:cSld>
</p:sld>
</file>

<file path=ppt/slides/slide44.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2F002E95-894F-41AC-9DE2-78F8E171AE26}"/>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77E496C0-74DC-4DC7-AADD-BFE97317BFB0}"/>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Clientes: directorio e historial</a:t>
            </a:r>
          </a:p>
        </p:txBody>
      </p:sp>
      <p:sp>
        <p:nvSpPr>
          <p:cNvPr id="3" name="footer">
            <a:extLst xmlns:a="http://schemas.openxmlformats.org/drawingml/2006/main">
              <a:ext uri="{FF2B5EF4-FFF2-40B4-BE49-F238E27FC236}">
                <a16:creationId xmlns:a16="http://schemas.microsoft.com/office/drawing/2014/main" id="{F7F02DBA-7480-4698-AD26-4A728813DB17}"/>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7D70CCAC-A558-491D-B4B8-C33D6BE9101F}"/>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44</a:t>
            </a:r>
          </a:p>
        </p:txBody>
      </p:sp>
      <p:sp>
        <p:nvSpPr>
          <p:cNvPr id="5" name="block-title-0">
            <a:extLst xmlns:a="http://schemas.openxmlformats.org/drawingml/2006/main">
              <a:ext uri="{FF2B5EF4-FFF2-40B4-BE49-F238E27FC236}">
                <a16:creationId xmlns:a16="http://schemas.microsoft.com/office/drawing/2014/main" id="{DBAC049D-CF8A-42D5-A562-D8610609C883}"/>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Todas las cuentas</a:t>
            </a:r>
          </a:p>
        </p:txBody>
      </p:sp>
      <p:sp>
        <p:nvSpPr>
          <p:cNvPr id="6" name="block-body-0">
            <a:extLst xmlns:a="http://schemas.openxmlformats.org/drawingml/2006/main">
              <a:ext uri="{FF2B5EF4-FFF2-40B4-BE49-F238E27FC236}">
                <a16:creationId xmlns:a16="http://schemas.microsoft.com/office/drawing/2014/main" id="{C00334B2-6667-4FF4-B450-FE415568B656}"/>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Incluye cuentas sin pedidos. Buscar por nombre, correo o teléfono y filtrar por estado u origen.</a:t>
            </a:r>
          </a:p>
        </p:txBody>
      </p:sp>
      <p:sp>
        <p:nvSpPr>
          <p:cNvPr id="7" name="block-title-1">
            <a:extLst xmlns:a="http://schemas.openxmlformats.org/drawingml/2006/main">
              <a:ext uri="{FF2B5EF4-FFF2-40B4-BE49-F238E27FC236}">
                <a16:creationId xmlns:a16="http://schemas.microsoft.com/office/drawing/2014/main" id="{4F4C26F0-D637-4FA2-9750-8F167F26B568}"/>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Ficha del cliente</a:t>
            </a:r>
          </a:p>
        </p:txBody>
      </p:sp>
      <p:sp>
        <p:nvSpPr>
          <p:cNvPr id="8" name="block-body-1">
            <a:extLst xmlns:a="http://schemas.openxmlformats.org/drawingml/2006/main">
              <a:ext uri="{FF2B5EF4-FFF2-40B4-BE49-F238E27FC236}">
                <a16:creationId xmlns:a16="http://schemas.microsoft.com/office/drawing/2014/main" id="{D37B9730-72AA-4EC3-80C6-02A1E8DF5C77}"/>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Consultar contacto, preferencias, saldo, membresía y última actividad.</a:t>
            </a:r>
          </a:p>
        </p:txBody>
      </p:sp>
      <p:sp>
        <p:nvSpPr>
          <p:cNvPr id="9" name="block-title-2">
            <a:extLst xmlns:a="http://schemas.openxmlformats.org/drawingml/2006/main">
              <a:ext uri="{FF2B5EF4-FFF2-40B4-BE49-F238E27FC236}">
                <a16:creationId xmlns:a16="http://schemas.microsoft.com/office/drawing/2014/main" id="{1E7DFEDF-01F1-4425-BCC2-166851D7C038}"/>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Historial por tipo</a:t>
            </a:r>
          </a:p>
        </p:txBody>
      </p:sp>
      <p:sp>
        <p:nvSpPr>
          <p:cNvPr id="10" name="block-body-2">
            <a:extLst xmlns:a="http://schemas.openxmlformats.org/drawingml/2006/main">
              <a:ext uri="{FF2B5EF4-FFF2-40B4-BE49-F238E27FC236}">
                <a16:creationId xmlns:a16="http://schemas.microsoft.com/office/drawing/2014/main" id="{E95EC90E-47FE-42F5-BA21-1B6F63B8F606}"/>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Filtrar movimientos, pedidos, reservas, sellos, canjes, beneficios o atención para aclarar una consulta.</a:t>
            </a:r>
          </a:p>
        </p:txBody>
      </p:sp>
      <p:pic>
        <p:nvPicPr>
          <p:cNvPr id="11" name="">
            <a:extLst xmlns:a="http://schemas.openxmlformats.org/drawingml/2006/main">
              <a:ext uri="{FF2B5EF4-FFF2-40B4-BE49-F238E27FC236}">
                <a16:creationId xmlns:a16="http://schemas.microsoft.com/office/drawing/2014/main" id="{843FDF2B-A5C7-4990-9310-4818D89EED8C}"/>
              </a:ext>
            </a:extLst>
          </p:cNvPr>
          <p:cNvPicPr>
            <a:picLocks xmlns:a="http://schemas.openxmlformats.org/drawingml/2006/main" noChangeAspect="1"/>
          </p:cNvPicPr>
          <p:nvPr/>
        </p:nvPicPr>
        <p:blipFill>
          <a:blip xmlns:r="http://schemas.openxmlformats.org/officeDocument/2006/relationships" xmlns:a="http://schemas.openxmlformats.org/drawingml/2006/main" r:embed="R058dc52750784eea"/>
          <a:stretch xmlns:a="http://schemas.openxmlformats.org/drawingml/2006/main"/>
        </p:blipFill>
        <p:spPr>
          <a:xfrm xmlns:a="http://schemas.openxmlformats.org/drawingml/2006/main">
            <a:off x="5800725" y="3594953"/>
            <a:ext cx="8782050" cy="2506543"/>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63DA1754-123D-4F3F-8FA8-F5BD006A9F3E}"/>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291941909"/>
      </p:ext>
    </p:extLst>
  </p:cSld>
</p:sld>
</file>

<file path=ppt/slides/slide45.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61A7A2BA-AD0D-4EEF-808B-738CDBE2A4D7}"/>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EECDCEE1-5BDB-4640-A032-BB8898F0D487}"/>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Equipo y permisos</a:t>
            </a:r>
          </a:p>
        </p:txBody>
      </p:sp>
      <p:sp>
        <p:nvSpPr>
          <p:cNvPr id="3" name="footer">
            <a:extLst xmlns:a="http://schemas.openxmlformats.org/drawingml/2006/main">
              <a:ext uri="{FF2B5EF4-FFF2-40B4-BE49-F238E27FC236}">
                <a16:creationId xmlns:a16="http://schemas.microsoft.com/office/drawing/2014/main" id="{E9A339FF-F46C-40E5-BDC9-6A72667829D8}"/>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A356255F-5E00-433E-B9D9-B7D69AAE9BFB}"/>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45</a:t>
            </a:r>
          </a:p>
        </p:txBody>
      </p:sp>
      <p:graphicFrame>
        <p:nvGraphicFramePr>
          <p:cNvPr id="5" name="">
            <a:extLst xmlns:a="http://schemas.openxmlformats.org/drawingml/2006/main">
              <a:ext uri="{FF2B5EF4-FFF2-40B4-BE49-F238E27FC236}">
                <a16:creationId xmlns:a16="http://schemas.microsoft.com/office/drawing/2014/main" id="{33A62772-C36C-4FF8-95B9-DE4D7519C058}"/>
              </a:ext>
            </a:extLst>
          </p:cNvPr>
          <p:cNvGraphicFramePr/>
          <p:nvPr/>
        </p:nvGraphicFramePr>
        <p:xfrm>
          <a:off xmlns:a="http://schemas.openxmlformats.org/drawingml/2006/main" x="619125" y="2286000"/>
          <a:ext xmlns:a="http://schemas.openxmlformats.org/drawingml/2006/main" cx="14001750" cy="5143500"/>
        </p:xfrm>
        <a:graphic xmlns:a="http://schemas.openxmlformats.org/drawingml/2006/main">
          <a:graphicData uri="http://schemas.openxmlformats.org/drawingml/2006/table">
            <a:tbl>
              <a:tblPr firstRow="0" lastRow="0" bandRow="0"/>
              <a:tblGrid>
                <a:gridCol w="3429000"/>
                <a:gridCol w="10572750"/>
              </a:tblGrid>
              <a:tr h="1028700">
                <a:tc>
                  <a:txBody>
                    <a:bodyPr/>
                    <a:lstStyle/>
                    <a:p>
                      <a:r>
                        <a:rPr sz="1950" b="1">
                          <a:solidFill>
                            <a:srgbClr val="FFFFFF"/>
                          </a:solidFill>
                          <a:latin typeface="Arial"/>
                          <a:ea typeface="Arial"/>
                          <a:cs typeface="Arial"/>
                        </a:rPr>
                        <a:t>Rol</a:t>
                      </a:r>
                    </a:p>
                  </a:txBody>
                  <a:tcPr marL="209550" marR="209550" marT="114300" marB="95250" anchor="ctr">
                    <a:lnL w="9525">
                      <a:solidFill>
                        <a:srgbClr val="D8C7B8"/>
                      </a:solidFill>
                      <a:prstDash val="solid"/>
                    </a:lnL>
                    <a:lnR w="9525">
                      <a:solidFill>
                        <a:srgbClr val="D8C7B8"/>
                      </a:solidFill>
                      <a:prstDash val="solid"/>
                    </a:lnR>
                    <a:lnT w="9525">
                      <a:solidFill>
                        <a:srgbClr val="D8C7B8"/>
                      </a:solidFill>
                      <a:prstDash val="solid"/>
                    </a:lnT>
                    <a:lnB w="9525">
                      <a:solidFill>
                        <a:srgbClr val="D8C7B8"/>
                      </a:solidFill>
                      <a:prstDash val="solid"/>
                    </a:lnB>
                    <a:solidFill>
                      <a:srgbClr val="542B20"/>
                    </a:solidFill>
                  </a:tcPr>
                </a:tc>
                <a:tc>
                  <a:txBody>
                    <a:bodyPr/>
                    <a:lstStyle/>
                    <a:p>
                      <a:r>
                        <a:rPr sz="1950" b="1">
                          <a:solidFill>
                            <a:srgbClr val="FFFFFF"/>
                          </a:solidFill>
                          <a:latin typeface="Arial"/>
                          <a:ea typeface="Arial"/>
                          <a:cs typeface="Arial"/>
                        </a:rPr>
                        <a:t>Responsabilidad principal</a:t>
                      </a:r>
                    </a:p>
                  </a:txBody>
                  <a:tcPr marL="209550" marR="209550" marT="114300" marB="95250" anchor="ctr">
                    <a:lnR w="9525">
                      <a:solidFill>
                        <a:srgbClr val="D8C7B8"/>
                      </a:solidFill>
                      <a:prstDash val="solid"/>
                    </a:lnR>
                    <a:lnT w="9525">
                      <a:solidFill>
                        <a:srgbClr val="D8C7B8"/>
                      </a:solidFill>
                      <a:prstDash val="solid"/>
                    </a:lnT>
                    <a:lnB w="9525">
                      <a:solidFill>
                        <a:srgbClr val="D8C7B8"/>
                      </a:solidFill>
                      <a:prstDash val="solid"/>
                    </a:lnB>
                    <a:solidFill>
                      <a:srgbClr val="542B20"/>
                    </a:solidFill>
                  </a:tcPr>
                </a:tc>
              </a:tr>
              <a:tr h="1028700">
                <a:tc>
                  <a:txBody>
                    <a:bodyPr/>
                    <a:lstStyle/>
                    <a:p>
                      <a:r>
                        <a:rPr sz="2175" b="1">
                          <a:solidFill>
                            <a:srgbClr val="542B20"/>
                          </a:solidFill>
                          <a:latin typeface="Arial"/>
                          <a:ea typeface="Arial"/>
                          <a:cs typeface="Arial"/>
                        </a:rPr>
                        <a:t>Propietario</a:t>
                      </a:r>
                    </a:p>
                  </a:txBody>
                  <a:tcPr marL="209550" marR="209550" marT="114300" marB="95250" anchor="ctr">
                    <a:lnL w="9525">
                      <a:solidFill>
                        <a:srgbClr val="D8C7B8"/>
                      </a:solidFill>
                      <a:prstDash val="solid"/>
                    </a:lnL>
                    <a:lnR w="9525">
                      <a:solidFill>
                        <a:srgbClr val="D8C7B8"/>
                      </a:solidFill>
                      <a:prstDash val="solid"/>
                    </a:lnR>
                    <a:lnB w="9525">
                      <a:solidFill>
                        <a:srgbClr val="D8C7B8"/>
                      </a:solidFill>
                      <a:prstDash val="solid"/>
                    </a:lnB>
                    <a:solidFill>
                      <a:srgbClr val="FBF7EE"/>
                    </a:solidFill>
                  </a:tcPr>
                </a:tc>
                <a:tc>
                  <a:txBody>
                    <a:bodyPr/>
                    <a:lstStyle/>
                    <a:p>
                      <a:r>
                        <a:rPr sz="2175" b="0">
                          <a:solidFill>
                            <a:srgbClr val="542B20"/>
                          </a:solidFill>
                          <a:latin typeface="Arial"/>
                          <a:ea typeface="Arial"/>
                          <a:cs typeface="Arial"/>
                        </a:rPr>
                        <a:t>Operación completa, configuración y administración de accesos.</a:t>
                      </a:r>
                    </a:p>
                  </a:txBody>
                  <a:tcPr marL="209550" marR="209550" marT="114300" marB="95250" anchor="ctr">
                    <a:lnR w="9525">
                      <a:solidFill>
                        <a:srgbClr val="D8C7B8"/>
                      </a:solidFill>
                      <a:prstDash val="solid"/>
                    </a:lnR>
                    <a:lnB w="9525">
                      <a:solidFill>
                        <a:srgbClr val="D8C7B8"/>
                      </a:solidFill>
                      <a:prstDash val="solid"/>
                    </a:lnB>
                    <a:solidFill>
                      <a:srgbClr val="FBF7EE"/>
                    </a:solidFill>
                  </a:tcPr>
                </a:tc>
              </a:tr>
              <a:tr h="1028700">
                <a:tc>
                  <a:txBody>
                    <a:bodyPr/>
                    <a:lstStyle/>
                    <a:p>
                      <a:r>
                        <a:rPr sz="2175" b="1">
                          <a:solidFill>
                            <a:srgbClr val="542B20"/>
                          </a:solidFill>
                          <a:latin typeface="Arial"/>
                          <a:ea typeface="Arial"/>
                          <a:cs typeface="Arial"/>
                        </a:rPr>
                        <a:t>Encargado</a:t>
                      </a:r>
                    </a:p>
                  </a:txBody>
                  <a:tcPr marL="209550" marR="209550" marT="114300" marB="95250" anchor="ctr">
                    <a:lnL w="9525">
                      <a:solidFill>
                        <a:srgbClr val="D8C7B8"/>
                      </a:solidFill>
                      <a:prstDash val="solid"/>
                    </a:lnL>
                    <a:lnR w="9525">
                      <a:solidFill>
                        <a:srgbClr val="D8C7B8"/>
                      </a:solidFill>
                      <a:prstDash val="solid"/>
                    </a:lnR>
                    <a:lnB w="9525">
                      <a:solidFill>
                        <a:srgbClr val="D8C7B8"/>
                      </a:solidFill>
                      <a:prstDash val="solid"/>
                    </a:lnB>
                    <a:solidFill>
                      <a:srgbClr val="FBF7EE"/>
                    </a:solidFill>
                  </a:tcPr>
                </a:tc>
                <a:tc>
                  <a:txBody>
                    <a:bodyPr/>
                    <a:lstStyle/>
                    <a:p>
                      <a:r>
                        <a:rPr sz="2175" b="0">
                          <a:solidFill>
                            <a:srgbClr val="542B20"/>
                          </a:solidFill>
                          <a:latin typeface="Arial"/>
                          <a:ea typeface="Arial"/>
                          <a:cs typeface="Arial"/>
                        </a:rPr>
                        <a:t>Operación, clientes e informes. Consulta el equipo.</a:t>
                      </a:r>
                    </a:p>
                  </a:txBody>
                  <a:tcPr marL="209550" marR="209550" marT="114300" marB="95250" anchor="ctr">
                    <a:lnR w="9525">
                      <a:solidFill>
                        <a:srgbClr val="D8C7B8"/>
                      </a:solidFill>
                      <a:prstDash val="solid"/>
                    </a:lnR>
                    <a:lnB w="9525">
                      <a:solidFill>
                        <a:srgbClr val="D8C7B8"/>
                      </a:solidFill>
                      <a:prstDash val="solid"/>
                    </a:lnB>
                    <a:solidFill>
                      <a:srgbClr val="FBF7EE"/>
                    </a:solidFill>
                  </a:tcPr>
                </a:tc>
              </a:tr>
              <a:tr h="1028700">
                <a:tc>
                  <a:txBody>
                    <a:bodyPr/>
                    <a:lstStyle/>
                    <a:p>
                      <a:r>
                        <a:rPr sz="2175" b="1">
                          <a:solidFill>
                            <a:srgbClr val="542B20"/>
                          </a:solidFill>
                          <a:latin typeface="Arial"/>
                          <a:ea typeface="Arial"/>
                          <a:cs typeface="Arial"/>
                        </a:rPr>
                        <a:t>Caja</a:t>
                      </a:r>
                    </a:p>
                  </a:txBody>
                  <a:tcPr marL="209550" marR="209550" marT="114300" marB="95250" anchor="ctr">
                    <a:lnL w="9525">
                      <a:solidFill>
                        <a:srgbClr val="D8C7B8"/>
                      </a:solidFill>
                      <a:prstDash val="solid"/>
                    </a:lnL>
                    <a:lnR w="9525">
                      <a:solidFill>
                        <a:srgbClr val="D8C7B8"/>
                      </a:solidFill>
                      <a:prstDash val="solid"/>
                    </a:lnR>
                    <a:lnB w="9525">
                      <a:solidFill>
                        <a:srgbClr val="D8C7B8"/>
                      </a:solidFill>
                      <a:prstDash val="solid"/>
                    </a:lnB>
                    <a:solidFill>
                      <a:srgbClr val="FBF7EE"/>
                    </a:solidFill>
                  </a:tcPr>
                </a:tc>
                <a:tc>
                  <a:txBody>
                    <a:bodyPr/>
                    <a:lstStyle/>
                    <a:p>
                      <a:r>
                        <a:rPr sz="2175" b="0">
                          <a:solidFill>
                            <a:srgbClr val="542B20"/>
                          </a:solidFill>
                          <a:latin typeface="Arial"/>
                          <a:ea typeface="Arial"/>
                          <a:cs typeface="Arial"/>
                        </a:rPr>
                        <a:t>Pedidos, recargas, canjes, tienda, entregas, agenda y atención.</a:t>
                      </a:r>
                    </a:p>
                  </a:txBody>
                  <a:tcPr marL="209550" marR="209550" marT="114300" marB="95250" anchor="ctr">
                    <a:lnR w="9525">
                      <a:solidFill>
                        <a:srgbClr val="D8C7B8"/>
                      </a:solidFill>
                      <a:prstDash val="solid"/>
                    </a:lnR>
                    <a:lnB w="9525">
                      <a:solidFill>
                        <a:srgbClr val="D8C7B8"/>
                      </a:solidFill>
                      <a:prstDash val="solid"/>
                    </a:lnB>
                    <a:solidFill>
                      <a:srgbClr val="FBF7EE"/>
                    </a:solidFill>
                  </a:tcPr>
                </a:tc>
              </a:tr>
              <a:tr h="1028700">
                <a:tc>
                  <a:txBody>
                    <a:bodyPr/>
                    <a:lstStyle/>
                    <a:p>
                      <a:r>
                        <a:rPr sz="2175" b="1">
                          <a:solidFill>
                            <a:srgbClr val="542B20"/>
                          </a:solidFill>
                          <a:latin typeface="Arial"/>
                          <a:ea typeface="Arial"/>
                          <a:cs typeface="Arial"/>
                        </a:rPr>
                        <a:t>Cocina</a:t>
                      </a:r>
                    </a:p>
                  </a:txBody>
                  <a:tcPr marL="209550" marR="209550" marT="114300" marB="95250" anchor="ctr">
                    <a:lnL w="9525">
                      <a:solidFill>
                        <a:srgbClr val="D8C7B8"/>
                      </a:solidFill>
                      <a:prstDash val="solid"/>
                    </a:lnL>
                    <a:lnR w="9525">
                      <a:solidFill>
                        <a:srgbClr val="D8C7B8"/>
                      </a:solidFill>
                      <a:prstDash val="solid"/>
                    </a:lnR>
                    <a:lnB w="9525">
                      <a:solidFill>
                        <a:srgbClr val="D8C7B8"/>
                      </a:solidFill>
                      <a:prstDash val="solid"/>
                    </a:lnB>
                    <a:solidFill>
                      <a:srgbClr val="FBF7EE"/>
                    </a:solidFill>
                  </a:tcPr>
                </a:tc>
                <a:tc>
                  <a:txBody>
                    <a:bodyPr/>
                    <a:lstStyle/>
                    <a:p>
                      <a:r>
                        <a:rPr sz="2175" b="0">
                          <a:solidFill>
                            <a:srgbClr val="542B20"/>
                          </a:solidFill>
                          <a:latin typeface="Arial"/>
                          <a:ea typeface="Arial"/>
                          <a:cs typeface="Arial"/>
                        </a:rPr>
                        <a:t>Preparación y disponibilidad de Carta, sin precios de pedidos ni datos de contacto.</a:t>
                      </a:r>
                    </a:p>
                  </a:txBody>
                  <a:tcPr marL="209550" marR="209550" marT="114300" marB="95250" anchor="ctr">
                    <a:lnR w="9525">
                      <a:solidFill>
                        <a:srgbClr val="D8C7B8"/>
                      </a:solidFill>
                      <a:prstDash val="solid"/>
                    </a:lnR>
                    <a:lnB w="9525">
                      <a:solidFill>
                        <a:srgbClr val="D8C7B8"/>
                      </a:solidFill>
                      <a:prstDash val="solid"/>
                    </a:lnB>
                    <a:solidFill>
                      <a:srgbClr val="FBF7EE"/>
                    </a:solidFill>
                  </a:tcPr>
                </a:tc>
              </a:tr>
            </a:tbl>
          </a:graphicData>
        </a:graphic>
      </p:graphicFrame>
    </p:spTree>
    <p:extLst>
      <p:ext uri="{BB962C8B-B14F-4D97-AF65-F5344CB8AC3E}">
        <p14:creationId xmlns:p14="http://schemas.microsoft.com/office/powerpoint/2010/main" val="1651325055"/>
      </p:ext>
    </p:extLst>
  </p:cSld>
</p:sld>
</file>

<file path=ppt/slides/slide46.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7C17037B-D6BC-40CD-8CF5-49E4A163AD0D}"/>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E9C01718-A4F8-4665-9718-219FCF12A7C5}"/>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Administrar los accesos del equipo</a:t>
            </a:r>
          </a:p>
        </p:txBody>
      </p:sp>
      <p:sp>
        <p:nvSpPr>
          <p:cNvPr id="3" name="footer">
            <a:extLst xmlns:a="http://schemas.openxmlformats.org/drawingml/2006/main">
              <a:ext uri="{FF2B5EF4-FFF2-40B4-BE49-F238E27FC236}">
                <a16:creationId xmlns:a16="http://schemas.microsoft.com/office/drawing/2014/main" id="{83EBBF8F-346B-40B7-A9FE-3B49F50FE56C}"/>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EC8173A6-4917-43E2-BCA9-DE4782D60807}"/>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46</a:t>
            </a:r>
          </a:p>
        </p:txBody>
      </p:sp>
      <p:sp>
        <p:nvSpPr>
          <p:cNvPr id="5" name="block-title-0">
            <a:extLst xmlns:a="http://schemas.openxmlformats.org/drawingml/2006/main">
              <a:ext uri="{FF2B5EF4-FFF2-40B4-BE49-F238E27FC236}">
                <a16:creationId xmlns:a16="http://schemas.microsoft.com/office/drawing/2014/main" id="{9FFAB704-9FF6-46FA-8FA8-5AA294E04D1B}"/>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Invitar a una persona</a:t>
            </a:r>
          </a:p>
        </p:txBody>
      </p:sp>
      <p:sp>
        <p:nvSpPr>
          <p:cNvPr id="6" name="block-body-0">
            <a:extLst xmlns:a="http://schemas.openxmlformats.org/drawingml/2006/main">
              <a:ext uri="{FF2B5EF4-FFF2-40B4-BE49-F238E27FC236}">
                <a16:creationId xmlns:a16="http://schemas.microsoft.com/office/drawing/2014/main" id="{ABC2C037-14C7-4CCF-94B4-64D5EEF90589}"/>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El propietario indica nombre, usuario y rol. La invitación individual vence en veinticuatro horas.</a:t>
            </a:r>
          </a:p>
        </p:txBody>
      </p:sp>
      <p:sp>
        <p:nvSpPr>
          <p:cNvPr id="7" name="block-title-1">
            <a:extLst xmlns:a="http://schemas.openxmlformats.org/drawingml/2006/main">
              <a:ext uri="{FF2B5EF4-FFF2-40B4-BE49-F238E27FC236}">
                <a16:creationId xmlns:a16="http://schemas.microsoft.com/office/drawing/2014/main" id="{7822DEA5-A0A6-4393-8869-3A3B2C76695A}"/>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Mantener los accesos</a:t>
            </a:r>
          </a:p>
        </p:txBody>
      </p:sp>
      <p:sp>
        <p:nvSpPr>
          <p:cNvPr id="8" name="block-body-1">
            <a:extLst xmlns:a="http://schemas.openxmlformats.org/drawingml/2006/main">
              <a:ext uri="{FF2B5EF4-FFF2-40B4-BE49-F238E27FC236}">
                <a16:creationId xmlns:a16="http://schemas.microsoft.com/office/drawing/2014/main" id="{70FECAC3-903A-4A83-990F-92CB2172D0A2}"/>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Buscar personas, cambiar rol, desactivar, reactivar o renovar una invitación cuando corresponda.</a:t>
            </a:r>
          </a:p>
        </p:txBody>
      </p:sp>
      <p:sp>
        <p:nvSpPr>
          <p:cNvPr id="9" name="block-title-2">
            <a:extLst xmlns:a="http://schemas.openxmlformats.org/drawingml/2006/main">
              <a:ext uri="{FF2B5EF4-FFF2-40B4-BE49-F238E27FC236}">
                <a16:creationId xmlns:a16="http://schemas.microsoft.com/office/drawing/2014/main" id="{57E520A2-7C1D-4DD4-B446-5F02F9373CDA}"/>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Conservar responsabilidad</a:t>
            </a:r>
          </a:p>
        </p:txBody>
      </p:sp>
      <p:sp>
        <p:nvSpPr>
          <p:cNvPr id="10" name="block-body-2">
            <a:extLst xmlns:a="http://schemas.openxmlformats.org/drawingml/2006/main">
              <a:ext uri="{FF2B5EF4-FFF2-40B4-BE49-F238E27FC236}">
                <a16:creationId xmlns:a16="http://schemas.microsoft.com/office/drawing/2014/main" id="{7A1BBEE9-6836-4566-A932-B206A8881C81}"/>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Los cambios cierran las sesiones afectadas y preservan el historial de acciones.</a:t>
            </a:r>
          </a:p>
        </p:txBody>
      </p:sp>
      <p:pic>
        <p:nvPicPr>
          <p:cNvPr id="11" name="">
            <a:extLst xmlns:a="http://schemas.openxmlformats.org/drawingml/2006/main">
              <a:ext uri="{FF2B5EF4-FFF2-40B4-BE49-F238E27FC236}">
                <a16:creationId xmlns:a16="http://schemas.microsoft.com/office/drawing/2014/main" id="{FBADF370-BA1A-459F-BE2B-E6D6DC3AB9F1}"/>
              </a:ext>
            </a:extLst>
          </p:cNvPr>
          <p:cNvPicPr>
            <a:picLocks xmlns:a="http://schemas.openxmlformats.org/drawingml/2006/main" noChangeAspect="1"/>
          </p:cNvPicPr>
          <p:nvPr/>
        </p:nvPicPr>
        <p:blipFill>
          <a:blip xmlns:r="http://schemas.openxmlformats.org/officeDocument/2006/relationships" xmlns:a="http://schemas.openxmlformats.org/drawingml/2006/main" r:embed="R456ca5e264a545f1"/>
          <a:stretch xmlns:a="http://schemas.openxmlformats.org/drawingml/2006/main"/>
        </p:blipFill>
        <p:spPr>
          <a:xfrm xmlns:a="http://schemas.openxmlformats.org/drawingml/2006/main">
            <a:off x="5800725" y="3540097"/>
            <a:ext cx="8782050" cy="2616255"/>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33EA16A2-24E6-4284-B71A-E881FC3C3D48}"/>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1643413797"/>
      </p:ext>
    </p:extLst>
  </p:cSld>
</p:sld>
</file>

<file path=ppt/slides/slide47.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C2CFB8B8-E632-49AC-9235-A8D2357ADA11}"/>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LA OPERACIÓN DE LA CASA</a:t>
            </a:r>
          </a:p>
        </p:txBody>
      </p:sp>
      <p:sp>
        <p:nvSpPr>
          <p:cNvPr id="2" name="title">
            <a:extLst xmlns:a="http://schemas.openxmlformats.org/drawingml/2006/main">
              <a:ext uri="{FF2B5EF4-FFF2-40B4-BE49-F238E27FC236}">
                <a16:creationId xmlns:a16="http://schemas.microsoft.com/office/drawing/2014/main" id="{0EC191C1-CD8A-4874-ADA0-527B9A107311}"/>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Cuenta y seguridad del personal</a:t>
            </a:r>
          </a:p>
        </p:txBody>
      </p:sp>
      <p:sp>
        <p:nvSpPr>
          <p:cNvPr id="3" name="footer">
            <a:extLst xmlns:a="http://schemas.openxmlformats.org/drawingml/2006/main">
              <a:ext uri="{FF2B5EF4-FFF2-40B4-BE49-F238E27FC236}">
                <a16:creationId xmlns:a16="http://schemas.microsoft.com/office/drawing/2014/main" id="{1FEA7A6B-E8CB-4419-8A96-A9772C4F6C14}"/>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C720BA37-ABAA-490D-9C50-47D5CE7D763F}"/>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47</a:t>
            </a:r>
          </a:p>
        </p:txBody>
      </p:sp>
      <p:sp>
        <p:nvSpPr>
          <p:cNvPr id="5" name="block-title-0">
            <a:extLst xmlns:a="http://schemas.openxmlformats.org/drawingml/2006/main">
              <a:ext uri="{FF2B5EF4-FFF2-40B4-BE49-F238E27FC236}">
                <a16:creationId xmlns:a16="http://schemas.microsoft.com/office/drawing/2014/main" id="{651DF6E6-1464-44C5-A381-27944972004B}"/>
              </a:ext>
            </a:extLst>
          </p:cNvPr>
          <p:cNvSpPr>
            <a:spLocks xmlns:a="http://schemas.openxmlformats.org/drawingml/2006/main" noGrp="1"/>
          </p:cNvSpPr>
          <p:nvPr/>
        </p:nvSpPr>
        <p:spPr>
          <a:xfrm xmlns:a="http://schemas.openxmlformats.org/drawingml/2006/main">
            <a:off x="628650" y="24288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Identidad y contraseña</a:t>
            </a:r>
          </a:p>
        </p:txBody>
      </p:sp>
      <p:sp>
        <p:nvSpPr>
          <p:cNvPr id="6" name="block-body-0">
            <a:extLst xmlns:a="http://schemas.openxmlformats.org/drawingml/2006/main">
              <a:ext uri="{FF2B5EF4-FFF2-40B4-BE49-F238E27FC236}">
                <a16:creationId xmlns:a16="http://schemas.microsoft.com/office/drawing/2014/main" id="{E13FCB40-52E7-4AC8-95AC-1CB08F53A8CE}"/>
              </a:ext>
            </a:extLst>
          </p:cNvPr>
          <p:cNvSpPr>
            <a:spLocks xmlns:a="http://schemas.openxmlformats.org/drawingml/2006/main" noGrp="1"/>
          </p:cNvSpPr>
          <p:nvPr/>
        </p:nvSpPr>
        <p:spPr>
          <a:xfrm xmlns:a="http://schemas.openxmlformats.org/drawingml/2006/main">
            <a:off x="628650" y="29337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Consultar rol y autenticador, confirmar identidad y cambiar la contraseña por el flujo del panel.</a:t>
            </a:r>
          </a:p>
        </p:txBody>
      </p:sp>
      <p:sp>
        <p:nvSpPr>
          <p:cNvPr id="7" name="block-title-1">
            <a:extLst xmlns:a="http://schemas.openxmlformats.org/drawingml/2006/main">
              <a:ext uri="{FF2B5EF4-FFF2-40B4-BE49-F238E27FC236}">
                <a16:creationId xmlns:a16="http://schemas.microsoft.com/office/drawing/2014/main" id="{96931094-31B5-4192-AF40-7F3BC1464DC2}"/>
              </a:ext>
            </a:extLst>
          </p:cNvPr>
          <p:cNvSpPr>
            <a:spLocks xmlns:a="http://schemas.openxmlformats.org/drawingml/2006/main" noGrp="1"/>
          </p:cNvSpPr>
          <p:nvPr/>
        </p:nvSpPr>
        <p:spPr>
          <a:xfrm xmlns:a="http://schemas.openxmlformats.org/drawingml/2006/main">
            <a:off x="628650" y="416242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Recuperación y sesiones</a:t>
            </a:r>
          </a:p>
        </p:txBody>
      </p:sp>
      <p:sp>
        <p:nvSpPr>
          <p:cNvPr id="8" name="block-body-1">
            <a:extLst xmlns:a="http://schemas.openxmlformats.org/drawingml/2006/main">
              <a:ext uri="{FF2B5EF4-FFF2-40B4-BE49-F238E27FC236}">
                <a16:creationId xmlns:a16="http://schemas.microsoft.com/office/drawing/2014/main" id="{3F54AA1D-1C9A-47F7-91CF-1082A8D48B77}"/>
              </a:ext>
            </a:extLst>
          </p:cNvPr>
          <p:cNvSpPr>
            <a:spLocks xmlns:a="http://schemas.openxmlformats.org/drawingml/2006/main" noGrp="1"/>
          </p:cNvSpPr>
          <p:nvPr/>
        </p:nvSpPr>
        <p:spPr>
          <a:xfrm xmlns:a="http://schemas.openxmlformats.org/drawingml/2006/main">
            <a:off x="628650" y="466725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Gestionar códigos de recuperación y cerrar una sesión específica o todas las sesiones propias.</a:t>
            </a:r>
          </a:p>
        </p:txBody>
      </p:sp>
      <p:sp>
        <p:nvSpPr>
          <p:cNvPr id="9" name="block-title-2">
            <a:extLst xmlns:a="http://schemas.openxmlformats.org/drawingml/2006/main">
              <a:ext uri="{FF2B5EF4-FFF2-40B4-BE49-F238E27FC236}">
                <a16:creationId xmlns:a16="http://schemas.microsoft.com/office/drawing/2014/main" id="{B132AC5F-BD39-46A8-9344-3193DEDCCE1E}"/>
              </a:ext>
            </a:extLst>
          </p:cNvPr>
          <p:cNvSpPr>
            <a:spLocks xmlns:a="http://schemas.openxmlformats.org/drawingml/2006/main" noGrp="1"/>
          </p:cNvSpPr>
          <p:nvPr/>
        </p:nvSpPr>
        <p:spPr>
          <a:xfrm xmlns:a="http://schemas.openxmlformats.org/drawingml/2006/main">
            <a:off x="628650" y="5895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9C3834"/>
                </a:solidFill>
                <a:latin typeface="Arial"/>
                <a:ea typeface="Arial"/>
                <a:cs typeface="Arial"/>
              </a:defRPr>
            </a:defPPr>
          </a:lstStyle>
          <a:p xmlns:a="http://schemas.openxmlformats.org/drawingml/2006/main">
            <a:pPr>
              <a:defRPr sz="2100" b="1">
                <a:solidFill>
                  <a:srgbClr val="9C3834"/>
                </a:solidFill>
                <a:latin typeface="Arial"/>
                <a:ea typeface="Arial"/>
                <a:cs typeface="Arial"/>
              </a:defRPr>
            </a:pPr>
            <a:r>
              <a:rPr sz="2100" b="1">
                <a:solidFill>
                  <a:srgbClr val="9C3834"/>
                </a:solidFill>
                <a:latin typeface="Arial"/>
                <a:ea typeface="Arial"/>
                <a:cs typeface="Arial"/>
              </a:rPr>
              <a:t>Actividad de seguridad</a:t>
            </a:r>
          </a:p>
        </p:txBody>
      </p:sp>
      <p:sp>
        <p:nvSpPr>
          <p:cNvPr id="10" name="block-body-2">
            <a:extLst xmlns:a="http://schemas.openxmlformats.org/drawingml/2006/main">
              <a:ext uri="{FF2B5EF4-FFF2-40B4-BE49-F238E27FC236}">
                <a16:creationId xmlns:a16="http://schemas.microsoft.com/office/drawing/2014/main" id="{FD21F14A-8F80-4BD5-A4DE-3143B73C9BC0}"/>
              </a:ext>
            </a:extLst>
          </p:cNvPr>
          <p:cNvSpPr>
            <a:spLocks xmlns:a="http://schemas.openxmlformats.org/drawingml/2006/main" noGrp="1"/>
          </p:cNvSpPr>
          <p:nvPr/>
        </p:nvSpPr>
        <p:spPr>
          <a:xfrm xmlns:a="http://schemas.openxmlformats.org/drawingml/2006/main">
            <a:off x="628650" y="6400800"/>
            <a:ext cx="47053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42B20"/>
                </a:solidFill>
                <a:latin typeface="Arial"/>
                <a:ea typeface="Arial"/>
                <a:cs typeface="Arial"/>
              </a:defRPr>
            </a:defPPr>
          </a:lstStyle>
          <a:p xmlns:a="http://schemas.openxmlformats.org/drawingml/2006/main">
            <a:pPr>
              <a:defRPr sz="2025">
                <a:solidFill>
                  <a:srgbClr val="542B20"/>
                </a:solidFill>
                <a:latin typeface="Arial"/>
                <a:ea typeface="Arial"/>
                <a:cs typeface="Arial"/>
              </a:defRPr>
            </a:pPr>
            <a:r>
              <a:rPr sz="2025">
                <a:solidFill>
                  <a:srgbClr val="542B20"/>
                </a:solidFill>
                <a:latin typeface="Arial"/>
                <a:ea typeface="Arial"/>
                <a:cs typeface="Arial"/>
              </a:rPr>
              <a:t>Revisar los eventos de acceso. El propietario puede consultar los del negocio.</a:t>
            </a:r>
          </a:p>
        </p:txBody>
      </p:sp>
      <p:pic>
        <p:nvPicPr>
          <p:cNvPr id="11" name="">
            <a:extLst xmlns:a="http://schemas.openxmlformats.org/drawingml/2006/main">
              <a:ext uri="{FF2B5EF4-FFF2-40B4-BE49-F238E27FC236}">
                <a16:creationId xmlns:a16="http://schemas.microsoft.com/office/drawing/2014/main" id="{18B651E0-88E3-43E3-8E84-89A99D35546E}"/>
              </a:ext>
            </a:extLst>
          </p:cNvPr>
          <p:cNvPicPr>
            <a:picLocks xmlns:a="http://schemas.openxmlformats.org/drawingml/2006/main" noChangeAspect="1"/>
          </p:cNvPicPr>
          <p:nvPr/>
        </p:nvPicPr>
        <p:blipFill>
          <a:blip xmlns:r="http://schemas.openxmlformats.org/officeDocument/2006/relationships" xmlns:a="http://schemas.openxmlformats.org/drawingml/2006/main" r:embed="R1fa2750469f64848"/>
          <a:stretch xmlns:a="http://schemas.openxmlformats.org/drawingml/2006/main"/>
        </p:blipFill>
        <p:spPr>
          <a:xfrm xmlns:a="http://schemas.openxmlformats.org/drawingml/2006/main">
            <a:off x="6946693" y="2190750"/>
            <a:ext cx="6490115" cy="5314950"/>
          </a:xfrm>
          <a:prstGeom xmlns:a="http://schemas.openxmlformats.org/drawingml/2006/main" prst="rect">
            <a:avLst/>
          </a:prstGeom>
        </p:spPr>
      </p:pic>
      <p:sp>
        <p:nvSpPr>
          <p:cNvPr id="12" name="screenshot-label">
            <a:extLst xmlns:a="http://schemas.openxmlformats.org/drawingml/2006/main">
              <a:ext uri="{FF2B5EF4-FFF2-40B4-BE49-F238E27FC236}">
                <a16:creationId xmlns:a16="http://schemas.microsoft.com/office/drawing/2014/main" id="{DDED6BEF-7543-4971-A513-D989CA4351A7}"/>
              </a:ext>
            </a:extLst>
          </p:cNvPr>
          <p:cNvSpPr>
            <a:spLocks xmlns:a="http://schemas.openxmlformats.org/drawingml/2006/main" noGrp="1"/>
          </p:cNvSpPr>
          <p:nvPr/>
        </p:nvSpPr>
        <p:spPr>
          <a:xfrm xmlns:a="http://schemas.openxmlformats.org/drawingml/2006/main">
            <a:off x="5810250" y="7667625"/>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a:solidFill>
                  <a:srgbClr val="7D6354"/>
                </a:solidFill>
                <a:latin typeface="Arial"/>
                <a:ea typeface="Arial"/>
                <a:cs typeface="Arial"/>
              </a:defRPr>
            </a:defPPr>
          </a:lstStyle>
          <a:p xmlns:a="http://schemas.openxmlformats.org/drawingml/2006/main">
            <a:pPr algn="ctr">
              <a:defRPr sz="1350">
                <a:solidFill>
                  <a:srgbClr val="7D6354"/>
                </a:solidFill>
                <a:latin typeface="Arial"/>
                <a:ea typeface="Arial"/>
                <a:cs typeface="Arial"/>
              </a:defRPr>
            </a:pPr>
            <a:r>
              <a:rPr sz="1350">
                <a:solidFill>
                  <a:srgbClr val="7D6354"/>
                </a:solidFill>
                <a:latin typeface="Arial"/>
                <a:ea typeface="Arial"/>
                <a:cs typeface="Arial"/>
              </a:rPr>
              <a:t>Ejemplo del proyecto · datos de prueba</a:t>
            </a:r>
          </a:p>
        </p:txBody>
      </p:sp>
    </p:spTree>
    <p:extLst>
      <p:ext uri="{BB962C8B-B14F-4D97-AF65-F5344CB8AC3E}">
        <p14:creationId xmlns:p14="http://schemas.microsoft.com/office/powerpoint/2010/main" val="83683086"/>
      </p:ext>
    </p:extLst>
  </p:cSld>
</p:sld>
</file>

<file path=ppt/slides/slide48.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4" name="section">
            <a:extLst xmlns:a="http://schemas.openxmlformats.org/drawingml/2006/main">
              <a:ext uri="{FF2B5EF4-FFF2-40B4-BE49-F238E27FC236}">
                <a16:creationId xmlns:a16="http://schemas.microsoft.com/office/drawing/2014/main" id="{1D74AC0D-4C5B-4159-94C1-F59E22145709}"/>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USO Y PUESTA EN MARCHA</a:t>
            </a:r>
          </a:p>
        </p:txBody>
      </p:sp>
      <p:sp>
        <p:nvSpPr>
          <p:cNvPr id="2" name="title">
            <a:extLst xmlns:a="http://schemas.openxmlformats.org/drawingml/2006/main">
              <a:ext uri="{FF2B5EF4-FFF2-40B4-BE49-F238E27FC236}">
                <a16:creationId xmlns:a16="http://schemas.microsoft.com/office/drawing/2014/main" id="{7813233C-7D7F-49D8-BDAE-EE83E6EBCD19}"/>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Una rutina de trabajo para el equipo</a:t>
            </a:r>
          </a:p>
        </p:txBody>
      </p:sp>
      <p:sp>
        <p:nvSpPr>
          <p:cNvPr id="3" name="footer">
            <a:extLst xmlns:a="http://schemas.openxmlformats.org/drawingml/2006/main">
              <a:ext uri="{FF2B5EF4-FFF2-40B4-BE49-F238E27FC236}">
                <a16:creationId xmlns:a16="http://schemas.microsoft.com/office/drawing/2014/main" id="{FAC90BE3-70E4-4AAC-885D-9140055421C5}"/>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896777A7-1A98-429E-8F93-FD0DE179C3F7}"/>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48</a:t>
            </a:r>
          </a:p>
        </p:txBody>
      </p:sp>
      <p:sp>
        <p:nvSpPr>
          <p:cNvPr id="5" name="col-number-0">
            <a:extLst xmlns:a="http://schemas.openxmlformats.org/drawingml/2006/main">
              <a:ext uri="{FF2B5EF4-FFF2-40B4-BE49-F238E27FC236}">
                <a16:creationId xmlns:a16="http://schemas.microsoft.com/office/drawing/2014/main" id="{D31FB016-1FE9-4CDB-B9E6-FBDCD7C48972}"/>
              </a:ext>
            </a:extLst>
          </p:cNvPr>
          <p:cNvSpPr>
            <a:spLocks xmlns:a="http://schemas.openxmlformats.org/drawingml/2006/main" noGrp="1"/>
          </p:cNvSpPr>
          <p:nvPr/>
        </p:nvSpPr>
        <p:spPr>
          <a:xfrm xmlns:a="http://schemas.openxmlformats.org/drawingml/2006/main">
            <a:off x="628650" y="263842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a:solidFill>
                  <a:srgbClr val="9C3834"/>
                </a:solidFill>
                <a:latin typeface="Georgia"/>
                <a:ea typeface="Georgia"/>
                <a:cs typeface="Georgia"/>
              </a:defRPr>
            </a:defPPr>
          </a:lstStyle>
          <a:p xmlns:a="http://schemas.openxmlformats.org/drawingml/2006/main">
            <a:pPr>
              <a:defRPr sz="4500">
                <a:solidFill>
                  <a:srgbClr val="9C3834"/>
                </a:solidFill>
                <a:latin typeface="Georgia"/>
                <a:ea typeface="Georgia"/>
                <a:cs typeface="Georgia"/>
              </a:defRPr>
            </a:pPr>
            <a:r>
              <a:rPr sz="4500">
                <a:solidFill>
                  <a:srgbClr val="9C3834"/>
                </a:solidFill>
                <a:latin typeface="Georgia"/>
                <a:ea typeface="Georgia"/>
                <a:cs typeface="Georgia"/>
              </a:rPr>
              <a:t>01</a:t>
            </a:r>
          </a:p>
        </p:txBody>
      </p:sp>
      <p:sp>
        <p:nvSpPr>
          <p:cNvPr id="6" name="col-title-0">
            <a:extLst xmlns:a="http://schemas.openxmlformats.org/drawingml/2006/main">
              <a:ext uri="{FF2B5EF4-FFF2-40B4-BE49-F238E27FC236}">
                <a16:creationId xmlns:a16="http://schemas.microsoft.com/office/drawing/2014/main" id="{A09F2C32-5027-4248-B53A-2B9C7131295F}"/>
              </a:ext>
            </a:extLst>
          </p:cNvPr>
          <p:cNvSpPr>
            <a:spLocks xmlns:a="http://schemas.openxmlformats.org/drawingml/2006/main" noGrp="1"/>
          </p:cNvSpPr>
          <p:nvPr/>
        </p:nvSpPr>
        <p:spPr>
          <a:xfrm xmlns:a="http://schemas.openxmlformats.org/drawingml/2006/main">
            <a:off x="628650" y="3600450"/>
            <a:ext cx="428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542B20"/>
                </a:solidFill>
                <a:latin typeface="Arial"/>
                <a:ea typeface="Arial"/>
                <a:cs typeface="Arial"/>
              </a:defRPr>
            </a:defPPr>
          </a:lstStyle>
          <a:p xmlns:a="http://schemas.openxmlformats.org/drawingml/2006/main">
            <a:pPr>
              <a:defRPr sz="2925" b="1">
                <a:solidFill>
                  <a:srgbClr val="542B20"/>
                </a:solidFill>
                <a:latin typeface="Arial"/>
                <a:ea typeface="Arial"/>
                <a:cs typeface="Arial"/>
              </a:defRPr>
            </a:pPr>
            <a:r>
              <a:rPr sz="2925" b="1">
                <a:solidFill>
                  <a:srgbClr val="542B20"/>
                </a:solidFill>
                <a:latin typeface="Arial"/>
                <a:ea typeface="Arial"/>
                <a:cs typeface="Arial"/>
              </a:rPr>
              <a:t>Al abrir</a:t>
            </a:r>
          </a:p>
        </p:txBody>
      </p:sp>
      <p:sp>
        <p:nvSpPr>
          <p:cNvPr id="7" name="col-body-0">
            <a:extLst xmlns:a="http://schemas.openxmlformats.org/drawingml/2006/main">
              <a:ext uri="{FF2B5EF4-FFF2-40B4-BE49-F238E27FC236}">
                <a16:creationId xmlns:a16="http://schemas.microsoft.com/office/drawing/2014/main" id="{FA76B664-D366-49C5-A63A-F045DAC651E7}"/>
              </a:ext>
            </a:extLst>
          </p:cNvPr>
          <p:cNvSpPr>
            <a:spLocks xmlns:a="http://schemas.openxmlformats.org/drawingml/2006/main" noGrp="1"/>
          </p:cNvSpPr>
          <p:nvPr/>
        </p:nvSpPr>
        <p:spPr>
          <a:xfrm xmlns:a="http://schemas.openxmlformats.org/drawingml/2006/main">
            <a:off x="628650" y="4648200"/>
            <a:ext cx="423862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542B20"/>
                </a:solidFill>
                <a:latin typeface="Arial"/>
                <a:ea typeface="Arial"/>
                <a:cs typeface="Arial"/>
              </a:defRPr>
            </a:defPPr>
          </a:lstStyle>
          <a:p xmlns:a="http://schemas.openxmlformats.org/drawingml/2006/main">
            <a:pPr>
              <a:defRPr sz="2325">
                <a:solidFill>
                  <a:srgbClr val="542B20"/>
                </a:solidFill>
                <a:latin typeface="Arial"/>
                <a:ea typeface="Arial"/>
                <a:cs typeface="Arial"/>
              </a:defRPr>
            </a:pPr>
            <a:r>
              <a:rPr sz="2325">
                <a:solidFill>
                  <a:srgbClr val="542B20"/>
                </a:solidFill>
                <a:latin typeface="Arial"/>
                <a:ea typeface="Arial"/>
                <a:cs typeface="Arial"/>
              </a:rPr>
              <a:t>Revisar Resumen, reservas del día, disponibilidad de Carta y entregas pendientes.</a:t>
            </a:r>
          </a:p>
        </p:txBody>
      </p:sp>
      <p:sp>
        <p:nvSpPr>
          <p:cNvPr id="8" name="col-number-1">
            <a:extLst xmlns:a="http://schemas.openxmlformats.org/drawingml/2006/main">
              <a:ext uri="{FF2B5EF4-FFF2-40B4-BE49-F238E27FC236}">
                <a16:creationId xmlns:a16="http://schemas.microsoft.com/office/drawing/2014/main" id="{1A9E53C1-87E4-4385-A10A-1E8940323B9F}"/>
              </a:ext>
            </a:extLst>
          </p:cNvPr>
          <p:cNvSpPr>
            <a:spLocks xmlns:a="http://schemas.openxmlformats.org/drawingml/2006/main" noGrp="1"/>
          </p:cNvSpPr>
          <p:nvPr/>
        </p:nvSpPr>
        <p:spPr>
          <a:xfrm xmlns:a="http://schemas.openxmlformats.org/drawingml/2006/main">
            <a:off x="5410200" y="263842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a:solidFill>
                  <a:srgbClr val="9C3834"/>
                </a:solidFill>
                <a:latin typeface="Georgia"/>
                <a:ea typeface="Georgia"/>
                <a:cs typeface="Georgia"/>
              </a:defRPr>
            </a:defPPr>
          </a:lstStyle>
          <a:p xmlns:a="http://schemas.openxmlformats.org/drawingml/2006/main">
            <a:pPr>
              <a:defRPr sz="4500">
                <a:solidFill>
                  <a:srgbClr val="9C3834"/>
                </a:solidFill>
                <a:latin typeface="Georgia"/>
                <a:ea typeface="Georgia"/>
                <a:cs typeface="Georgia"/>
              </a:defRPr>
            </a:pPr>
            <a:r>
              <a:rPr sz="4500">
                <a:solidFill>
                  <a:srgbClr val="9C3834"/>
                </a:solidFill>
                <a:latin typeface="Georgia"/>
                <a:ea typeface="Georgia"/>
                <a:cs typeface="Georgia"/>
              </a:rPr>
              <a:t>02</a:t>
            </a:r>
          </a:p>
        </p:txBody>
      </p:sp>
      <p:sp>
        <p:nvSpPr>
          <p:cNvPr id="9" name="col-title-1">
            <a:extLst xmlns:a="http://schemas.openxmlformats.org/drawingml/2006/main">
              <a:ext uri="{FF2B5EF4-FFF2-40B4-BE49-F238E27FC236}">
                <a16:creationId xmlns:a16="http://schemas.microsoft.com/office/drawing/2014/main" id="{AE1E277A-40C3-4914-BF64-D920385F654C}"/>
              </a:ext>
            </a:extLst>
          </p:cNvPr>
          <p:cNvSpPr>
            <a:spLocks xmlns:a="http://schemas.openxmlformats.org/drawingml/2006/main" noGrp="1"/>
          </p:cNvSpPr>
          <p:nvPr/>
        </p:nvSpPr>
        <p:spPr>
          <a:xfrm xmlns:a="http://schemas.openxmlformats.org/drawingml/2006/main">
            <a:off x="5410200" y="3600450"/>
            <a:ext cx="428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542B20"/>
                </a:solidFill>
                <a:latin typeface="Arial"/>
                <a:ea typeface="Arial"/>
                <a:cs typeface="Arial"/>
              </a:defRPr>
            </a:defPPr>
          </a:lstStyle>
          <a:p xmlns:a="http://schemas.openxmlformats.org/drawingml/2006/main">
            <a:pPr>
              <a:defRPr sz="2925" b="1">
                <a:solidFill>
                  <a:srgbClr val="542B20"/>
                </a:solidFill>
                <a:latin typeface="Arial"/>
                <a:ea typeface="Arial"/>
                <a:cs typeface="Arial"/>
              </a:defRPr>
            </a:pPr>
            <a:r>
              <a:rPr sz="2925" b="1">
                <a:solidFill>
                  <a:srgbClr val="542B20"/>
                </a:solidFill>
                <a:latin typeface="Arial"/>
                <a:ea typeface="Arial"/>
                <a:cs typeface="Arial"/>
              </a:rPr>
              <a:t>Durante el servicio</a:t>
            </a:r>
          </a:p>
        </p:txBody>
      </p:sp>
      <p:sp>
        <p:nvSpPr>
          <p:cNvPr id="10" name="col-body-1">
            <a:extLst xmlns:a="http://schemas.openxmlformats.org/drawingml/2006/main">
              <a:ext uri="{FF2B5EF4-FFF2-40B4-BE49-F238E27FC236}">
                <a16:creationId xmlns:a16="http://schemas.microsoft.com/office/drawing/2014/main" id="{87A2CD48-4936-43F3-A1FC-A51D82023150}"/>
              </a:ext>
            </a:extLst>
          </p:cNvPr>
          <p:cNvSpPr>
            <a:spLocks xmlns:a="http://schemas.openxmlformats.org/drawingml/2006/main" noGrp="1"/>
          </p:cNvSpPr>
          <p:nvPr/>
        </p:nvSpPr>
        <p:spPr>
          <a:xfrm xmlns:a="http://schemas.openxmlformats.org/drawingml/2006/main">
            <a:off x="5410200" y="4648200"/>
            <a:ext cx="423862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542B20"/>
                </a:solidFill>
                <a:latin typeface="Arial"/>
                <a:ea typeface="Arial"/>
                <a:cs typeface="Arial"/>
              </a:defRPr>
            </a:defPPr>
          </a:lstStyle>
          <a:p xmlns:a="http://schemas.openxmlformats.org/drawingml/2006/main">
            <a:pPr>
              <a:defRPr sz="2325">
                <a:solidFill>
                  <a:srgbClr val="542B20"/>
                </a:solidFill>
                <a:latin typeface="Arial"/>
                <a:ea typeface="Arial"/>
                <a:cs typeface="Arial"/>
              </a:defRPr>
            </a:pPr>
            <a:r>
              <a:rPr sz="2325">
                <a:solidFill>
                  <a:srgbClr val="542B20"/>
                </a:solidFill>
                <a:latin typeface="Arial"/>
                <a:ea typeface="Arial"/>
                <a:cs typeface="Arial"/>
              </a:rPr>
              <a:t>Aceptar y actualizar pedidos, verificar códigos en caja y registrar llegada, entrega y asistencia.</a:t>
            </a:r>
          </a:p>
        </p:txBody>
      </p:sp>
      <p:sp>
        <p:nvSpPr>
          <p:cNvPr id="11" name="col-number-2">
            <a:extLst xmlns:a="http://schemas.openxmlformats.org/drawingml/2006/main">
              <a:ext uri="{FF2B5EF4-FFF2-40B4-BE49-F238E27FC236}">
                <a16:creationId xmlns:a16="http://schemas.microsoft.com/office/drawing/2014/main" id="{E61DC072-09C9-44DF-91D0-7032A5CD9598}"/>
              </a:ext>
            </a:extLst>
          </p:cNvPr>
          <p:cNvSpPr>
            <a:spLocks xmlns:a="http://schemas.openxmlformats.org/drawingml/2006/main" noGrp="1"/>
          </p:cNvSpPr>
          <p:nvPr/>
        </p:nvSpPr>
        <p:spPr>
          <a:xfrm xmlns:a="http://schemas.openxmlformats.org/drawingml/2006/main">
            <a:off x="10191750" y="263842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a:solidFill>
                  <a:srgbClr val="9C3834"/>
                </a:solidFill>
                <a:latin typeface="Georgia"/>
                <a:ea typeface="Georgia"/>
                <a:cs typeface="Georgia"/>
              </a:defRPr>
            </a:defPPr>
          </a:lstStyle>
          <a:p xmlns:a="http://schemas.openxmlformats.org/drawingml/2006/main">
            <a:pPr>
              <a:defRPr sz="4500">
                <a:solidFill>
                  <a:srgbClr val="9C3834"/>
                </a:solidFill>
                <a:latin typeface="Georgia"/>
                <a:ea typeface="Georgia"/>
                <a:cs typeface="Georgia"/>
              </a:defRPr>
            </a:pPr>
            <a:r>
              <a:rPr sz="4500">
                <a:solidFill>
                  <a:srgbClr val="9C3834"/>
                </a:solidFill>
                <a:latin typeface="Georgia"/>
                <a:ea typeface="Georgia"/>
                <a:cs typeface="Georgia"/>
              </a:rPr>
              <a:t>03</a:t>
            </a:r>
          </a:p>
        </p:txBody>
      </p:sp>
      <p:sp>
        <p:nvSpPr>
          <p:cNvPr id="12" name="col-title-2">
            <a:extLst xmlns:a="http://schemas.openxmlformats.org/drawingml/2006/main">
              <a:ext uri="{FF2B5EF4-FFF2-40B4-BE49-F238E27FC236}">
                <a16:creationId xmlns:a16="http://schemas.microsoft.com/office/drawing/2014/main" id="{9922A37E-15F9-453C-AD27-129A5405C623}"/>
              </a:ext>
            </a:extLst>
          </p:cNvPr>
          <p:cNvSpPr>
            <a:spLocks xmlns:a="http://schemas.openxmlformats.org/drawingml/2006/main" noGrp="1"/>
          </p:cNvSpPr>
          <p:nvPr/>
        </p:nvSpPr>
        <p:spPr>
          <a:xfrm xmlns:a="http://schemas.openxmlformats.org/drawingml/2006/main">
            <a:off x="10191750" y="3600450"/>
            <a:ext cx="428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542B20"/>
                </a:solidFill>
                <a:latin typeface="Arial"/>
                <a:ea typeface="Arial"/>
                <a:cs typeface="Arial"/>
              </a:defRPr>
            </a:defPPr>
          </a:lstStyle>
          <a:p xmlns:a="http://schemas.openxmlformats.org/drawingml/2006/main">
            <a:pPr>
              <a:defRPr sz="2925" b="1">
                <a:solidFill>
                  <a:srgbClr val="542B20"/>
                </a:solidFill>
                <a:latin typeface="Arial"/>
                <a:ea typeface="Arial"/>
                <a:cs typeface="Arial"/>
              </a:defRPr>
            </a:pPr>
            <a:r>
              <a:rPr sz="2925" b="1">
                <a:solidFill>
                  <a:srgbClr val="542B20"/>
                </a:solidFill>
                <a:latin typeface="Arial"/>
                <a:ea typeface="Arial"/>
                <a:cs typeface="Arial"/>
              </a:rPr>
              <a:t>Al cerrar</a:t>
            </a:r>
          </a:p>
        </p:txBody>
      </p:sp>
      <p:sp>
        <p:nvSpPr>
          <p:cNvPr id="13" name="col-body-2">
            <a:extLst xmlns:a="http://schemas.openxmlformats.org/drawingml/2006/main">
              <a:ext uri="{FF2B5EF4-FFF2-40B4-BE49-F238E27FC236}">
                <a16:creationId xmlns:a16="http://schemas.microsoft.com/office/drawing/2014/main" id="{16D51DF9-0771-442E-88F1-1B645953E1CC}"/>
              </a:ext>
            </a:extLst>
          </p:cNvPr>
          <p:cNvSpPr>
            <a:spLocks xmlns:a="http://schemas.openxmlformats.org/drawingml/2006/main" noGrp="1"/>
          </p:cNvSpPr>
          <p:nvPr/>
        </p:nvSpPr>
        <p:spPr>
          <a:xfrm xmlns:a="http://schemas.openxmlformats.org/drawingml/2006/main">
            <a:off x="10191750" y="4648200"/>
            <a:ext cx="423862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542B20"/>
                </a:solidFill>
                <a:latin typeface="Arial"/>
                <a:ea typeface="Arial"/>
                <a:cs typeface="Arial"/>
              </a:defRPr>
            </a:defPPr>
          </a:lstStyle>
          <a:p xmlns:a="http://schemas.openxmlformats.org/drawingml/2006/main">
            <a:pPr>
              <a:defRPr sz="2325">
                <a:solidFill>
                  <a:srgbClr val="542B20"/>
                </a:solidFill>
                <a:latin typeface="Arial"/>
                <a:ea typeface="Arial"/>
                <a:cs typeface="Arial"/>
              </a:defRPr>
            </a:pPr>
            <a:r>
              <a:rPr sz="2325">
                <a:solidFill>
                  <a:srgbClr val="542B20"/>
                </a:solidFill>
                <a:latin typeface="Arial"/>
                <a:ea typeface="Arial"/>
                <a:cs typeface="Arial"/>
              </a:rPr>
              <a:t>Resolver pendientes, revisar cifras e incidencias y cerrar la sesión antes de entregar el dispositivo.</a:t>
            </a:r>
          </a:p>
        </p:txBody>
      </p:sp>
    </p:spTree>
    <p:extLst>
      <p:ext uri="{BB962C8B-B14F-4D97-AF65-F5344CB8AC3E}">
        <p14:creationId xmlns:p14="http://schemas.microsoft.com/office/powerpoint/2010/main" val="777122454"/>
      </p:ext>
    </p:extLst>
  </p:cSld>
</p:sld>
</file>

<file path=ppt/slides/slide49.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492133D4-98E8-4113-93F7-2FCEDB7A9DC1}"/>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USO Y PUESTA EN MARCHA</a:t>
            </a:r>
          </a:p>
        </p:txBody>
      </p:sp>
      <p:sp>
        <p:nvSpPr>
          <p:cNvPr id="2" name="title">
            <a:extLst xmlns:a="http://schemas.openxmlformats.org/drawingml/2006/main">
              <a:ext uri="{FF2B5EF4-FFF2-40B4-BE49-F238E27FC236}">
                <a16:creationId xmlns:a16="http://schemas.microsoft.com/office/drawing/2014/main" id="{948D77CF-E48B-4385-AD48-4565B606D6F9}"/>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Preparación para operar cada función</a:t>
            </a:r>
          </a:p>
        </p:txBody>
      </p:sp>
      <p:sp>
        <p:nvSpPr>
          <p:cNvPr id="3" name="footer">
            <a:extLst xmlns:a="http://schemas.openxmlformats.org/drawingml/2006/main">
              <a:ext uri="{FF2B5EF4-FFF2-40B4-BE49-F238E27FC236}">
                <a16:creationId xmlns:a16="http://schemas.microsoft.com/office/drawing/2014/main" id="{07806EE8-93CF-4171-BDA1-F3F76CC731B8}"/>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A13952B7-9058-47DB-BF2E-CAB1BB26EB3A}"/>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49</a:t>
            </a:r>
          </a:p>
        </p:txBody>
      </p:sp>
      <p:graphicFrame>
        <p:nvGraphicFramePr>
          <p:cNvPr id="5" name="">
            <a:extLst xmlns:a="http://schemas.openxmlformats.org/drawingml/2006/main">
              <a:ext uri="{FF2B5EF4-FFF2-40B4-BE49-F238E27FC236}">
                <a16:creationId xmlns:a16="http://schemas.microsoft.com/office/drawing/2014/main" id="{033B97F6-B056-474C-BB4A-2F794A551B51}"/>
              </a:ext>
            </a:extLst>
          </p:cNvPr>
          <p:cNvGraphicFramePr/>
          <p:nvPr/>
        </p:nvGraphicFramePr>
        <p:xfrm>
          <a:off xmlns:a="http://schemas.openxmlformats.org/drawingml/2006/main" x="619125" y="2286000"/>
          <a:ext xmlns:a="http://schemas.openxmlformats.org/drawingml/2006/main" cx="14001750" cy="5200650"/>
        </p:xfrm>
        <a:graphic xmlns:a="http://schemas.openxmlformats.org/drawingml/2006/main">
          <a:graphicData uri="http://schemas.openxmlformats.org/drawingml/2006/table">
            <a:tbl>
              <a:tblPr firstRow="0" lastRow="0" bandRow="0"/>
              <a:tblGrid>
                <a:gridCol w="3429000"/>
                <a:gridCol w="10572750"/>
              </a:tblGrid>
              <a:tr h="866775">
                <a:tc>
                  <a:txBody>
                    <a:bodyPr/>
                    <a:lstStyle/>
                    <a:p>
                      <a:r>
                        <a:rPr sz="1950" b="1">
                          <a:solidFill>
                            <a:srgbClr val="FFFFFF"/>
                          </a:solidFill>
                          <a:latin typeface="Arial"/>
                          <a:ea typeface="Arial"/>
                          <a:cs typeface="Arial"/>
                        </a:rPr>
                        <a:t>Función</a:t>
                      </a:r>
                    </a:p>
                  </a:txBody>
                  <a:tcPr marL="209550" marR="209550" marT="114300" marB="95250" anchor="ctr">
                    <a:lnL w="9525">
                      <a:solidFill>
                        <a:srgbClr val="D8C7B8"/>
                      </a:solidFill>
                      <a:prstDash val="solid"/>
                    </a:lnL>
                    <a:lnR w="9525">
                      <a:solidFill>
                        <a:srgbClr val="D8C7B8"/>
                      </a:solidFill>
                      <a:prstDash val="solid"/>
                    </a:lnR>
                    <a:lnT w="9525">
                      <a:solidFill>
                        <a:srgbClr val="D8C7B8"/>
                      </a:solidFill>
                      <a:prstDash val="solid"/>
                    </a:lnT>
                    <a:lnB w="9525">
                      <a:solidFill>
                        <a:srgbClr val="D8C7B8"/>
                      </a:solidFill>
                      <a:prstDash val="solid"/>
                    </a:lnB>
                    <a:solidFill>
                      <a:srgbClr val="542B20"/>
                    </a:solidFill>
                  </a:tcPr>
                </a:tc>
                <a:tc>
                  <a:txBody>
                    <a:bodyPr/>
                    <a:lstStyle/>
                    <a:p>
                      <a:r>
                        <a:rPr sz="1950" b="1">
                          <a:solidFill>
                            <a:srgbClr val="FFFFFF"/>
                          </a:solidFill>
                          <a:latin typeface="Arial"/>
                          <a:ea typeface="Arial"/>
                          <a:cs typeface="Arial"/>
                        </a:rPr>
                        <a:t>Situación observada y siguiente paso</a:t>
                      </a:r>
                    </a:p>
                  </a:txBody>
                  <a:tcPr marL="209550" marR="209550" marT="114300" marB="95250" anchor="ctr">
                    <a:lnR w="9525">
                      <a:solidFill>
                        <a:srgbClr val="D8C7B8"/>
                      </a:solidFill>
                      <a:prstDash val="solid"/>
                    </a:lnR>
                    <a:lnT w="9525">
                      <a:solidFill>
                        <a:srgbClr val="D8C7B8"/>
                      </a:solidFill>
                      <a:prstDash val="solid"/>
                    </a:lnT>
                    <a:lnB w="9525">
                      <a:solidFill>
                        <a:srgbClr val="D8C7B8"/>
                      </a:solidFill>
                      <a:prstDash val="solid"/>
                    </a:lnB>
                    <a:solidFill>
                      <a:srgbClr val="542B20"/>
                    </a:solidFill>
                  </a:tcPr>
                </a:tc>
              </a:tr>
              <a:tr h="866775">
                <a:tc>
                  <a:txBody>
                    <a:bodyPr/>
                    <a:lstStyle/>
                    <a:p>
                      <a:r>
                        <a:rPr sz="2175" b="1">
                          <a:solidFill>
                            <a:srgbClr val="542B20"/>
                          </a:solidFill>
                          <a:latin typeface="Arial"/>
                          <a:ea typeface="Arial"/>
                          <a:cs typeface="Arial"/>
                        </a:rPr>
                        <a:t>Carta</a:t>
                      </a:r>
                    </a:p>
                  </a:txBody>
                  <a:tcPr marL="209550" marR="209550" marT="114300" marB="95250" anchor="ctr">
                    <a:lnL w="9525">
                      <a:solidFill>
                        <a:srgbClr val="D8C7B8"/>
                      </a:solidFill>
                      <a:prstDash val="solid"/>
                    </a:lnL>
                    <a:lnR w="9525">
                      <a:solidFill>
                        <a:srgbClr val="D8C7B8"/>
                      </a:solidFill>
                      <a:prstDash val="solid"/>
                    </a:lnR>
                    <a:lnB w="9525">
                      <a:solidFill>
                        <a:srgbClr val="D8C7B8"/>
                      </a:solidFill>
                      <a:prstDash val="solid"/>
                    </a:lnB>
                    <a:solidFill>
                      <a:srgbClr val="FBF7EE"/>
                    </a:solidFill>
                  </a:tcPr>
                </a:tc>
                <a:tc>
                  <a:txBody>
                    <a:bodyPr/>
                    <a:lstStyle/>
                    <a:p>
                      <a:r>
                        <a:rPr sz="2175" b="0">
                          <a:solidFill>
                            <a:srgbClr val="542B20"/>
                          </a:solidFill>
                          <a:latin typeface="Arial"/>
                          <a:ea typeface="Arial"/>
                          <a:cs typeface="Arial"/>
                        </a:rPr>
                        <a:t>Disponible para consultar y preparar pedidos. Confirmar porciones y fotos con cocina.</a:t>
                      </a:r>
                    </a:p>
                  </a:txBody>
                  <a:tcPr marL="209550" marR="209550" marT="114300" marB="95250" anchor="ctr">
                    <a:lnR w="9525">
                      <a:solidFill>
                        <a:srgbClr val="D8C7B8"/>
                      </a:solidFill>
                      <a:prstDash val="solid"/>
                    </a:lnR>
                    <a:lnB w="9525">
                      <a:solidFill>
                        <a:srgbClr val="D8C7B8"/>
                      </a:solidFill>
                      <a:prstDash val="solid"/>
                    </a:lnB>
                    <a:solidFill>
                      <a:srgbClr val="FBF7EE"/>
                    </a:solidFill>
                  </a:tcPr>
                </a:tc>
              </a:tr>
              <a:tr h="866775">
                <a:tc>
                  <a:txBody>
                    <a:bodyPr/>
                    <a:lstStyle/>
                    <a:p>
                      <a:r>
                        <a:rPr sz="2175" b="1">
                          <a:solidFill>
                            <a:srgbClr val="542B20"/>
                          </a:solidFill>
                          <a:latin typeface="Arial"/>
                          <a:ea typeface="Arial"/>
                          <a:cs typeface="Arial"/>
                        </a:rPr>
                        <a:t>Tienda</a:t>
                      </a:r>
                    </a:p>
                  </a:txBody>
                  <a:tcPr marL="209550" marR="209550" marT="114300" marB="95250" anchor="ctr">
                    <a:lnL w="9525">
                      <a:solidFill>
                        <a:srgbClr val="D8C7B8"/>
                      </a:solidFill>
                      <a:prstDash val="solid"/>
                    </a:lnL>
                    <a:lnR w="9525">
                      <a:solidFill>
                        <a:srgbClr val="D8C7B8"/>
                      </a:solidFill>
                      <a:prstDash val="solid"/>
                    </a:lnR>
                    <a:lnB w="9525">
                      <a:solidFill>
                        <a:srgbClr val="D8C7B8"/>
                      </a:solidFill>
                      <a:prstDash val="solid"/>
                    </a:lnB>
                    <a:solidFill>
                      <a:srgbClr val="FBF7EE"/>
                    </a:solidFill>
                  </a:tcPr>
                </a:tc>
                <a:tc>
                  <a:txBody>
                    <a:bodyPr/>
                    <a:lstStyle/>
                    <a:p>
                      <a:r>
                        <a:rPr sz="2175" b="0">
                          <a:solidFill>
                            <a:srgbClr val="542B20"/>
                          </a:solidFill>
                          <a:latin typeface="Arial"/>
                          <a:ea typeface="Arial"/>
                          <a:cs typeface="Arial"/>
                        </a:rPr>
                        <a:t>Lote visible con presentación y retiro pendientes. Completar la ficha antes de vender.</a:t>
                      </a:r>
                    </a:p>
                  </a:txBody>
                  <a:tcPr marL="209550" marR="209550" marT="114300" marB="95250" anchor="ctr">
                    <a:lnR w="9525">
                      <a:solidFill>
                        <a:srgbClr val="D8C7B8"/>
                      </a:solidFill>
                      <a:prstDash val="solid"/>
                    </a:lnR>
                    <a:lnB w="9525">
                      <a:solidFill>
                        <a:srgbClr val="D8C7B8"/>
                      </a:solidFill>
                      <a:prstDash val="solid"/>
                    </a:lnB>
                    <a:solidFill>
                      <a:srgbClr val="FBF7EE"/>
                    </a:solidFill>
                  </a:tcPr>
                </a:tc>
              </a:tr>
              <a:tr h="866775">
                <a:tc>
                  <a:txBody>
                    <a:bodyPr/>
                    <a:lstStyle/>
                    <a:p>
                      <a:r>
                        <a:rPr sz="2175" b="1">
                          <a:solidFill>
                            <a:srgbClr val="542B20"/>
                          </a:solidFill>
                          <a:latin typeface="Arial"/>
                          <a:ea typeface="Arial"/>
                          <a:cs typeface="Arial"/>
                        </a:rPr>
                        <a:t>Reservas</a:t>
                      </a:r>
                    </a:p>
                  </a:txBody>
                  <a:tcPr marL="209550" marR="209550" marT="114300" marB="95250" anchor="ctr">
                    <a:lnL w="9525">
                      <a:solidFill>
                        <a:srgbClr val="D8C7B8"/>
                      </a:solidFill>
                      <a:prstDash val="solid"/>
                    </a:lnL>
                    <a:lnR w="9525">
                      <a:solidFill>
                        <a:srgbClr val="D8C7B8"/>
                      </a:solidFill>
                      <a:prstDash val="solid"/>
                    </a:lnR>
                    <a:lnB w="9525">
                      <a:solidFill>
                        <a:srgbClr val="D8C7B8"/>
                      </a:solidFill>
                      <a:prstDash val="solid"/>
                    </a:lnB>
                    <a:solidFill>
                      <a:srgbClr val="FBF7EE"/>
                    </a:solidFill>
                  </a:tcPr>
                </a:tc>
                <a:tc>
                  <a:txBody>
                    <a:bodyPr/>
                    <a:lstStyle/>
                    <a:p>
                      <a:r>
                        <a:rPr sz="2175" b="0">
                          <a:solidFill>
                            <a:srgbClr val="542B20"/>
                          </a:solidFill>
                          <a:latin typeface="Arial"/>
                          <a:ea typeface="Arial"/>
                          <a:cs typeface="Arial"/>
                        </a:rPr>
                        <a:t>Zonas con capacidad por confirmar. Registrar mesas reales para habilitar horarios.</a:t>
                      </a:r>
                    </a:p>
                  </a:txBody>
                  <a:tcPr marL="209550" marR="209550" marT="114300" marB="95250" anchor="ctr">
                    <a:lnR w="9525">
                      <a:solidFill>
                        <a:srgbClr val="D8C7B8"/>
                      </a:solidFill>
                      <a:prstDash val="solid"/>
                    </a:lnR>
                    <a:lnB w="9525">
                      <a:solidFill>
                        <a:srgbClr val="D8C7B8"/>
                      </a:solidFill>
                      <a:prstDash val="solid"/>
                    </a:lnB>
                    <a:solidFill>
                      <a:srgbClr val="FBF7EE"/>
                    </a:solidFill>
                  </a:tcPr>
                </a:tc>
              </a:tr>
              <a:tr h="866775">
                <a:tc>
                  <a:txBody>
                    <a:bodyPr/>
                    <a:lstStyle/>
                    <a:p>
                      <a:r>
                        <a:rPr sz="2175" b="1">
                          <a:solidFill>
                            <a:srgbClr val="542B20"/>
                          </a:solidFill>
                          <a:latin typeface="Arial"/>
                          <a:ea typeface="Arial"/>
                          <a:cs typeface="Arial"/>
                        </a:rPr>
                        <a:t>Club</a:t>
                      </a:r>
                    </a:p>
                  </a:txBody>
                  <a:tcPr marL="209550" marR="209550" marT="114300" marB="95250" anchor="ctr">
                    <a:lnL w="9525">
                      <a:solidFill>
                        <a:srgbClr val="D8C7B8"/>
                      </a:solidFill>
                      <a:prstDash val="solid"/>
                    </a:lnL>
                    <a:lnR w="9525">
                      <a:solidFill>
                        <a:srgbClr val="D8C7B8"/>
                      </a:solidFill>
                      <a:prstDash val="solid"/>
                    </a:lnR>
                    <a:lnB w="9525">
                      <a:solidFill>
                        <a:srgbClr val="D8C7B8"/>
                      </a:solidFill>
                      <a:prstDash val="solid"/>
                    </a:lnB>
                    <a:solidFill>
                      <a:srgbClr val="FBF7EE"/>
                    </a:solidFill>
                  </a:tcPr>
                </a:tc>
                <a:tc>
                  <a:txBody>
                    <a:bodyPr/>
                    <a:lstStyle/>
                    <a:p>
                      <a:r>
                        <a:rPr sz="2175" b="0">
                          <a:solidFill>
                            <a:srgbClr val="542B20"/>
                          </a:solidFill>
                          <a:latin typeface="Arial"/>
                          <a:ea typeface="Arial"/>
                          <a:cs typeface="Arial"/>
                        </a:rPr>
                        <a:t>Oferta de membresía visible. Validar y activar las reglas operativas aprobadas.</a:t>
                      </a:r>
                    </a:p>
                  </a:txBody>
                  <a:tcPr marL="209550" marR="209550" marT="114300" marB="95250" anchor="ctr">
                    <a:lnR w="9525">
                      <a:solidFill>
                        <a:srgbClr val="D8C7B8"/>
                      </a:solidFill>
                      <a:prstDash val="solid"/>
                    </a:lnR>
                    <a:lnB w="9525">
                      <a:solidFill>
                        <a:srgbClr val="D8C7B8"/>
                      </a:solidFill>
                      <a:prstDash val="solid"/>
                    </a:lnB>
                    <a:solidFill>
                      <a:srgbClr val="FBF7EE"/>
                    </a:solidFill>
                  </a:tcPr>
                </a:tc>
              </a:tr>
              <a:tr h="866775">
                <a:tc>
                  <a:txBody>
                    <a:bodyPr/>
                    <a:lstStyle/>
                    <a:p>
                      <a:r>
                        <a:rPr sz="2175" b="1">
                          <a:solidFill>
                            <a:srgbClr val="542B20"/>
                          </a:solidFill>
                          <a:latin typeface="Arial"/>
                          <a:ea typeface="Arial"/>
                          <a:cs typeface="Arial"/>
                        </a:rPr>
                        <a:t>Experiencias</a:t>
                      </a:r>
                    </a:p>
                  </a:txBody>
                  <a:tcPr marL="209550" marR="209550" marT="114300" marB="95250" anchor="ctr">
                    <a:lnL w="9525">
                      <a:solidFill>
                        <a:srgbClr val="D8C7B8"/>
                      </a:solidFill>
                      <a:prstDash val="solid"/>
                    </a:lnL>
                    <a:lnR w="9525">
                      <a:solidFill>
                        <a:srgbClr val="D8C7B8"/>
                      </a:solidFill>
                      <a:prstDash val="solid"/>
                    </a:lnR>
                    <a:lnB w="9525">
                      <a:solidFill>
                        <a:srgbClr val="D8C7B8"/>
                      </a:solidFill>
                      <a:prstDash val="solid"/>
                    </a:lnB>
                    <a:solidFill>
                      <a:srgbClr val="FBF7EE"/>
                    </a:solidFill>
                  </a:tcPr>
                </a:tc>
                <a:tc>
                  <a:txBody>
                    <a:bodyPr/>
                    <a:lstStyle/>
                    <a:p>
                      <a:r>
                        <a:rPr sz="2175" b="0">
                          <a:solidFill>
                            <a:srgbClr val="542B20"/>
                          </a:solidFill>
                          <a:latin typeface="Arial"/>
                          <a:ea typeface="Arial"/>
                          <a:cs typeface="Arial"/>
                        </a:rPr>
                        <a:t>Sin actividades publicadas al consultar. Preparar ficha, cupos y condiciones.</a:t>
                      </a:r>
                    </a:p>
                  </a:txBody>
                  <a:tcPr marL="209550" marR="209550" marT="114300" marB="95250" anchor="ctr">
                    <a:lnR w="9525">
                      <a:solidFill>
                        <a:srgbClr val="D8C7B8"/>
                      </a:solidFill>
                      <a:prstDash val="solid"/>
                    </a:lnR>
                    <a:lnB w="9525">
                      <a:solidFill>
                        <a:srgbClr val="D8C7B8"/>
                      </a:solidFill>
                      <a:prstDash val="solid"/>
                    </a:lnB>
                    <a:solidFill>
                      <a:srgbClr val="FBF7EE"/>
                    </a:solidFill>
                  </a:tcPr>
                </a:tc>
              </a:tr>
            </a:tbl>
          </a:graphicData>
        </a:graphic>
      </p:graphicFrame>
    </p:spTree>
    <p:extLst>
      <p:ext uri="{BB962C8B-B14F-4D97-AF65-F5344CB8AC3E}">
        <p14:creationId xmlns:p14="http://schemas.microsoft.com/office/powerpoint/2010/main" val="1863734922"/>
      </p:ext>
    </p:extLst>
  </p:cSld>
</p:sld>
</file>

<file path=ppt/slides/slide50.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E427878-8067-4B16-AF1A-BAA617BEE66C}"/>
              </a:ext>
            </a:extLst>
          </p:cNvPr>
          <p:cNvSpPr>
            <a:spLocks xmlns:a="http://schemas.openxmlformats.org/drawingml/2006/main" noGrp="1"/>
          </p:cNvSpPr>
          <p:nvPr/>
        </p:nvSpPr>
        <p:spPr>
          <a:xfrm xmlns:a="http://schemas.openxmlformats.org/drawingml/2006/main">
            <a:off x="619125" y="40005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C3834"/>
                </a:solidFill>
                <a:latin typeface="Arial"/>
                <a:ea typeface="Arial"/>
                <a:cs typeface="Arial"/>
              </a:defRPr>
            </a:defPPr>
          </a:lstStyle>
          <a:p xmlns:a="http://schemas.openxmlformats.org/drawingml/2006/main">
            <a:pPr>
              <a:defRPr sz="1350" b="1">
                <a:solidFill>
                  <a:srgbClr val="9C3834"/>
                </a:solidFill>
                <a:latin typeface="Arial"/>
                <a:ea typeface="Arial"/>
                <a:cs typeface="Arial"/>
              </a:defRPr>
            </a:pPr>
            <a:r>
              <a:rPr sz="1350" b="1">
                <a:solidFill>
                  <a:srgbClr val="9C3834"/>
                </a:solidFill>
                <a:latin typeface="Arial"/>
                <a:ea typeface="Arial"/>
                <a:cs typeface="Arial"/>
              </a:rPr>
              <a:t>USO Y PUESTA EN MARCHA</a:t>
            </a:r>
          </a:p>
        </p:txBody>
      </p:sp>
      <p:sp>
        <p:nvSpPr>
          <p:cNvPr id="2" name="title">
            <a:extLst xmlns:a="http://schemas.openxmlformats.org/drawingml/2006/main">
              <a:ext uri="{FF2B5EF4-FFF2-40B4-BE49-F238E27FC236}">
                <a16:creationId xmlns:a16="http://schemas.microsoft.com/office/drawing/2014/main" id="{F3956294-FEF7-4DFC-9D94-72ECC3C6E774}"/>
              </a:ext>
            </a:extLst>
          </p:cNvPr>
          <p:cNvSpPr>
            <a:spLocks xmlns:a="http://schemas.openxmlformats.org/drawingml/2006/main" noGrp="1"/>
          </p:cNvSpPr>
          <p:nvPr/>
        </p:nvSpPr>
        <p:spPr>
          <a:xfrm xmlns:a="http://schemas.openxmlformats.org/drawingml/2006/main">
            <a:off x="600075" y="866775"/>
            <a:ext cx="14039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a:solidFill>
                  <a:srgbClr val="542B20"/>
                </a:solidFill>
                <a:latin typeface="Georgia"/>
                <a:ea typeface="Georgia"/>
                <a:cs typeface="Georgia"/>
              </a:defRPr>
            </a:defPPr>
          </a:lstStyle>
          <a:p xmlns:a="http://schemas.openxmlformats.org/drawingml/2006/main">
            <a:pPr>
              <a:defRPr sz="4050">
                <a:solidFill>
                  <a:srgbClr val="542B20"/>
                </a:solidFill>
                <a:latin typeface="Georgia"/>
                <a:ea typeface="Georgia"/>
                <a:cs typeface="Georgia"/>
              </a:defRPr>
            </a:pPr>
            <a:r>
              <a:rPr sz="4050">
                <a:solidFill>
                  <a:srgbClr val="542B20"/>
                </a:solidFill>
                <a:latin typeface="Georgia"/>
                <a:ea typeface="Georgia"/>
                <a:cs typeface="Georgia"/>
              </a:rPr>
              <a:t>Cada registro completa la experiencia</a:t>
            </a:r>
          </a:p>
        </p:txBody>
      </p:sp>
      <p:sp>
        <p:nvSpPr>
          <p:cNvPr id="3" name="footer">
            <a:extLst xmlns:a="http://schemas.openxmlformats.org/drawingml/2006/main">
              <a:ext uri="{FF2B5EF4-FFF2-40B4-BE49-F238E27FC236}">
                <a16:creationId xmlns:a16="http://schemas.microsoft.com/office/drawing/2014/main" id="{E283CB16-5D50-4696-A1DF-7AEE0DA8E6F3}"/>
              </a:ext>
            </a:extLst>
          </p:cNvPr>
          <p:cNvSpPr>
            <a:spLocks xmlns:a="http://schemas.openxmlformats.org/drawingml/2006/main" noGrp="1"/>
          </p:cNvSpPr>
          <p:nvPr/>
        </p:nvSpPr>
        <p:spPr>
          <a:xfrm xmlns:a="http://schemas.openxmlformats.org/drawingml/2006/main">
            <a:off x="619125" y="8096250"/>
            <a:ext cx="1238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7D6354"/>
                </a:solidFill>
                <a:latin typeface="Arial"/>
                <a:ea typeface="Arial"/>
                <a:cs typeface="Arial"/>
              </a:defRPr>
            </a:defPPr>
          </a:lstStyle>
          <a:p xmlns:a="http://schemas.openxmlformats.org/drawingml/2006/main">
            <a:pPr>
              <a:defRPr sz="1350">
                <a:solidFill>
                  <a:srgbClr val="7D6354"/>
                </a:solidFill>
                <a:latin typeface="Arial"/>
                <a:ea typeface="Arial"/>
                <a:cs typeface="Arial"/>
              </a:defRPr>
            </a:pPr>
            <a:r>
              <a:rPr sz="1350">
                <a:solidFill>
                  <a:srgbClr val="7D6354"/>
                </a:solidFill>
                <a:latin typeface="Arial"/>
                <a:ea typeface="Arial"/>
                <a:cs typeface="Arial"/>
              </a:rPr>
              <a:t>La Bella Lupita · Guía de uso y operación</a:t>
            </a:r>
          </a:p>
        </p:txBody>
      </p:sp>
      <p:sp>
        <p:nvSpPr>
          <p:cNvPr id="4" name="page">
            <a:extLst xmlns:a="http://schemas.openxmlformats.org/drawingml/2006/main">
              <a:ext uri="{FF2B5EF4-FFF2-40B4-BE49-F238E27FC236}">
                <a16:creationId xmlns:a16="http://schemas.microsoft.com/office/drawing/2014/main" id="{36984D92-C464-427A-BD44-A895895FBE73}"/>
              </a:ext>
            </a:extLst>
          </p:cNvPr>
          <p:cNvSpPr>
            <a:spLocks xmlns:a="http://schemas.openxmlformats.org/drawingml/2006/main" noGrp="1"/>
          </p:cNvSpPr>
          <p:nvPr/>
        </p:nvSpPr>
        <p:spPr>
          <a:xfrm xmlns:a="http://schemas.openxmlformats.org/drawingml/2006/main">
            <a:off x="13811250" y="809625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7D6354"/>
                </a:solidFill>
                <a:latin typeface="Arial"/>
                <a:ea typeface="Arial"/>
                <a:cs typeface="Arial"/>
              </a:defRPr>
            </a:defPPr>
          </a:lstStyle>
          <a:p xmlns:a="http://schemas.openxmlformats.org/drawingml/2006/main">
            <a:pPr algn="r">
              <a:defRPr sz="1350">
                <a:solidFill>
                  <a:srgbClr val="7D6354"/>
                </a:solidFill>
                <a:latin typeface="Arial"/>
                <a:ea typeface="Arial"/>
                <a:cs typeface="Arial"/>
              </a:defRPr>
            </a:pPr>
            <a:r>
              <a:rPr sz="1350">
                <a:solidFill>
                  <a:srgbClr val="7D6354"/>
                </a:solidFill>
                <a:latin typeface="Arial"/>
                <a:ea typeface="Arial"/>
                <a:cs typeface="Arial"/>
              </a:rPr>
              <a:t>50</a:t>
            </a:r>
          </a:p>
        </p:txBody>
      </p:sp>
      <p:sp>
        <p:nvSpPr>
          <p:cNvPr id="5" name="end-main">
            <a:extLst xmlns:a="http://schemas.openxmlformats.org/drawingml/2006/main">
              <a:ext uri="{FF2B5EF4-FFF2-40B4-BE49-F238E27FC236}">
                <a16:creationId xmlns:a16="http://schemas.microsoft.com/office/drawing/2014/main" id="{883058B5-823C-4243-9192-1FF2B41657A5}"/>
              </a:ext>
            </a:extLst>
          </p:cNvPr>
          <p:cNvSpPr>
            <a:spLocks xmlns:a="http://schemas.openxmlformats.org/drawingml/2006/main" noGrp="1"/>
          </p:cNvSpPr>
          <p:nvPr/>
        </p:nvSpPr>
        <p:spPr>
          <a:xfrm xmlns:a="http://schemas.openxmlformats.org/drawingml/2006/main">
            <a:off x="619125" y="2809875"/>
            <a:ext cx="137160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75">
                <a:solidFill>
                  <a:srgbClr val="542B20"/>
                </a:solidFill>
                <a:latin typeface="Georgia"/>
                <a:ea typeface="Georgia"/>
                <a:cs typeface="Georgia"/>
              </a:defRPr>
            </a:defPPr>
          </a:lstStyle>
          <a:p xmlns:a="http://schemas.openxmlformats.org/drawingml/2006/main">
            <a:pPr>
              <a:defRPr sz="3975">
                <a:solidFill>
                  <a:srgbClr val="542B20"/>
                </a:solidFill>
                <a:latin typeface="Georgia"/>
                <a:ea typeface="Georgia"/>
                <a:cs typeface="Georgia"/>
              </a:defRPr>
            </a:pPr>
            <a:r>
              <a:rPr sz="3975">
                <a:solidFill>
                  <a:srgbClr val="542B20"/>
                </a:solidFill>
                <a:latin typeface="Georgia"/>
                <a:ea typeface="Georgia"/>
                <a:cs typeface="Georgia"/>
              </a:rPr>
              <a:t>El cliente consulta y decide.</a:t>
            </a:r>
          </a:p>
          <a:p xmlns:a="http://schemas.openxmlformats.org/drawingml/2006/main">
            <a:pPr>
              <a:defRPr sz="3975">
                <a:solidFill>
                  <a:srgbClr val="542B20"/>
                </a:solidFill>
                <a:latin typeface="Georgia"/>
                <a:ea typeface="Georgia"/>
                <a:cs typeface="Georgia"/>
              </a:defRPr>
            </a:pPr>
            <a:r>
              <a:rPr sz="3975">
                <a:solidFill>
                  <a:srgbClr val="542B20"/>
                </a:solidFill>
                <a:latin typeface="Georgia"/>
                <a:ea typeface="Georgia"/>
                <a:cs typeface="Georgia"/>
              </a:rPr>
              <a:t>El equipo confirma lo que ocurrió.</a:t>
            </a:r>
          </a:p>
          <a:p xmlns:a="http://schemas.openxmlformats.org/drawingml/2006/main">
            <a:pPr>
              <a:defRPr sz="3975">
                <a:solidFill>
                  <a:srgbClr val="542B20"/>
                </a:solidFill>
                <a:latin typeface="Georgia"/>
                <a:ea typeface="Georgia"/>
                <a:cs typeface="Georgia"/>
              </a:defRPr>
            </a:pPr>
            <a:r>
              <a:rPr sz="3975">
                <a:solidFill>
                  <a:srgbClr val="542B20"/>
                </a:solidFill>
                <a:latin typeface="Georgia"/>
                <a:ea typeface="Georgia"/>
                <a:cs typeface="Georgia"/>
              </a:rPr>
              <a:t>El negocio conserva la información.</a:t>
            </a:r>
          </a:p>
        </p:txBody>
      </p:sp>
      <p:sp>
        <p:nvSpPr>
          <p:cNvPr id="6" name="end-url">
            <a:extLst xmlns:a="http://schemas.openxmlformats.org/drawingml/2006/main">
              <a:ext uri="{FF2B5EF4-FFF2-40B4-BE49-F238E27FC236}">
                <a16:creationId xmlns:a16="http://schemas.microsoft.com/office/drawing/2014/main" id="{FB739735-F0D3-4ED1-B9F1-43EF8AF3D409}"/>
              </a:ext>
            </a:extLst>
          </p:cNvPr>
          <p:cNvSpPr>
            <a:spLocks xmlns:a="http://schemas.openxmlformats.org/drawingml/2006/main" noGrp="1"/>
          </p:cNvSpPr>
          <p:nvPr/>
        </p:nvSpPr>
        <p:spPr>
          <a:xfrm xmlns:a="http://schemas.openxmlformats.org/drawingml/2006/main">
            <a:off x="638175" y="6848475"/>
            <a:ext cx="1304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a:solidFill>
                  <a:srgbClr val="9C3834"/>
                </a:solidFill>
                <a:latin typeface="Arial"/>
                <a:ea typeface="Arial"/>
                <a:cs typeface="Arial"/>
              </a:defRPr>
            </a:defPPr>
          </a:lstStyle>
          <a:p xmlns:a="http://schemas.openxmlformats.org/drawingml/2006/main">
            <a:pPr>
              <a:defRPr sz="2400">
                <a:solidFill>
                  <a:srgbClr val="9C3834"/>
                </a:solidFill>
                <a:latin typeface="Arial"/>
                <a:ea typeface="Arial"/>
                <a:cs typeface="Arial"/>
              </a:defRPr>
            </a:pPr>
            <a:r>
              <a:rPr sz="2400">
                <a:solidFill>
                  <a:srgbClr val="9C3834"/>
                </a:solidFill>
                <a:latin typeface="Arial"/>
                <a:ea typeface="Arial"/>
                <a:cs typeface="Arial"/>
              </a:rPr>
              <a:t>app.labellalupita.com</a:t>
            </a:r>
          </a:p>
        </p:txBody>
      </p:sp>
    </p:spTree>
    <p:extLst>
      <p:ext uri="{BB962C8B-B14F-4D97-AF65-F5344CB8AC3E}">
        <p14:creationId xmlns:p14="http://schemas.microsoft.com/office/powerpoint/2010/main" val="2014435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2026-10-13T00:26:39.5540000Z</dcterms:created>
  <dcterms:modified xsi:type="dcterms:W3CDTF">2026-10-13T00:26:39.5550000Z</dcterms:modified>
</coreProperties>
</file>