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recorrido: qué hace la app, módulo por módulo. Todas las capturas salen de la app en producción, con la cuenta de muestra.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pestañas son la estructura completa de la app del socio. Todo lo demás cuelga de una de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código por WhatsApp está construido del lado de la app y queda conectado cuando se contrate el envío. La cuenta de muestra es la que se usa para demostrar.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Cuenta de Casa es el corazón del modelo: el socio deja saldo por adelantado y eso es flujo asegurado para 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tanda es el motor de repetición: nueve visitas para ganar la décima bebida. El sello lo pone la caja, nunca el socio desde su teléfono.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de escasez son reales: si quedan 34 bolsas, es porque hay 34 sin apartar en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 platos cargados con precio. 36 tienen fotografía propia; los demás muestran la marca de la casa, como en una carta impresa.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buscador normaliza tildes. Los filtros son los cuatro momentos de la carta de la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protección contra el doble cobro y el cálculo del precio del lado del servidor son requisitos de dinero, no detalles técnicos.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bolsa se cobra de la Cuenta de Casa y el número sale de la base con bloqueo, así que dos personas no pueden llevarse la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límite de cien no es un texto: es una restricción de la base de datos. La cuota que se ve en pantalla es la que cobra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beneficios tienen botón porque el sistema puede llevar la cuenta. Los otros tres van escritos, sin botón.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experiencias que se ven salen de la base con sus cupos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imposibilidad de solapar dos reservas de VIP a la misma hora es una restricción de la base, no una comprobación de 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perfil es lo que convierte una app de sellos en trato de casa: la casa recuerda y el socio lo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Cuenta de Casa es prepago: financia el negocio y ata al socio sin necesidad de descuentos permanentes.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de la derecha está diseñado y decidido; falta construirlo o contratarlo. Nada de eso bloquea usar la app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1E17"/>
        </a:solidFill>
      </p:bgPr>
    </p:bg>
    <p:spTree>
      <p:nvGrpSpPr>
        <p:cNvPr id="1" name=""/>
        <p:cNvGrpSpPr/>
        <p:nvPr/>
      </p:nvGrpSpPr>
      <p:grpSpPr>
        <a:xfrm>
          <a:off x="0" y="0"/>
          <a:ext cx="0" cy="0"/>
          <a:chOff x="0" y="0"/>
          <a:chExt cx="0" cy="0"/>
        </a:xfrm>
      </p:grpSpPr>
      <p:pic>
        <p:nvPicPr>
          <p:cNvPr id="2" name="Image 0" descr="./img/terraza.jpg">    </p:cNvPr>
          <p:cNvPicPr>
            <a:picLocks noChangeAspect="1"/>
          </p:cNvPicPr>
          <p:nvPr/>
        </p:nvPicPr>
        <p:blipFill>
          <a:blip r:embed="rId1"/>
          <a:srcRect l="0" r="0" t="0" b="0"/>
          <a:stretch/>
        </p:blipFill>
        <p:spPr>
          <a:xfrm>
            <a:off x="0" y="0"/>
            <a:ext cx="12161520" cy="6858000"/>
          </a:xfrm>
          <a:prstGeom prst="rect">
            <a:avLst/>
          </a:prstGeom>
        </p:spPr>
      </p:pic>
      <p:sp>
        <p:nvSpPr>
          <p:cNvPr id="3" name="Shape 0"/>
          <p:cNvSpPr/>
          <p:nvPr/>
        </p:nvSpPr>
        <p:spPr>
          <a:xfrm>
            <a:off x="0" y="0"/>
            <a:ext cx="12161520" cy="6858000"/>
          </a:xfrm>
          <a:prstGeom prst="rect">
            <a:avLst/>
          </a:prstGeom>
          <a:solidFill>
            <a:srgbClr val="221E17">
              <a:alpha val="38000"/>
            </a:srgbClr>
          </a:solidFill>
          <a:ln/>
        </p:spPr>
      </p:sp>
      <p:sp>
        <p:nvSpPr>
          <p:cNvPr id="4" name="Shape 1"/>
          <p:cNvSpPr/>
          <p:nvPr/>
        </p:nvSpPr>
        <p:spPr>
          <a:xfrm>
            <a:off x="0" y="3246120"/>
            <a:ext cx="12161520" cy="3611880"/>
          </a:xfrm>
          <a:prstGeom prst="rect">
            <a:avLst/>
          </a:prstGeom>
          <a:solidFill>
            <a:srgbClr val="221E17">
              <a:alpha val="86000"/>
            </a:srgbClr>
          </a:solidFill>
          <a:ln/>
        </p:spPr>
      </p:sp>
      <p:sp>
        <p:nvSpPr>
          <p:cNvPr id="5" name="Text 2"/>
          <p:cNvSpPr/>
          <p:nvPr/>
        </p:nvSpPr>
        <p:spPr>
          <a:xfrm>
            <a:off x="822960" y="3429000"/>
            <a:ext cx="7315200" cy="274320"/>
          </a:xfrm>
          <a:prstGeom prst="rect">
            <a:avLst/>
          </a:prstGeom>
          <a:noFill/>
          <a:ln/>
        </p:spPr>
        <p:txBody>
          <a:bodyPr wrap="square" lIns="0" tIns="0" rIns="0" bIns="0" rtlCol="0" anchor="ctr"/>
          <a:lstStyle/>
          <a:p>
            <a:pPr indent="0" marL="0">
              <a:buNone/>
            </a:pPr>
            <a:r>
              <a:rPr lang="en-US" sz="1250" b="1" spc="300" kern="0" dirty="0">
                <a:solidFill>
                  <a:srgbClr val="E8B45C"/>
                </a:solidFill>
                <a:latin typeface="Calibri" pitchFamily="34" charset="0"/>
                <a:ea typeface="Calibri" pitchFamily="34" charset="-122"/>
                <a:cs typeface="Calibri" pitchFamily="34" charset="-120"/>
              </a:rPr>
              <a:t>LA BELLA LUPITA · MANAGUA</a:t>
            </a:r>
            <a:endParaRPr lang="en-US" sz="1250" dirty="0"/>
          </a:p>
        </p:txBody>
      </p:sp>
      <p:sp>
        <p:nvSpPr>
          <p:cNvPr id="6" name="Text 3"/>
          <p:cNvSpPr/>
          <p:nvPr/>
        </p:nvSpPr>
        <p:spPr>
          <a:xfrm>
            <a:off x="777240" y="3767328"/>
            <a:ext cx="8229600" cy="1234440"/>
          </a:xfrm>
          <a:prstGeom prst="rect">
            <a:avLst/>
          </a:prstGeom>
          <a:noFill/>
          <a:ln/>
        </p:spPr>
        <p:txBody>
          <a:bodyPr wrap="square" lIns="0" tIns="0" rIns="0" bIns="0" rtlCol="0" anchor="ctr"/>
          <a:lstStyle/>
          <a:p>
            <a:pPr indent="0" marL="0">
              <a:buNone/>
            </a:pPr>
            <a:r>
              <a:rPr lang="en-US" sz="6200" b="1" dirty="0">
                <a:solidFill>
                  <a:srgbClr val="F6F3EC"/>
                </a:solidFill>
                <a:latin typeface="Century Schoolbook" pitchFamily="34" charset="0"/>
                <a:ea typeface="Century Schoolbook" pitchFamily="34" charset="-122"/>
                <a:cs typeface="Century Schoolbook" pitchFamily="34" charset="-120"/>
              </a:rPr>
              <a:t>Club Lupita</a:t>
            </a:r>
            <a:endParaRPr lang="en-US" sz="6200" dirty="0"/>
          </a:p>
        </p:txBody>
      </p:sp>
      <p:sp>
        <p:nvSpPr>
          <p:cNvPr id="7" name="Text 4"/>
          <p:cNvSpPr/>
          <p:nvPr/>
        </p:nvSpPr>
        <p:spPr>
          <a:xfrm>
            <a:off x="822960" y="5029200"/>
            <a:ext cx="7498080" cy="914400"/>
          </a:xfrm>
          <a:prstGeom prst="rect">
            <a:avLst/>
          </a:prstGeom>
          <a:noFill/>
          <a:ln/>
        </p:spPr>
        <p:txBody>
          <a:bodyPr wrap="square" lIns="0" tIns="0" rIns="0" bIns="0" rtlCol="0" anchor="ctr"/>
          <a:lstStyle/>
          <a:p>
            <a:pPr indent="0" marL="0">
              <a:lnSpc>
                <a:spcPts val="2600"/>
              </a:lnSpc>
              <a:buNone/>
            </a:pPr>
            <a:r>
              <a:rPr lang="en-US" sz="1600" dirty="0">
                <a:solidFill>
                  <a:srgbClr val="C4BCAC"/>
                </a:solidFill>
                <a:latin typeface="Calibri" pitchFamily="34" charset="0"/>
                <a:ea typeface="Calibri" pitchFamily="34" charset="-122"/>
                <a:cs typeface="Calibri" pitchFamily="34" charset="-120"/>
              </a:rPr>
              <a:t>La tanda de sellos, la cuenta abierta y la mesa lista para vos:</a:t>
            </a:r>
            <a:endParaRPr lang="en-US" sz="1600" dirty="0"/>
          </a:p>
          <a:p>
            <a:pPr indent="0" marL="0">
              <a:lnSpc>
                <a:spcPts val="2600"/>
              </a:lnSpc>
              <a:buNone/>
            </a:pPr>
            <a:r>
              <a:rPr lang="en-US" sz="1600" dirty="0">
                <a:solidFill>
                  <a:srgbClr val="C4BCAC"/>
                </a:solidFill>
                <a:latin typeface="Calibri" pitchFamily="34" charset="0"/>
                <a:ea typeface="Calibri" pitchFamily="34" charset="-122"/>
                <a:cs typeface="Calibri" pitchFamily="34" charset="-120"/>
              </a:rPr>
              <a:t>el club de la casa, dentro del teléfono del socio.</a:t>
            </a:r>
            <a:endParaRPr lang="en-US" sz="1600" dirty="0"/>
          </a:p>
        </p:txBody>
      </p:sp>
      <p:sp>
        <p:nvSpPr>
          <p:cNvPr id="8" name="Text 5"/>
          <p:cNvSpPr/>
          <p:nvPr/>
        </p:nvSpPr>
        <p:spPr>
          <a:xfrm>
            <a:off x="822960" y="6144768"/>
            <a:ext cx="5486400" cy="274320"/>
          </a:xfrm>
          <a:prstGeom prst="rect">
            <a:avLst/>
          </a:prstGeom>
          <a:noFill/>
          <a:ln/>
        </p:spPr>
        <p:txBody>
          <a:bodyPr wrap="square" lIns="0" tIns="0" rIns="0" bIns="0" rtlCol="0" anchor="ctr"/>
          <a:lstStyle/>
          <a:p>
            <a:pPr indent="0" marL="0">
              <a:buNone/>
            </a:pPr>
            <a:r>
              <a:rPr lang="en-US" sz="1150" dirty="0">
                <a:solidFill>
                  <a:srgbClr val="8C8578"/>
                </a:solidFill>
                <a:latin typeface="Calibri" pitchFamily="34" charset="0"/>
                <a:ea typeface="Calibri" pitchFamily="34" charset="-122"/>
                <a:cs typeface="Calibri" pitchFamily="34" charset="-120"/>
              </a:rPr>
              <a:t>Recorrido funcional · agosto de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1E17"/>
        </a:solidFill>
      </p:bgPr>
    </p:bg>
    <p:spTree>
      <p:nvGrpSpPr>
        <p:cNvPr id="1" name=""/>
        <p:cNvGrpSpPr/>
        <p:nvPr/>
      </p:nvGrpSpPr>
      <p:grpSpPr>
        <a:xfrm>
          <a:off x="0" y="0"/>
          <a:ext cx="0" cy="0"/>
          <a:chOff x="0" y="0"/>
          <a:chExt cx="0" cy="0"/>
        </a:xfrm>
      </p:grpSpPr>
      <p:sp>
        <p:nvSpPr>
          <p:cNvPr id="2" name="Text 0"/>
          <p:cNvSpPr/>
          <p:nvPr/>
        </p:nvSpPr>
        <p:spPr>
          <a:xfrm>
            <a:off x="685800" y="640080"/>
            <a:ext cx="777240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DE QUÉ SE TRATA</a:t>
            </a:r>
            <a:endParaRPr lang="en-US" sz="1100" dirty="0"/>
          </a:p>
        </p:txBody>
      </p:sp>
      <p:sp>
        <p:nvSpPr>
          <p:cNvPr id="3" name="Text 1"/>
          <p:cNvSpPr/>
          <p:nvPr/>
        </p:nvSpPr>
        <p:spPr>
          <a:xfrm>
            <a:off x="685800" y="950976"/>
            <a:ext cx="7772400" cy="1051560"/>
          </a:xfrm>
          <a:prstGeom prst="rect">
            <a:avLst/>
          </a:prstGeom>
          <a:noFill/>
          <a:ln/>
        </p:spPr>
        <p:txBody>
          <a:bodyPr wrap="square" lIns="0" tIns="0" rIns="0" bIns="0" rtlCol="0" anchor="ctr"/>
          <a:lstStyle/>
          <a:p>
            <a:pPr indent="0" marL="0">
              <a:lnSpc>
                <a:spcPts val="4032"/>
              </a:lnSpc>
              <a:buNone/>
            </a:pPr>
            <a:r>
              <a:rPr lang="en-US" sz="3600" b="1" dirty="0">
                <a:solidFill>
                  <a:srgbClr val="F6F3EC"/>
                </a:solidFill>
                <a:latin typeface="Century Schoolbook" pitchFamily="34" charset="0"/>
                <a:ea typeface="Century Schoolbook" pitchFamily="34" charset="-122"/>
                <a:cs typeface="Century Schoolbook" pitchFamily="34" charset="-120"/>
              </a:rPr>
              <a:t>Una sola app, cinco lugares</a:t>
            </a:r>
            <a:endParaRPr lang="en-US" sz="3600" dirty="0"/>
          </a:p>
        </p:txBody>
      </p:sp>
      <p:sp>
        <p:nvSpPr>
          <p:cNvPr id="4" name="Text 2"/>
          <p:cNvSpPr/>
          <p:nvPr/>
        </p:nvSpPr>
        <p:spPr>
          <a:xfrm>
            <a:off x="713232" y="1965960"/>
            <a:ext cx="6949440" cy="914400"/>
          </a:xfrm>
          <a:prstGeom prst="rect">
            <a:avLst/>
          </a:prstGeom>
          <a:noFill/>
          <a:ln/>
        </p:spPr>
        <p:txBody>
          <a:bodyPr wrap="square" lIns="0" tIns="0" rIns="0" bIns="0" rtlCol="0" anchor="t"/>
          <a:lstStyle/>
          <a:p>
            <a:pPr indent="0" marL="0">
              <a:lnSpc>
                <a:spcPts val="2250"/>
              </a:lnSpc>
              <a:buNone/>
            </a:pPr>
            <a:r>
              <a:rPr lang="en-US" sz="1500" dirty="0">
                <a:solidFill>
                  <a:srgbClr val="C4BCAC"/>
                </a:solidFill>
                <a:latin typeface="Calibri" pitchFamily="34" charset="0"/>
                <a:ea typeface="Calibri" pitchFamily="34" charset="-122"/>
                <a:cs typeface="Calibri" pitchFamily="34" charset="-120"/>
              </a:rPr>
              <a:t>El socio abre la app y entra a la casa: ve lo que tiene, pide, compra café de la finca, usa su membresía y revisa lo suyo. Cada pestaña resuelve una de esas cinco cosas y nada más.</a:t>
            </a:r>
            <a:endParaRPr lang="en-US" sz="1500" dirty="0"/>
          </a:p>
        </p:txBody>
      </p:sp>
      <p:sp>
        <p:nvSpPr>
          <p:cNvPr id="5" name="Shape 3"/>
          <p:cNvSpPr/>
          <p:nvPr/>
        </p:nvSpPr>
        <p:spPr>
          <a:xfrm>
            <a:off x="685800" y="3611880"/>
            <a:ext cx="1993392" cy="2148840"/>
          </a:xfrm>
          <a:prstGeom prst="roundRect">
            <a:avLst>
              <a:gd name="adj" fmla="val 5505"/>
            </a:avLst>
          </a:prstGeom>
          <a:solidFill>
            <a:srgbClr val="2E2820"/>
          </a:solidFill>
          <a:ln w="12700">
            <a:solidFill>
              <a:srgbClr val="2E2820"/>
            </a:solidFill>
            <a:prstDash val="solid"/>
          </a:ln>
        </p:spPr>
      </p:sp>
      <p:sp>
        <p:nvSpPr>
          <p:cNvPr id="6" name="Shape 4"/>
          <p:cNvSpPr/>
          <p:nvPr/>
        </p:nvSpPr>
        <p:spPr>
          <a:xfrm>
            <a:off x="941832" y="3886200"/>
            <a:ext cx="384048" cy="384048"/>
          </a:xfrm>
          <a:prstGeom prst="ellipse">
            <a:avLst/>
          </a:prstGeom>
          <a:solidFill>
            <a:srgbClr val="C08A2D"/>
          </a:solidFill>
          <a:ln/>
        </p:spPr>
      </p:sp>
      <p:sp>
        <p:nvSpPr>
          <p:cNvPr id="7" name="Text 5"/>
          <p:cNvSpPr/>
          <p:nvPr/>
        </p:nvSpPr>
        <p:spPr>
          <a:xfrm>
            <a:off x="941832" y="3922776"/>
            <a:ext cx="384048" cy="310896"/>
          </a:xfrm>
          <a:prstGeom prst="rect">
            <a:avLst/>
          </a:prstGeom>
          <a:noFill/>
          <a:ln/>
        </p:spPr>
        <p:txBody>
          <a:bodyPr wrap="square" lIns="0" tIns="0" rIns="0" bIns="0" rtlCol="0" anchor="ctr"/>
          <a:lstStyle/>
          <a:p>
            <a:pPr algn="ctr" indent="0" marL="0">
              <a:buNone/>
            </a:pPr>
            <a:r>
              <a:rPr lang="en-US" sz="1300" b="1" dirty="0">
                <a:solidFill>
                  <a:srgbClr val="221E17"/>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41832" y="4434840"/>
            <a:ext cx="1536192" cy="310896"/>
          </a:xfrm>
          <a:prstGeom prst="rect">
            <a:avLst/>
          </a:prstGeom>
          <a:noFill/>
          <a:ln/>
        </p:spPr>
        <p:txBody>
          <a:bodyPr wrap="square" lIns="0" tIns="0" rIns="0" bIns="0" rtlCol="0" anchor="ctr"/>
          <a:lstStyle/>
          <a:p>
            <a:pPr indent="0" marL="0">
              <a:buNone/>
            </a:pPr>
            <a:r>
              <a:rPr lang="en-US" sz="1900" b="1" dirty="0">
                <a:solidFill>
                  <a:srgbClr val="F6F3EC"/>
                </a:solidFill>
                <a:latin typeface="Century Schoolbook" pitchFamily="34" charset="0"/>
                <a:ea typeface="Century Schoolbook" pitchFamily="34" charset="-122"/>
                <a:cs typeface="Century Schoolbook" pitchFamily="34" charset="-120"/>
              </a:rPr>
              <a:t>Inicio</a:t>
            </a:r>
            <a:endParaRPr lang="en-US" sz="1900" dirty="0"/>
          </a:p>
        </p:txBody>
      </p:sp>
      <p:sp>
        <p:nvSpPr>
          <p:cNvPr id="9" name="Text 7"/>
          <p:cNvSpPr/>
          <p:nvPr/>
        </p:nvSpPr>
        <p:spPr>
          <a:xfrm>
            <a:off x="941832" y="4800600"/>
            <a:ext cx="1536192" cy="822960"/>
          </a:xfrm>
          <a:prstGeom prst="rect">
            <a:avLst/>
          </a:prstGeom>
          <a:noFill/>
          <a:ln/>
        </p:spPr>
        <p:txBody>
          <a:bodyPr wrap="square" lIns="0" tIns="0" rIns="0" bIns="0" rtlCol="0" anchor="ctr"/>
          <a:lstStyle/>
          <a:p>
            <a:pPr indent="0" marL="0">
              <a:lnSpc>
                <a:spcPts val="1600"/>
              </a:lnSpc>
              <a:buNone/>
            </a:pPr>
            <a:r>
              <a:rPr lang="en-US" sz="1150" dirty="0">
                <a:solidFill>
                  <a:srgbClr val="C4BCAC"/>
                </a:solidFill>
                <a:latin typeface="Calibri" pitchFamily="34" charset="0"/>
                <a:ea typeface="Calibri" pitchFamily="34" charset="-122"/>
                <a:cs typeface="Calibri" pitchFamily="34" charset="-120"/>
              </a:rPr>
              <a:t>El carnet, la cuenta y la tanda de sellos</a:t>
            </a:r>
            <a:endParaRPr lang="en-US" sz="1150" dirty="0"/>
          </a:p>
        </p:txBody>
      </p:sp>
      <p:sp>
        <p:nvSpPr>
          <p:cNvPr id="10" name="Shape 8"/>
          <p:cNvSpPr/>
          <p:nvPr/>
        </p:nvSpPr>
        <p:spPr>
          <a:xfrm>
            <a:off x="2884932" y="3611880"/>
            <a:ext cx="1993392" cy="2148840"/>
          </a:xfrm>
          <a:prstGeom prst="roundRect">
            <a:avLst>
              <a:gd name="adj" fmla="val 5505"/>
            </a:avLst>
          </a:prstGeom>
          <a:solidFill>
            <a:srgbClr val="2E2820"/>
          </a:solidFill>
          <a:ln w="12700">
            <a:solidFill>
              <a:srgbClr val="2E2820"/>
            </a:solidFill>
            <a:prstDash val="solid"/>
          </a:ln>
        </p:spPr>
      </p:sp>
      <p:sp>
        <p:nvSpPr>
          <p:cNvPr id="11" name="Shape 9"/>
          <p:cNvSpPr/>
          <p:nvPr/>
        </p:nvSpPr>
        <p:spPr>
          <a:xfrm>
            <a:off x="3140964" y="3886200"/>
            <a:ext cx="384048" cy="384048"/>
          </a:xfrm>
          <a:prstGeom prst="ellipse">
            <a:avLst/>
          </a:prstGeom>
          <a:solidFill>
            <a:srgbClr val="C08A2D"/>
          </a:solidFill>
          <a:ln/>
        </p:spPr>
      </p:sp>
      <p:sp>
        <p:nvSpPr>
          <p:cNvPr id="12" name="Text 10"/>
          <p:cNvSpPr/>
          <p:nvPr/>
        </p:nvSpPr>
        <p:spPr>
          <a:xfrm>
            <a:off x="3140964" y="3922776"/>
            <a:ext cx="384048" cy="310896"/>
          </a:xfrm>
          <a:prstGeom prst="rect">
            <a:avLst/>
          </a:prstGeom>
          <a:noFill/>
          <a:ln/>
        </p:spPr>
        <p:txBody>
          <a:bodyPr wrap="square" lIns="0" tIns="0" rIns="0" bIns="0" rtlCol="0" anchor="ctr"/>
          <a:lstStyle/>
          <a:p>
            <a:pPr algn="ctr" indent="0" marL="0">
              <a:buNone/>
            </a:pPr>
            <a:r>
              <a:rPr lang="en-US" sz="1300" b="1" dirty="0">
                <a:solidFill>
                  <a:srgbClr val="221E17"/>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140964" y="4434840"/>
            <a:ext cx="1536192" cy="310896"/>
          </a:xfrm>
          <a:prstGeom prst="rect">
            <a:avLst/>
          </a:prstGeom>
          <a:noFill/>
          <a:ln/>
        </p:spPr>
        <p:txBody>
          <a:bodyPr wrap="square" lIns="0" tIns="0" rIns="0" bIns="0" rtlCol="0" anchor="ctr"/>
          <a:lstStyle/>
          <a:p>
            <a:pPr indent="0" marL="0">
              <a:buNone/>
            </a:pPr>
            <a:r>
              <a:rPr lang="en-US" sz="1900" b="1" dirty="0">
                <a:solidFill>
                  <a:srgbClr val="F6F3EC"/>
                </a:solidFill>
                <a:latin typeface="Century Schoolbook" pitchFamily="34" charset="0"/>
                <a:ea typeface="Century Schoolbook" pitchFamily="34" charset="-122"/>
                <a:cs typeface="Century Schoolbook" pitchFamily="34" charset="-120"/>
              </a:rPr>
              <a:t>Pedir</a:t>
            </a:r>
            <a:endParaRPr lang="en-US" sz="1900" dirty="0"/>
          </a:p>
        </p:txBody>
      </p:sp>
      <p:sp>
        <p:nvSpPr>
          <p:cNvPr id="14" name="Text 12"/>
          <p:cNvSpPr/>
          <p:nvPr/>
        </p:nvSpPr>
        <p:spPr>
          <a:xfrm>
            <a:off x="3140964" y="4800600"/>
            <a:ext cx="1536192" cy="822960"/>
          </a:xfrm>
          <a:prstGeom prst="rect">
            <a:avLst/>
          </a:prstGeom>
          <a:noFill/>
          <a:ln/>
        </p:spPr>
        <p:txBody>
          <a:bodyPr wrap="square" lIns="0" tIns="0" rIns="0" bIns="0" rtlCol="0" anchor="ctr"/>
          <a:lstStyle/>
          <a:p>
            <a:pPr indent="0" marL="0">
              <a:lnSpc>
                <a:spcPts val="1600"/>
              </a:lnSpc>
              <a:buNone/>
            </a:pPr>
            <a:r>
              <a:rPr lang="en-US" sz="1150" dirty="0">
                <a:solidFill>
                  <a:srgbClr val="C4BCAC"/>
                </a:solidFill>
                <a:latin typeface="Calibri" pitchFamily="34" charset="0"/>
                <a:ea typeface="Calibri" pitchFamily="34" charset="-122"/>
                <a:cs typeface="Calibri" pitchFamily="34" charset="-120"/>
              </a:rPr>
              <a:t>La carta completa y el pedido para llevar</a:t>
            </a:r>
            <a:endParaRPr lang="en-US" sz="1150" dirty="0"/>
          </a:p>
        </p:txBody>
      </p:sp>
      <p:sp>
        <p:nvSpPr>
          <p:cNvPr id="15" name="Shape 13"/>
          <p:cNvSpPr/>
          <p:nvPr/>
        </p:nvSpPr>
        <p:spPr>
          <a:xfrm>
            <a:off x="5084064" y="3611880"/>
            <a:ext cx="1993392" cy="2148840"/>
          </a:xfrm>
          <a:prstGeom prst="roundRect">
            <a:avLst>
              <a:gd name="adj" fmla="val 5505"/>
            </a:avLst>
          </a:prstGeom>
          <a:solidFill>
            <a:srgbClr val="2E2820"/>
          </a:solidFill>
          <a:ln w="12700">
            <a:solidFill>
              <a:srgbClr val="2E2820"/>
            </a:solidFill>
            <a:prstDash val="solid"/>
          </a:ln>
        </p:spPr>
      </p:sp>
      <p:sp>
        <p:nvSpPr>
          <p:cNvPr id="16" name="Shape 14"/>
          <p:cNvSpPr/>
          <p:nvPr/>
        </p:nvSpPr>
        <p:spPr>
          <a:xfrm>
            <a:off x="5340096" y="3886200"/>
            <a:ext cx="384048" cy="384048"/>
          </a:xfrm>
          <a:prstGeom prst="ellipse">
            <a:avLst/>
          </a:prstGeom>
          <a:solidFill>
            <a:srgbClr val="C08A2D"/>
          </a:solidFill>
          <a:ln/>
        </p:spPr>
      </p:sp>
      <p:sp>
        <p:nvSpPr>
          <p:cNvPr id="17" name="Text 15"/>
          <p:cNvSpPr/>
          <p:nvPr/>
        </p:nvSpPr>
        <p:spPr>
          <a:xfrm>
            <a:off x="5340096" y="3922776"/>
            <a:ext cx="384048" cy="310896"/>
          </a:xfrm>
          <a:prstGeom prst="rect">
            <a:avLst/>
          </a:prstGeom>
          <a:noFill/>
          <a:ln/>
        </p:spPr>
        <p:txBody>
          <a:bodyPr wrap="square" lIns="0" tIns="0" rIns="0" bIns="0" rtlCol="0" anchor="ctr"/>
          <a:lstStyle/>
          <a:p>
            <a:pPr algn="ctr" indent="0" marL="0">
              <a:buNone/>
            </a:pPr>
            <a:r>
              <a:rPr lang="en-US" sz="1300" b="1" dirty="0">
                <a:solidFill>
                  <a:srgbClr val="221E17"/>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5340096" y="4434840"/>
            <a:ext cx="1536192" cy="310896"/>
          </a:xfrm>
          <a:prstGeom prst="rect">
            <a:avLst/>
          </a:prstGeom>
          <a:noFill/>
          <a:ln/>
        </p:spPr>
        <p:txBody>
          <a:bodyPr wrap="square" lIns="0" tIns="0" rIns="0" bIns="0" rtlCol="0" anchor="ctr"/>
          <a:lstStyle/>
          <a:p>
            <a:pPr indent="0" marL="0">
              <a:buNone/>
            </a:pPr>
            <a:r>
              <a:rPr lang="en-US" sz="1900" b="1" dirty="0">
                <a:solidFill>
                  <a:srgbClr val="F6F3EC"/>
                </a:solidFill>
                <a:latin typeface="Century Schoolbook" pitchFamily="34" charset="0"/>
                <a:ea typeface="Century Schoolbook" pitchFamily="34" charset="-122"/>
                <a:cs typeface="Century Schoolbook" pitchFamily="34" charset="-120"/>
              </a:rPr>
              <a:t>Tienda</a:t>
            </a:r>
            <a:endParaRPr lang="en-US" sz="1900" dirty="0"/>
          </a:p>
        </p:txBody>
      </p:sp>
      <p:sp>
        <p:nvSpPr>
          <p:cNvPr id="19" name="Text 17"/>
          <p:cNvSpPr/>
          <p:nvPr/>
        </p:nvSpPr>
        <p:spPr>
          <a:xfrm>
            <a:off x="5340096" y="4800600"/>
            <a:ext cx="1536192" cy="822960"/>
          </a:xfrm>
          <a:prstGeom prst="rect">
            <a:avLst/>
          </a:prstGeom>
          <a:noFill/>
          <a:ln/>
        </p:spPr>
        <p:txBody>
          <a:bodyPr wrap="square" lIns="0" tIns="0" rIns="0" bIns="0" rtlCol="0" anchor="ctr"/>
          <a:lstStyle/>
          <a:p>
            <a:pPr indent="0" marL="0">
              <a:lnSpc>
                <a:spcPts val="1600"/>
              </a:lnSpc>
              <a:buNone/>
            </a:pPr>
            <a:r>
              <a:rPr lang="en-US" sz="1150" dirty="0">
                <a:solidFill>
                  <a:srgbClr val="C4BCAC"/>
                </a:solidFill>
                <a:latin typeface="Calibri" pitchFamily="34" charset="0"/>
                <a:ea typeface="Calibri" pitchFamily="34" charset="-122"/>
                <a:cs typeface="Calibri" pitchFamily="34" charset="-120"/>
              </a:rPr>
              <a:t>El café de la finca y la bolsa numerada</a:t>
            </a:r>
            <a:endParaRPr lang="en-US" sz="1150" dirty="0"/>
          </a:p>
        </p:txBody>
      </p:sp>
      <p:sp>
        <p:nvSpPr>
          <p:cNvPr id="20" name="Shape 18"/>
          <p:cNvSpPr/>
          <p:nvPr/>
        </p:nvSpPr>
        <p:spPr>
          <a:xfrm>
            <a:off x="7283196" y="3611880"/>
            <a:ext cx="1993392" cy="2148840"/>
          </a:xfrm>
          <a:prstGeom prst="roundRect">
            <a:avLst>
              <a:gd name="adj" fmla="val 5505"/>
            </a:avLst>
          </a:prstGeom>
          <a:solidFill>
            <a:srgbClr val="2E2820"/>
          </a:solidFill>
          <a:ln w="12700">
            <a:solidFill>
              <a:srgbClr val="2E2820"/>
            </a:solidFill>
            <a:prstDash val="solid"/>
          </a:ln>
        </p:spPr>
      </p:sp>
      <p:sp>
        <p:nvSpPr>
          <p:cNvPr id="21" name="Shape 19"/>
          <p:cNvSpPr/>
          <p:nvPr/>
        </p:nvSpPr>
        <p:spPr>
          <a:xfrm>
            <a:off x="7539228" y="3886200"/>
            <a:ext cx="384048" cy="384048"/>
          </a:xfrm>
          <a:prstGeom prst="ellipse">
            <a:avLst/>
          </a:prstGeom>
          <a:solidFill>
            <a:srgbClr val="C08A2D"/>
          </a:solidFill>
          <a:ln/>
        </p:spPr>
      </p:sp>
      <p:sp>
        <p:nvSpPr>
          <p:cNvPr id="22" name="Text 20"/>
          <p:cNvSpPr/>
          <p:nvPr/>
        </p:nvSpPr>
        <p:spPr>
          <a:xfrm>
            <a:off x="7539228" y="3922776"/>
            <a:ext cx="384048" cy="310896"/>
          </a:xfrm>
          <a:prstGeom prst="rect">
            <a:avLst/>
          </a:prstGeom>
          <a:noFill/>
          <a:ln/>
        </p:spPr>
        <p:txBody>
          <a:bodyPr wrap="square" lIns="0" tIns="0" rIns="0" bIns="0" rtlCol="0" anchor="ctr"/>
          <a:lstStyle/>
          <a:p>
            <a:pPr algn="ctr" indent="0" marL="0">
              <a:buNone/>
            </a:pPr>
            <a:r>
              <a:rPr lang="en-US" sz="1300" b="1" dirty="0">
                <a:solidFill>
                  <a:srgbClr val="221E17"/>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7539228" y="4434840"/>
            <a:ext cx="1536192" cy="310896"/>
          </a:xfrm>
          <a:prstGeom prst="rect">
            <a:avLst/>
          </a:prstGeom>
          <a:noFill/>
          <a:ln/>
        </p:spPr>
        <p:txBody>
          <a:bodyPr wrap="square" lIns="0" tIns="0" rIns="0" bIns="0" rtlCol="0" anchor="ctr"/>
          <a:lstStyle/>
          <a:p>
            <a:pPr indent="0" marL="0">
              <a:buNone/>
            </a:pPr>
            <a:r>
              <a:rPr lang="en-US" sz="1900" b="1" dirty="0">
                <a:solidFill>
                  <a:srgbClr val="F6F3EC"/>
                </a:solidFill>
                <a:latin typeface="Century Schoolbook" pitchFamily="34" charset="0"/>
                <a:ea typeface="Century Schoolbook" pitchFamily="34" charset="-122"/>
                <a:cs typeface="Century Schoolbook" pitchFamily="34" charset="-120"/>
              </a:rPr>
              <a:t>Club</a:t>
            </a:r>
            <a:endParaRPr lang="en-US" sz="1900" dirty="0"/>
          </a:p>
        </p:txBody>
      </p:sp>
      <p:sp>
        <p:nvSpPr>
          <p:cNvPr id="24" name="Text 22"/>
          <p:cNvSpPr/>
          <p:nvPr/>
        </p:nvSpPr>
        <p:spPr>
          <a:xfrm>
            <a:off x="7539228" y="4800600"/>
            <a:ext cx="1536192" cy="822960"/>
          </a:xfrm>
          <a:prstGeom prst="rect">
            <a:avLst/>
          </a:prstGeom>
          <a:noFill/>
          <a:ln/>
        </p:spPr>
        <p:txBody>
          <a:bodyPr wrap="square" lIns="0" tIns="0" rIns="0" bIns="0" rtlCol="0" anchor="ctr"/>
          <a:lstStyle/>
          <a:p>
            <a:pPr indent="0" marL="0">
              <a:lnSpc>
                <a:spcPts val="1600"/>
              </a:lnSpc>
              <a:buNone/>
            </a:pPr>
            <a:r>
              <a:rPr lang="en-US" sz="1150" dirty="0">
                <a:solidFill>
                  <a:srgbClr val="C4BCAC"/>
                </a:solidFill>
                <a:latin typeface="Calibri" pitchFamily="34" charset="0"/>
                <a:ea typeface="Calibri" pitchFamily="34" charset="-122"/>
                <a:cs typeface="Calibri" pitchFamily="34" charset="-120"/>
              </a:rPr>
              <a:t>La Mesa Fundadora y las experiencias</a:t>
            </a:r>
            <a:endParaRPr lang="en-US" sz="1150" dirty="0"/>
          </a:p>
        </p:txBody>
      </p:sp>
      <p:sp>
        <p:nvSpPr>
          <p:cNvPr id="25" name="Shape 23"/>
          <p:cNvSpPr/>
          <p:nvPr/>
        </p:nvSpPr>
        <p:spPr>
          <a:xfrm>
            <a:off x="9482328" y="3611880"/>
            <a:ext cx="1993392" cy="2148840"/>
          </a:xfrm>
          <a:prstGeom prst="roundRect">
            <a:avLst>
              <a:gd name="adj" fmla="val 5505"/>
            </a:avLst>
          </a:prstGeom>
          <a:solidFill>
            <a:srgbClr val="2E2820"/>
          </a:solidFill>
          <a:ln w="12700">
            <a:solidFill>
              <a:srgbClr val="2E2820"/>
            </a:solidFill>
            <a:prstDash val="solid"/>
          </a:ln>
        </p:spPr>
      </p:sp>
      <p:sp>
        <p:nvSpPr>
          <p:cNvPr id="26" name="Shape 24"/>
          <p:cNvSpPr/>
          <p:nvPr/>
        </p:nvSpPr>
        <p:spPr>
          <a:xfrm>
            <a:off x="9738360" y="3886200"/>
            <a:ext cx="384048" cy="384048"/>
          </a:xfrm>
          <a:prstGeom prst="ellipse">
            <a:avLst/>
          </a:prstGeom>
          <a:solidFill>
            <a:srgbClr val="C08A2D"/>
          </a:solidFill>
          <a:ln/>
        </p:spPr>
      </p:sp>
      <p:sp>
        <p:nvSpPr>
          <p:cNvPr id="27" name="Text 25"/>
          <p:cNvSpPr/>
          <p:nvPr/>
        </p:nvSpPr>
        <p:spPr>
          <a:xfrm>
            <a:off x="9738360" y="3922776"/>
            <a:ext cx="384048" cy="310896"/>
          </a:xfrm>
          <a:prstGeom prst="rect">
            <a:avLst/>
          </a:prstGeom>
          <a:noFill/>
          <a:ln/>
        </p:spPr>
        <p:txBody>
          <a:bodyPr wrap="square" lIns="0" tIns="0" rIns="0" bIns="0" rtlCol="0" anchor="ctr"/>
          <a:lstStyle/>
          <a:p>
            <a:pPr algn="ctr" indent="0" marL="0">
              <a:buNone/>
            </a:pPr>
            <a:r>
              <a:rPr lang="en-US" sz="1300" b="1" dirty="0">
                <a:solidFill>
                  <a:srgbClr val="221E17"/>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9738360" y="4434840"/>
            <a:ext cx="1536192" cy="310896"/>
          </a:xfrm>
          <a:prstGeom prst="rect">
            <a:avLst/>
          </a:prstGeom>
          <a:noFill/>
          <a:ln/>
        </p:spPr>
        <p:txBody>
          <a:bodyPr wrap="square" lIns="0" tIns="0" rIns="0" bIns="0" rtlCol="0" anchor="ctr"/>
          <a:lstStyle/>
          <a:p>
            <a:pPr indent="0" marL="0">
              <a:buNone/>
            </a:pPr>
            <a:r>
              <a:rPr lang="en-US" sz="1900" b="1" dirty="0">
                <a:solidFill>
                  <a:srgbClr val="F6F3EC"/>
                </a:solidFill>
                <a:latin typeface="Century Schoolbook" pitchFamily="34" charset="0"/>
                <a:ea typeface="Century Schoolbook" pitchFamily="34" charset="-122"/>
                <a:cs typeface="Century Schoolbook" pitchFamily="34" charset="-120"/>
              </a:rPr>
              <a:t>Perfil</a:t>
            </a:r>
            <a:endParaRPr lang="en-US" sz="1900" dirty="0"/>
          </a:p>
        </p:txBody>
      </p:sp>
      <p:sp>
        <p:nvSpPr>
          <p:cNvPr id="29" name="Text 27"/>
          <p:cNvSpPr/>
          <p:nvPr/>
        </p:nvSpPr>
        <p:spPr>
          <a:xfrm>
            <a:off x="9738360" y="4800600"/>
            <a:ext cx="1536192" cy="822960"/>
          </a:xfrm>
          <a:prstGeom prst="rect">
            <a:avLst/>
          </a:prstGeom>
          <a:noFill/>
          <a:ln/>
        </p:spPr>
        <p:txBody>
          <a:bodyPr wrap="square" lIns="0" tIns="0" rIns="0" bIns="0" rtlCol="0" anchor="ctr"/>
          <a:lstStyle/>
          <a:p>
            <a:pPr indent="0" marL="0">
              <a:lnSpc>
                <a:spcPts val="1600"/>
              </a:lnSpc>
              <a:buNone/>
            </a:pPr>
            <a:r>
              <a:rPr lang="en-US" sz="1150" dirty="0">
                <a:solidFill>
                  <a:srgbClr val="C4BCAC"/>
                </a:solidFill>
                <a:latin typeface="Calibri" pitchFamily="34" charset="0"/>
                <a:ea typeface="Calibri" pitchFamily="34" charset="-122"/>
                <a:cs typeface="Calibri" pitchFamily="34" charset="-120"/>
              </a:rPr>
              <a:t>Lo suyo: gustos, alergias y movimientos</a:t>
            </a:r>
            <a:endParaRPr lang="en-US" sz="1150" dirty="0"/>
          </a:p>
        </p:txBody>
      </p:sp>
      <p:sp>
        <p:nvSpPr>
          <p:cNvPr id="30" name="Text 28"/>
          <p:cNvSpPr/>
          <p:nvPr/>
        </p:nvSpPr>
        <p:spPr>
          <a:xfrm>
            <a:off x="713232" y="5989320"/>
            <a:ext cx="10058400" cy="274320"/>
          </a:xfrm>
          <a:prstGeom prst="rect">
            <a:avLst/>
          </a:prstGeom>
          <a:noFill/>
          <a:ln/>
        </p:spPr>
        <p:txBody>
          <a:bodyPr wrap="square" lIns="0" tIns="0" rIns="0" bIns="0" rtlCol="0" anchor="ctr"/>
          <a:lstStyle/>
          <a:p>
            <a:pPr indent="0" marL="0">
              <a:buNone/>
            </a:pPr>
            <a:r>
              <a:rPr lang="en-US" sz="1200" i="1" dirty="0">
                <a:solidFill>
                  <a:srgbClr val="8C8578"/>
                </a:solidFill>
                <a:latin typeface="Calibri" pitchFamily="34" charset="0"/>
                <a:ea typeface="Calibri" pitchFamily="34" charset="-122"/>
                <a:cs typeface="Calibri" pitchFamily="34" charset="-120"/>
              </a:rPr>
              <a:t>Abajo, siempre a la mano: la barra de cinco pestañas no se esconde en ninguna pantalla.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21E17"/>
        </a:solidFill>
      </p:bgPr>
    </p:bg>
    <p:spTree>
      <p:nvGrpSpPr>
        <p:cNvPr id="1" name=""/>
        <p:cNvGrpSpPr/>
        <p:nvPr/>
      </p:nvGrpSpPr>
      <p:grpSpPr>
        <a:xfrm>
          <a:off x="0" y="0"/>
          <a:ext cx="0" cy="0"/>
          <a:chOff x="0" y="0"/>
          <a:chExt cx="0" cy="0"/>
        </a:xfrm>
      </p:grpSpPr>
      <p:pic>
        <p:nvPicPr>
          <p:cNvPr id="2" name="Image 0" descr="./img/01-umbral.png">    </p:cNvPr>
          <p:cNvPicPr>
            <a:picLocks noChangeAspect="1"/>
          </p:cNvPicPr>
          <p:nvPr/>
        </p:nvPicPr>
        <p:blipFill>
          <a:blip r:embed="rId1"/>
          <a:srcRect l="0" r="0" t="0" b="0"/>
          <a:stretch/>
        </p:blipFill>
        <p:spPr>
          <a:xfrm>
            <a:off x="836676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685800" y="749808"/>
            <a:ext cx="694944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ANTES DE ENTRAR</a:t>
            </a:r>
            <a:endParaRPr lang="en-US" sz="1100" dirty="0"/>
          </a:p>
        </p:txBody>
      </p:sp>
      <p:sp>
        <p:nvSpPr>
          <p:cNvPr id="4" name="Text 1"/>
          <p:cNvSpPr/>
          <p:nvPr/>
        </p:nvSpPr>
        <p:spPr>
          <a:xfrm>
            <a:off x="685800" y="1060704"/>
            <a:ext cx="694944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Se entra con el número</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de WhatsApp</a:t>
            </a:r>
            <a:endParaRPr lang="en-US" sz="3400" dirty="0"/>
          </a:p>
        </p:txBody>
      </p:sp>
      <p:sp>
        <p:nvSpPr>
          <p:cNvPr id="5" name="Text 2"/>
          <p:cNvSpPr/>
          <p:nvPr/>
        </p:nvSpPr>
        <p:spPr>
          <a:xfrm>
            <a:off x="713232" y="2880360"/>
            <a:ext cx="67665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Sin contraseñas ni formularios largos. El socio pone su número, recibe un código y queda dentro. La casa no guarda contraseñas de nadie.</a:t>
            </a:r>
            <a:endParaRPr lang="en-US" sz="1450" dirty="0"/>
          </a:p>
        </p:txBody>
      </p:sp>
      <p:sp>
        <p:nvSpPr>
          <p:cNvPr id="6" name="Shape 3"/>
          <p:cNvSpPr/>
          <p:nvPr/>
        </p:nvSpPr>
        <p:spPr>
          <a:xfrm>
            <a:off x="777240" y="3995928"/>
            <a:ext cx="118872" cy="118872"/>
          </a:xfrm>
          <a:prstGeom prst="ellipse">
            <a:avLst/>
          </a:prstGeom>
          <a:solidFill>
            <a:srgbClr val="C08A2D"/>
          </a:solidFill>
          <a:ln/>
        </p:spPr>
      </p:sp>
      <p:sp>
        <p:nvSpPr>
          <p:cNvPr id="7" name="Text 4"/>
          <p:cNvSpPr/>
          <p:nvPr/>
        </p:nvSpPr>
        <p:spPr>
          <a:xfrm>
            <a:off x="1069848" y="3913632"/>
            <a:ext cx="63825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Nada que instalar</a:t>
            </a:r>
            <a:endParaRPr lang="en-US" sz="1400" dirty="0"/>
          </a:p>
        </p:txBody>
      </p:sp>
      <p:sp>
        <p:nvSpPr>
          <p:cNvPr id="8" name="Text 5"/>
          <p:cNvSpPr/>
          <p:nvPr/>
        </p:nvSpPr>
        <p:spPr>
          <a:xfrm>
            <a:off x="1069848" y="4187952"/>
            <a:ext cx="63825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Se abre en el navegador del teléfono, como cualquier página.</a:t>
            </a:r>
            <a:endParaRPr lang="en-US" sz="1250" dirty="0"/>
          </a:p>
        </p:txBody>
      </p:sp>
      <p:sp>
        <p:nvSpPr>
          <p:cNvPr id="9" name="Shape 6"/>
          <p:cNvSpPr/>
          <p:nvPr/>
        </p:nvSpPr>
        <p:spPr>
          <a:xfrm>
            <a:off x="777240" y="4882896"/>
            <a:ext cx="118872" cy="118872"/>
          </a:xfrm>
          <a:prstGeom prst="ellipse">
            <a:avLst/>
          </a:prstGeom>
          <a:solidFill>
            <a:srgbClr val="C08A2D"/>
          </a:solidFill>
          <a:ln/>
        </p:spPr>
      </p:sp>
      <p:sp>
        <p:nvSpPr>
          <p:cNvPr id="10" name="Text 7"/>
          <p:cNvSpPr/>
          <p:nvPr/>
        </p:nvSpPr>
        <p:spPr>
          <a:xfrm>
            <a:off x="1069848" y="4800600"/>
            <a:ext cx="63825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De bienvenida, dos sellos</a:t>
            </a:r>
            <a:endParaRPr lang="en-US" sz="1400" dirty="0"/>
          </a:p>
        </p:txBody>
      </p:sp>
      <p:sp>
        <p:nvSpPr>
          <p:cNvPr id="11" name="Text 8"/>
          <p:cNvSpPr/>
          <p:nvPr/>
        </p:nvSpPr>
        <p:spPr>
          <a:xfrm>
            <a:off x="1069848" y="5074920"/>
            <a:ext cx="63825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Quien abre cuenta no empieza en cero: arranca con la tanda comenzada.</a:t>
            </a:r>
            <a:endParaRPr lang="en-US" sz="1250" dirty="0"/>
          </a:p>
        </p:txBody>
      </p:sp>
      <p:sp>
        <p:nvSpPr>
          <p:cNvPr id="12" name="Shape 9"/>
          <p:cNvSpPr/>
          <p:nvPr/>
        </p:nvSpPr>
        <p:spPr>
          <a:xfrm>
            <a:off x="777240" y="5769864"/>
            <a:ext cx="118872" cy="118872"/>
          </a:xfrm>
          <a:prstGeom prst="ellipse">
            <a:avLst/>
          </a:prstGeom>
          <a:solidFill>
            <a:srgbClr val="C08A2D"/>
          </a:solidFill>
          <a:ln/>
        </p:spPr>
      </p:sp>
      <p:sp>
        <p:nvSpPr>
          <p:cNvPr id="13" name="Text 10"/>
          <p:cNvSpPr/>
          <p:nvPr/>
        </p:nvSpPr>
        <p:spPr>
          <a:xfrm>
            <a:off x="1069848" y="5687568"/>
            <a:ext cx="63825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Cuenta de muestra</a:t>
            </a:r>
            <a:endParaRPr lang="en-US" sz="1400" dirty="0"/>
          </a:p>
        </p:txBody>
      </p:sp>
      <p:sp>
        <p:nvSpPr>
          <p:cNvPr id="14" name="Text 11"/>
          <p:cNvSpPr/>
          <p:nvPr/>
        </p:nvSpPr>
        <p:spPr>
          <a:xfrm>
            <a:off x="1069848" y="5961888"/>
            <a:ext cx="63825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Un botón deja recorrer la app entera con datos reales, sin ser socio.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21E17"/>
        </a:solidFill>
      </p:bgPr>
    </p:bg>
    <p:spTree>
      <p:nvGrpSpPr>
        <p:cNvPr id="1" name=""/>
        <p:cNvGrpSpPr/>
        <p:nvPr/>
      </p:nvGrpSpPr>
      <p:grpSpPr>
        <a:xfrm>
          <a:off x="0" y="0"/>
          <a:ext cx="0" cy="0"/>
          <a:chOff x="0" y="0"/>
          <a:chExt cx="0" cy="0"/>
        </a:xfrm>
      </p:grpSpPr>
      <p:pic>
        <p:nvPicPr>
          <p:cNvPr id="2" name="Image 0" descr="./img/02-inicio.png">    </p:cNvPr>
          <p:cNvPicPr>
            <a:picLocks noChangeAspect="1"/>
          </p:cNvPicPr>
          <p:nvPr/>
        </p:nvPicPr>
        <p:blipFill>
          <a:blip r:embed="rId1"/>
          <a:srcRect l="0" r="0" t="0" b="0"/>
          <a:stretch/>
        </p:blipFill>
        <p:spPr>
          <a:xfrm>
            <a:off x="77724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4206240" y="749808"/>
            <a:ext cx="731520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1 · INICIO</a:t>
            </a:r>
            <a:endParaRPr lang="en-US" sz="1100" dirty="0"/>
          </a:p>
        </p:txBody>
      </p:sp>
      <p:sp>
        <p:nvSpPr>
          <p:cNvPr id="4" name="Text 1"/>
          <p:cNvSpPr/>
          <p:nvPr/>
        </p:nvSpPr>
        <p:spPr>
          <a:xfrm>
            <a:off x="4206240" y="1060704"/>
            <a:ext cx="731520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El carnet y la Cuenta de Casa</a:t>
            </a:r>
            <a:endParaRPr lang="en-US" sz="3400" dirty="0"/>
          </a:p>
        </p:txBody>
      </p:sp>
      <p:sp>
        <p:nvSpPr>
          <p:cNvPr id="5" name="Text 2"/>
          <p:cNvSpPr/>
          <p:nvPr/>
        </p:nvSpPr>
        <p:spPr>
          <a:xfrm>
            <a:off x="4233672" y="2286000"/>
            <a:ext cx="72237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Lo primero que ve el socio es cuánto tiene en la casa. La Cuenta de Casa es saldo que se recarga en caja —con efectivo o con tarjeta— y con el que después paga sin sacar la billetera.</a:t>
            </a:r>
            <a:endParaRPr lang="en-US" sz="1450" dirty="0"/>
          </a:p>
        </p:txBody>
      </p:sp>
      <p:sp>
        <p:nvSpPr>
          <p:cNvPr id="6" name="Shape 3"/>
          <p:cNvSpPr/>
          <p:nvPr/>
        </p:nvSpPr>
        <p:spPr>
          <a:xfrm>
            <a:off x="4206240" y="3401568"/>
            <a:ext cx="3291840" cy="1325880"/>
          </a:xfrm>
          <a:prstGeom prst="roundRect">
            <a:avLst>
              <a:gd name="adj" fmla="val 8276"/>
            </a:avLst>
          </a:prstGeom>
          <a:solidFill>
            <a:srgbClr val="2E2820"/>
          </a:solidFill>
          <a:ln w="12700">
            <a:solidFill>
              <a:srgbClr val="2E2820"/>
            </a:solidFill>
            <a:prstDash val="solid"/>
          </a:ln>
        </p:spPr>
      </p:sp>
      <p:sp>
        <p:nvSpPr>
          <p:cNvPr id="7" name="Text 4"/>
          <p:cNvSpPr/>
          <p:nvPr/>
        </p:nvSpPr>
        <p:spPr>
          <a:xfrm>
            <a:off x="4526280" y="3547872"/>
            <a:ext cx="274320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C$ 905</a:t>
            </a:r>
            <a:endParaRPr lang="en-US" sz="4000" dirty="0"/>
          </a:p>
        </p:txBody>
      </p:sp>
      <p:sp>
        <p:nvSpPr>
          <p:cNvPr id="8" name="Text 5"/>
          <p:cNvSpPr/>
          <p:nvPr/>
        </p:nvSpPr>
        <p:spPr>
          <a:xfrm>
            <a:off x="4526280" y="4279392"/>
            <a:ext cx="274320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Saldo del socio, visible al abrir</a:t>
            </a:r>
            <a:endParaRPr lang="en-US" sz="1150" dirty="0"/>
          </a:p>
        </p:txBody>
      </p:sp>
      <p:sp>
        <p:nvSpPr>
          <p:cNvPr id="9" name="Shape 6"/>
          <p:cNvSpPr/>
          <p:nvPr/>
        </p:nvSpPr>
        <p:spPr>
          <a:xfrm>
            <a:off x="7726680" y="3401568"/>
            <a:ext cx="3703320" cy="1325880"/>
          </a:xfrm>
          <a:prstGeom prst="roundRect">
            <a:avLst>
              <a:gd name="adj" fmla="val 8276"/>
            </a:avLst>
          </a:prstGeom>
          <a:solidFill>
            <a:srgbClr val="2E2820"/>
          </a:solidFill>
          <a:ln w="12700">
            <a:solidFill>
              <a:srgbClr val="2E2820"/>
            </a:solidFill>
            <a:prstDash val="solid"/>
          </a:ln>
        </p:spPr>
      </p:sp>
      <p:sp>
        <p:nvSpPr>
          <p:cNvPr id="10" name="Text 7"/>
          <p:cNvSpPr/>
          <p:nvPr/>
        </p:nvSpPr>
        <p:spPr>
          <a:xfrm>
            <a:off x="8046720" y="3547872"/>
            <a:ext cx="310896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7 de 9</a:t>
            </a:r>
            <a:endParaRPr lang="en-US" sz="4000" dirty="0"/>
          </a:p>
        </p:txBody>
      </p:sp>
      <p:sp>
        <p:nvSpPr>
          <p:cNvPr id="11" name="Text 8"/>
          <p:cNvSpPr/>
          <p:nvPr/>
        </p:nvSpPr>
        <p:spPr>
          <a:xfrm>
            <a:off x="8046720" y="4279392"/>
            <a:ext cx="310896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Sellos de la tanda en curso</a:t>
            </a:r>
            <a:endParaRPr lang="en-US" sz="1150" dirty="0"/>
          </a:p>
        </p:txBody>
      </p:sp>
      <p:sp>
        <p:nvSpPr>
          <p:cNvPr id="12" name="Shape 9"/>
          <p:cNvSpPr/>
          <p:nvPr/>
        </p:nvSpPr>
        <p:spPr>
          <a:xfrm>
            <a:off x="4279392" y="5038344"/>
            <a:ext cx="118872" cy="118872"/>
          </a:xfrm>
          <a:prstGeom prst="ellipse">
            <a:avLst/>
          </a:prstGeom>
          <a:solidFill>
            <a:srgbClr val="C08A2D"/>
          </a:solidFill>
          <a:ln/>
        </p:spPr>
      </p:sp>
      <p:sp>
        <p:nvSpPr>
          <p:cNvPr id="13" name="Text 10"/>
          <p:cNvSpPr/>
          <p:nvPr/>
        </p:nvSpPr>
        <p:spPr>
          <a:xfrm>
            <a:off x="4572000" y="4956048"/>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El carnet es la identidad</a:t>
            </a:r>
            <a:endParaRPr lang="en-US" sz="1400" dirty="0"/>
          </a:p>
        </p:txBody>
      </p:sp>
      <p:sp>
        <p:nvSpPr>
          <p:cNvPr id="14" name="Text 11"/>
          <p:cNvSpPr/>
          <p:nvPr/>
        </p:nvSpPr>
        <p:spPr>
          <a:xfrm>
            <a:off x="4572000" y="5230368"/>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Número de socio y nivel, listos para enseñar en la barra.</a:t>
            </a:r>
            <a:endParaRPr lang="en-US" sz="1250" dirty="0"/>
          </a:p>
        </p:txBody>
      </p:sp>
      <p:sp>
        <p:nvSpPr>
          <p:cNvPr id="15" name="Shape 12"/>
          <p:cNvSpPr/>
          <p:nvPr/>
        </p:nvSpPr>
        <p:spPr>
          <a:xfrm>
            <a:off x="4279392" y="5907024"/>
            <a:ext cx="118872" cy="118872"/>
          </a:xfrm>
          <a:prstGeom prst="ellipse">
            <a:avLst/>
          </a:prstGeom>
          <a:solidFill>
            <a:srgbClr val="C08A2D"/>
          </a:solidFill>
          <a:ln/>
        </p:spPr>
      </p:sp>
      <p:sp>
        <p:nvSpPr>
          <p:cNvPr id="16" name="Text 13"/>
          <p:cNvSpPr/>
          <p:nvPr/>
        </p:nvSpPr>
        <p:spPr>
          <a:xfrm>
            <a:off x="4572000" y="5824728"/>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La bolsa del mes</a:t>
            </a:r>
            <a:endParaRPr lang="en-US" sz="1400" dirty="0"/>
          </a:p>
        </p:txBody>
      </p:sp>
      <p:sp>
        <p:nvSpPr>
          <p:cNvPr id="17" name="Text 14"/>
          <p:cNvSpPr/>
          <p:nvPr/>
        </p:nvSpPr>
        <p:spPr>
          <a:xfrm>
            <a:off x="4572000" y="6099048"/>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Si es socio de la Mesa Fundadora, avisa cuando le toca retirarla.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21E17"/>
        </a:solidFill>
      </p:bgPr>
    </p:bg>
    <p:spTree>
      <p:nvGrpSpPr>
        <p:cNvPr id="1" name=""/>
        <p:cNvGrpSpPr/>
        <p:nvPr/>
      </p:nvGrpSpPr>
      <p:grpSpPr>
        <a:xfrm>
          <a:off x="0" y="0"/>
          <a:ext cx="0" cy="0"/>
          <a:chOff x="0" y="0"/>
          <a:chExt cx="0" cy="0"/>
        </a:xfrm>
      </p:grpSpPr>
      <p:pic>
        <p:nvPicPr>
          <p:cNvPr id="2" name="Image 0" descr="./img/03b-tanda.png">    </p:cNvPr>
          <p:cNvPicPr>
            <a:picLocks noChangeAspect="1"/>
          </p:cNvPicPr>
          <p:nvPr/>
        </p:nvPicPr>
        <p:blipFill>
          <a:blip r:embed="rId1"/>
          <a:srcRect l="0" r="0" t="0" b="0"/>
          <a:stretch/>
        </p:blipFill>
        <p:spPr>
          <a:xfrm>
            <a:off x="836676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685800" y="749808"/>
            <a:ext cx="713232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1 · INICIO · LA TANDA</a:t>
            </a:r>
            <a:endParaRPr lang="en-US" sz="1100" dirty="0"/>
          </a:p>
        </p:txBody>
      </p:sp>
      <p:sp>
        <p:nvSpPr>
          <p:cNvPr id="4" name="Text 1"/>
          <p:cNvSpPr/>
          <p:nvPr/>
        </p:nvSpPr>
        <p:spPr>
          <a:xfrm>
            <a:off x="685800" y="1060704"/>
            <a:ext cx="713232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Nueve sellos.</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La décima la pone la casa.</a:t>
            </a:r>
            <a:endParaRPr lang="en-US" sz="3400" dirty="0"/>
          </a:p>
        </p:txBody>
      </p:sp>
      <p:sp>
        <p:nvSpPr>
          <p:cNvPr id="5" name="Text 2"/>
          <p:cNvSpPr/>
          <p:nvPr/>
        </p:nvSpPr>
        <p:spPr>
          <a:xfrm>
            <a:off x="713232" y="3017520"/>
            <a:ext cx="67665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La tarjeta de sellos de toda la vida, sin cartón que se pierda ni sello que se moje. El barista sella desde la caja y el socio lo ve en el acto.</a:t>
            </a:r>
            <a:endParaRPr lang="en-US" sz="1450" dirty="0"/>
          </a:p>
        </p:txBody>
      </p:sp>
      <p:sp>
        <p:nvSpPr>
          <p:cNvPr id="6" name="Shape 3"/>
          <p:cNvSpPr/>
          <p:nvPr/>
        </p:nvSpPr>
        <p:spPr>
          <a:xfrm>
            <a:off x="777240" y="4123944"/>
            <a:ext cx="118872" cy="118872"/>
          </a:xfrm>
          <a:prstGeom prst="ellipse">
            <a:avLst/>
          </a:prstGeom>
          <a:solidFill>
            <a:srgbClr val="C08A2D"/>
          </a:solidFill>
          <a:ln/>
        </p:spPr>
      </p:sp>
      <p:sp>
        <p:nvSpPr>
          <p:cNvPr id="7" name="Text 4"/>
          <p:cNvSpPr/>
          <p:nvPr/>
        </p:nvSpPr>
        <p:spPr>
          <a:xfrm>
            <a:off x="1069848" y="4041648"/>
            <a:ext cx="63825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Diez casillas, nueve se ganan</a:t>
            </a:r>
            <a:endParaRPr lang="en-US" sz="1400" dirty="0"/>
          </a:p>
        </p:txBody>
      </p:sp>
      <p:sp>
        <p:nvSpPr>
          <p:cNvPr id="8" name="Text 5"/>
          <p:cNvSpPr/>
          <p:nvPr/>
        </p:nvSpPr>
        <p:spPr>
          <a:xfrm>
            <a:off x="1069848" y="4315968"/>
            <a:ext cx="63825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La décima aparece dorada: es la bebida de cortesía y se ve venir desde el primer día.</a:t>
            </a:r>
            <a:endParaRPr lang="en-US" sz="1250" dirty="0"/>
          </a:p>
        </p:txBody>
      </p:sp>
      <p:sp>
        <p:nvSpPr>
          <p:cNvPr id="9" name="Shape 6"/>
          <p:cNvSpPr/>
          <p:nvPr/>
        </p:nvSpPr>
        <p:spPr>
          <a:xfrm>
            <a:off x="777240" y="4992624"/>
            <a:ext cx="118872" cy="118872"/>
          </a:xfrm>
          <a:prstGeom prst="ellipse">
            <a:avLst/>
          </a:prstGeom>
          <a:solidFill>
            <a:srgbClr val="C08A2D"/>
          </a:solidFill>
          <a:ln/>
        </p:spPr>
      </p:sp>
      <p:sp>
        <p:nvSpPr>
          <p:cNvPr id="10" name="Text 7"/>
          <p:cNvSpPr/>
          <p:nvPr/>
        </p:nvSpPr>
        <p:spPr>
          <a:xfrm>
            <a:off x="1069848" y="4910328"/>
            <a:ext cx="63825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Siempre dice cuánto falta</a:t>
            </a:r>
            <a:endParaRPr lang="en-US" sz="1400" dirty="0"/>
          </a:p>
        </p:txBody>
      </p:sp>
      <p:sp>
        <p:nvSpPr>
          <p:cNvPr id="11" name="Text 8"/>
          <p:cNvSpPr/>
          <p:nvPr/>
        </p:nvSpPr>
        <p:spPr>
          <a:xfrm>
            <a:off x="1069848" y="5184648"/>
            <a:ext cx="63825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«Te faltan 2» —nunca hay que contar sellos a ojo.</a:t>
            </a:r>
            <a:endParaRPr lang="en-US" sz="1250" dirty="0"/>
          </a:p>
        </p:txBody>
      </p:sp>
      <p:sp>
        <p:nvSpPr>
          <p:cNvPr id="12" name="Shape 9"/>
          <p:cNvSpPr/>
          <p:nvPr/>
        </p:nvSpPr>
        <p:spPr>
          <a:xfrm>
            <a:off x="777240" y="5861304"/>
            <a:ext cx="118872" cy="118872"/>
          </a:xfrm>
          <a:prstGeom prst="ellipse">
            <a:avLst/>
          </a:prstGeom>
          <a:solidFill>
            <a:srgbClr val="C08A2D"/>
          </a:solidFill>
          <a:ln/>
        </p:spPr>
      </p:sp>
      <p:sp>
        <p:nvSpPr>
          <p:cNvPr id="13" name="Text 10"/>
          <p:cNvSpPr/>
          <p:nvPr/>
        </p:nvSpPr>
        <p:spPr>
          <a:xfrm>
            <a:off x="1069848" y="5779008"/>
            <a:ext cx="63825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La tanda no se pierde</a:t>
            </a:r>
            <a:endParaRPr lang="en-US" sz="1400" dirty="0"/>
          </a:p>
        </p:txBody>
      </p:sp>
      <p:sp>
        <p:nvSpPr>
          <p:cNvPr id="14" name="Text 11"/>
          <p:cNvSpPr/>
          <p:nvPr/>
        </p:nvSpPr>
        <p:spPr>
          <a:xfrm>
            <a:off x="1069848" y="6053328"/>
            <a:ext cx="63825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Vive en la cuenta del socio, no en un cartón dentro de la billetera.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1E17"/>
        </a:solidFill>
      </p:bgPr>
    </p:bg>
    <p:spTree>
      <p:nvGrpSpPr>
        <p:cNvPr id="1" name=""/>
        <p:cNvGrpSpPr/>
        <p:nvPr/>
      </p:nvGrpSpPr>
      <p:grpSpPr>
        <a:xfrm>
          <a:off x="0" y="0"/>
          <a:ext cx="0" cy="0"/>
          <a:chOff x="0" y="0"/>
          <a:chExt cx="0" cy="0"/>
        </a:xfrm>
      </p:grpSpPr>
      <p:pic>
        <p:nvPicPr>
          <p:cNvPr id="2" name="Image 0" descr="./img/04-inicio-accesos.png">    </p:cNvPr>
          <p:cNvPicPr>
            <a:picLocks noChangeAspect="1"/>
          </p:cNvPicPr>
          <p:nvPr/>
        </p:nvPicPr>
        <p:blipFill>
          <a:blip r:embed="rId1"/>
          <a:srcRect l="0" r="0" t="0" b="0"/>
          <a:stretch/>
        </p:blipFill>
        <p:spPr>
          <a:xfrm>
            <a:off x="77724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4206240" y="749808"/>
            <a:ext cx="749808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1 · INICIO · LA VUELTA</a:t>
            </a:r>
            <a:endParaRPr lang="en-US" sz="1100" dirty="0"/>
          </a:p>
        </p:txBody>
      </p:sp>
      <p:sp>
        <p:nvSpPr>
          <p:cNvPr id="4" name="Text 1"/>
          <p:cNvSpPr/>
          <p:nvPr/>
        </p:nvSpPr>
        <p:spPr>
          <a:xfrm>
            <a:off x="4206240" y="1060704"/>
            <a:ext cx="749808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La casa siempre está</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tramando algo</a:t>
            </a:r>
            <a:endParaRPr lang="en-US" sz="3400" dirty="0"/>
          </a:p>
        </p:txBody>
      </p:sp>
      <p:sp>
        <p:nvSpPr>
          <p:cNvPr id="5" name="Text 2"/>
          <p:cNvSpPr/>
          <p:nvPr/>
        </p:nvSpPr>
        <p:spPr>
          <a:xfrm>
            <a:off x="4233672" y="3017520"/>
            <a:ext cx="72237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Debajo de la tanda va lo que hace volver: lo que está por agotarse y los tres accesos que resuelven la visita en un toque.</a:t>
            </a:r>
            <a:endParaRPr lang="en-US" sz="1450" dirty="0"/>
          </a:p>
        </p:txBody>
      </p:sp>
      <p:sp>
        <p:nvSpPr>
          <p:cNvPr id="6" name="Shape 3"/>
          <p:cNvSpPr/>
          <p:nvPr/>
        </p:nvSpPr>
        <p:spPr>
          <a:xfrm>
            <a:off x="4279392" y="4123944"/>
            <a:ext cx="118872" cy="118872"/>
          </a:xfrm>
          <a:prstGeom prst="ellipse">
            <a:avLst/>
          </a:prstGeom>
          <a:solidFill>
            <a:srgbClr val="C08A2D"/>
          </a:solidFill>
          <a:ln/>
        </p:spPr>
      </p:sp>
      <p:sp>
        <p:nvSpPr>
          <p:cNvPr id="7" name="Text 4"/>
          <p:cNvSpPr/>
          <p:nvPr/>
        </p:nvSpPr>
        <p:spPr>
          <a:xfrm>
            <a:off x="4572000" y="4041648"/>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Escasez de verdad</a:t>
            </a:r>
            <a:endParaRPr lang="en-US" sz="1400" dirty="0"/>
          </a:p>
        </p:txBody>
      </p:sp>
      <p:sp>
        <p:nvSpPr>
          <p:cNvPr id="8" name="Text 5"/>
          <p:cNvSpPr/>
          <p:nvPr/>
        </p:nvSpPr>
        <p:spPr>
          <a:xfrm>
            <a:off x="4572000" y="4315968"/>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«Quedan 34 de 150» y «4 de 12 cupos» salen de la base de datos, no de un cartel.</a:t>
            </a:r>
            <a:endParaRPr lang="en-US" sz="1250" dirty="0"/>
          </a:p>
        </p:txBody>
      </p:sp>
      <p:sp>
        <p:nvSpPr>
          <p:cNvPr id="9" name="Shape 6"/>
          <p:cNvSpPr/>
          <p:nvPr/>
        </p:nvSpPr>
        <p:spPr>
          <a:xfrm>
            <a:off x="4279392" y="4992624"/>
            <a:ext cx="118872" cy="118872"/>
          </a:xfrm>
          <a:prstGeom prst="ellipse">
            <a:avLst/>
          </a:prstGeom>
          <a:solidFill>
            <a:srgbClr val="C08A2D"/>
          </a:solidFill>
          <a:ln/>
        </p:spPr>
      </p:sp>
      <p:sp>
        <p:nvSpPr>
          <p:cNvPr id="10" name="Text 7"/>
          <p:cNvSpPr/>
          <p:nvPr/>
        </p:nvSpPr>
        <p:spPr>
          <a:xfrm>
            <a:off x="4572000" y="4910328"/>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Tres accesos rápidos</a:t>
            </a:r>
            <a:endParaRPr lang="en-US" sz="1400" dirty="0"/>
          </a:p>
        </p:txBody>
      </p:sp>
      <p:sp>
        <p:nvSpPr>
          <p:cNvPr id="11" name="Text 8"/>
          <p:cNvSpPr/>
          <p:nvPr/>
        </p:nvSpPr>
        <p:spPr>
          <a:xfrm>
            <a:off x="4572000" y="5184648"/>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Pedí para llevar · Reservá mesa · Tienda de la finca.</a:t>
            </a:r>
            <a:endParaRPr lang="en-US" sz="1250" dirty="0"/>
          </a:p>
        </p:txBody>
      </p:sp>
      <p:sp>
        <p:nvSpPr>
          <p:cNvPr id="12" name="Shape 9"/>
          <p:cNvSpPr/>
          <p:nvPr/>
        </p:nvSpPr>
        <p:spPr>
          <a:xfrm>
            <a:off x="4279392" y="5861304"/>
            <a:ext cx="118872" cy="118872"/>
          </a:xfrm>
          <a:prstGeom prst="ellipse">
            <a:avLst/>
          </a:prstGeom>
          <a:solidFill>
            <a:srgbClr val="C08A2D"/>
          </a:solidFill>
          <a:ln/>
        </p:spPr>
      </p:sp>
      <p:sp>
        <p:nvSpPr>
          <p:cNvPr id="13" name="Text 10"/>
          <p:cNvSpPr/>
          <p:nvPr/>
        </p:nvSpPr>
        <p:spPr>
          <a:xfrm>
            <a:off x="4572000" y="5779008"/>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El reto de la semana</a:t>
            </a:r>
            <a:endParaRPr lang="en-US" sz="1400" dirty="0"/>
          </a:p>
        </p:txBody>
      </p:sp>
      <p:sp>
        <p:nvSpPr>
          <p:cNvPr id="14" name="Text 11"/>
          <p:cNvSpPr/>
          <p:nvPr/>
        </p:nvSpPr>
        <p:spPr>
          <a:xfrm>
            <a:off x="4572000" y="6053328"/>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Un módulo fijo para la promoción del momento.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21E17"/>
        </a:solidFill>
      </p:bgPr>
    </p:bg>
    <p:spTree>
      <p:nvGrpSpPr>
        <p:cNvPr id="1" name=""/>
        <p:cNvGrpSpPr/>
        <p:nvPr/>
      </p:nvGrpSpPr>
      <p:grpSpPr>
        <a:xfrm>
          <a:off x="0" y="0"/>
          <a:ext cx="0" cy="0"/>
          <a:chOff x="0" y="0"/>
          <a:chExt cx="0" cy="0"/>
        </a:xfrm>
      </p:grpSpPr>
      <p:pic>
        <p:nvPicPr>
          <p:cNvPr id="2" name="Image 0" descr="./img/05b-pedir-rejilla.png">    </p:cNvPr>
          <p:cNvPicPr>
            <a:picLocks noChangeAspect="1"/>
          </p:cNvPicPr>
          <p:nvPr/>
        </p:nvPicPr>
        <p:blipFill>
          <a:blip r:embed="rId1"/>
          <a:srcRect l="0" r="0" t="0" b="0"/>
          <a:stretch/>
        </p:blipFill>
        <p:spPr>
          <a:xfrm>
            <a:off x="836676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685800" y="749808"/>
            <a:ext cx="694944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2 · PEDIR</a:t>
            </a:r>
            <a:endParaRPr lang="en-US" sz="1100" dirty="0"/>
          </a:p>
        </p:txBody>
      </p:sp>
      <p:sp>
        <p:nvSpPr>
          <p:cNvPr id="4" name="Text 1"/>
          <p:cNvSpPr/>
          <p:nvPr/>
        </p:nvSpPr>
        <p:spPr>
          <a:xfrm>
            <a:off x="685800" y="1060704"/>
            <a:ext cx="694944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La carta entera,</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con su fotografía</a:t>
            </a:r>
            <a:endParaRPr lang="en-US" sz="3400" dirty="0"/>
          </a:p>
        </p:txBody>
      </p:sp>
      <p:sp>
        <p:nvSpPr>
          <p:cNvPr id="5" name="Text 2"/>
          <p:cNvSpPr/>
          <p:nvPr/>
        </p:nvSpPr>
        <p:spPr>
          <a:xfrm>
            <a:off x="713232" y="3017520"/>
            <a:ext cx="67665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Setenta y tres platos con su precio, repartidos en los cuatro momentos de la casa. La foto ocupa el ancho de la ficha, porque en una carta la foto es la que vende.</a:t>
            </a:r>
            <a:endParaRPr lang="en-US" sz="1450" dirty="0"/>
          </a:p>
        </p:txBody>
      </p:sp>
      <p:sp>
        <p:nvSpPr>
          <p:cNvPr id="6" name="Shape 3"/>
          <p:cNvSpPr/>
          <p:nvPr/>
        </p:nvSpPr>
        <p:spPr>
          <a:xfrm>
            <a:off x="731520" y="4160520"/>
            <a:ext cx="1691640" cy="1051560"/>
          </a:xfrm>
          <a:prstGeom prst="roundRect">
            <a:avLst>
              <a:gd name="adj" fmla="val 10435"/>
            </a:avLst>
          </a:prstGeom>
          <a:solidFill>
            <a:srgbClr val="2E2820"/>
          </a:solidFill>
          <a:ln w="12700">
            <a:solidFill>
              <a:srgbClr val="2E2820"/>
            </a:solidFill>
            <a:prstDash val="solid"/>
          </a:ln>
        </p:spPr>
      </p:sp>
      <p:sp>
        <p:nvSpPr>
          <p:cNvPr id="7" name="Text 4"/>
          <p:cNvSpPr/>
          <p:nvPr/>
        </p:nvSpPr>
        <p:spPr>
          <a:xfrm>
            <a:off x="896112" y="4315968"/>
            <a:ext cx="1371600" cy="292608"/>
          </a:xfrm>
          <a:prstGeom prst="rect">
            <a:avLst/>
          </a:prstGeom>
          <a:noFill/>
          <a:ln/>
        </p:spPr>
        <p:txBody>
          <a:bodyPr wrap="square" lIns="0" tIns="0" rIns="0" bIns="0" rtlCol="0" anchor="ctr"/>
          <a:lstStyle/>
          <a:p>
            <a:pPr indent="0" marL="0">
              <a:buNone/>
            </a:pPr>
            <a:r>
              <a:rPr lang="en-US" sz="1500" b="1" dirty="0">
                <a:solidFill>
                  <a:srgbClr val="E8B45C"/>
                </a:solidFill>
                <a:latin typeface="Century Schoolbook" pitchFamily="34" charset="0"/>
                <a:ea typeface="Century Schoolbook" pitchFamily="34" charset="-122"/>
                <a:cs typeface="Century Schoolbook" pitchFamily="34" charset="-120"/>
              </a:rPr>
              <a:t>Barra</a:t>
            </a:r>
            <a:endParaRPr lang="en-US" sz="1500" dirty="0"/>
          </a:p>
        </p:txBody>
      </p:sp>
      <p:sp>
        <p:nvSpPr>
          <p:cNvPr id="8" name="Text 5"/>
          <p:cNvSpPr/>
          <p:nvPr/>
        </p:nvSpPr>
        <p:spPr>
          <a:xfrm>
            <a:off x="896112" y="4617720"/>
            <a:ext cx="1417320" cy="457200"/>
          </a:xfrm>
          <a:prstGeom prst="rect">
            <a:avLst/>
          </a:prstGeom>
          <a:noFill/>
          <a:ln/>
        </p:spPr>
        <p:txBody>
          <a:bodyPr wrap="square" lIns="0" tIns="0" rIns="0" bIns="0" rtlCol="0" anchor="ctr"/>
          <a:lstStyle/>
          <a:p>
            <a:pPr indent="0" marL="0">
              <a:lnSpc>
                <a:spcPts val="1400"/>
              </a:lnSpc>
              <a:buNone/>
            </a:pPr>
            <a:r>
              <a:rPr lang="en-US" sz="1100" dirty="0">
                <a:solidFill>
                  <a:srgbClr val="C4BCAC"/>
                </a:solidFill>
                <a:latin typeface="Calibri" pitchFamily="34" charset="0"/>
                <a:ea typeface="Calibri" pitchFamily="34" charset="-122"/>
                <a:cs typeface="Calibri" pitchFamily="34" charset="-120"/>
              </a:rPr>
              <a:t>Café y bebidas</a:t>
            </a:r>
            <a:endParaRPr lang="en-US" sz="1100" dirty="0"/>
          </a:p>
        </p:txBody>
      </p:sp>
      <p:sp>
        <p:nvSpPr>
          <p:cNvPr id="9" name="Shape 6"/>
          <p:cNvSpPr/>
          <p:nvPr/>
        </p:nvSpPr>
        <p:spPr>
          <a:xfrm>
            <a:off x="2578608" y="4160520"/>
            <a:ext cx="1691640" cy="1051560"/>
          </a:xfrm>
          <a:prstGeom prst="roundRect">
            <a:avLst>
              <a:gd name="adj" fmla="val 10435"/>
            </a:avLst>
          </a:prstGeom>
          <a:solidFill>
            <a:srgbClr val="2E2820"/>
          </a:solidFill>
          <a:ln w="12700">
            <a:solidFill>
              <a:srgbClr val="2E2820"/>
            </a:solidFill>
            <a:prstDash val="solid"/>
          </a:ln>
        </p:spPr>
      </p:sp>
      <p:sp>
        <p:nvSpPr>
          <p:cNvPr id="10" name="Text 7"/>
          <p:cNvSpPr/>
          <p:nvPr/>
        </p:nvSpPr>
        <p:spPr>
          <a:xfrm>
            <a:off x="2743200" y="4315968"/>
            <a:ext cx="1371600" cy="292608"/>
          </a:xfrm>
          <a:prstGeom prst="rect">
            <a:avLst/>
          </a:prstGeom>
          <a:noFill/>
          <a:ln/>
        </p:spPr>
        <p:txBody>
          <a:bodyPr wrap="square" lIns="0" tIns="0" rIns="0" bIns="0" rtlCol="0" anchor="ctr"/>
          <a:lstStyle/>
          <a:p>
            <a:pPr indent="0" marL="0">
              <a:buNone/>
            </a:pPr>
            <a:r>
              <a:rPr lang="en-US" sz="1500" b="1" dirty="0">
                <a:solidFill>
                  <a:srgbClr val="E8B45C"/>
                </a:solidFill>
                <a:latin typeface="Century Schoolbook" pitchFamily="34" charset="0"/>
                <a:ea typeface="Century Schoolbook" pitchFamily="34" charset="-122"/>
                <a:cs typeface="Century Schoolbook" pitchFamily="34" charset="-120"/>
              </a:rPr>
              <a:t>Brunch</a:t>
            </a:r>
            <a:endParaRPr lang="en-US" sz="1500" dirty="0"/>
          </a:p>
        </p:txBody>
      </p:sp>
      <p:sp>
        <p:nvSpPr>
          <p:cNvPr id="11" name="Text 8"/>
          <p:cNvSpPr/>
          <p:nvPr/>
        </p:nvSpPr>
        <p:spPr>
          <a:xfrm>
            <a:off x="2743200" y="4617720"/>
            <a:ext cx="1417320" cy="457200"/>
          </a:xfrm>
          <a:prstGeom prst="rect">
            <a:avLst/>
          </a:prstGeom>
          <a:noFill/>
          <a:ln/>
        </p:spPr>
        <p:txBody>
          <a:bodyPr wrap="square" lIns="0" tIns="0" rIns="0" bIns="0" rtlCol="0" anchor="ctr"/>
          <a:lstStyle/>
          <a:p>
            <a:pPr indent="0" marL="0">
              <a:lnSpc>
                <a:spcPts val="1400"/>
              </a:lnSpc>
              <a:buNone/>
            </a:pPr>
            <a:r>
              <a:rPr lang="en-US" sz="1100" dirty="0">
                <a:solidFill>
                  <a:srgbClr val="C4BCAC"/>
                </a:solidFill>
                <a:latin typeface="Calibri" pitchFamily="34" charset="0"/>
                <a:ea typeface="Calibri" pitchFamily="34" charset="-122"/>
                <a:cs typeface="Calibri" pitchFamily="34" charset="-120"/>
              </a:rPr>
              <a:t>Mañana</a:t>
            </a:r>
            <a:endParaRPr lang="en-US" sz="1100" dirty="0"/>
          </a:p>
        </p:txBody>
      </p:sp>
      <p:sp>
        <p:nvSpPr>
          <p:cNvPr id="12" name="Shape 9"/>
          <p:cNvSpPr/>
          <p:nvPr/>
        </p:nvSpPr>
        <p:spPr>
          <a:xfrm>
            <a:off x="4425696" y="4160520"/>
            <a:ext cx="1691640" cy="1051560"/>
          </a:xfrm>
          <a:prstGeom prst="roundRect">
            <a:avLst>
              <a:gd name="adj" fmla="val 10435"/>
            </a:avLst>
          </a:prstGeom>
          <a:solidFill>
            <a:srgbClr val="2E2820"/>
          </a:solidFill>
          <a:ln w="12700">
            <a:solidFill>
              <a:srgbClr val="2E2820"/>
            </a:solidFill>
            <a:prstDash val="solid"/>
          </a:ln>
        </p:spPr>
      </p:sp>
      <p:sp>
        <p:nvSpPr>
          <p:cNvPr id="13" name="Text 10"/>
          <p:cNvSpPr/>
          <p:nvPr/>
        </p:nvSpPr>
        <p:spPr>
          <a:xfrm>
            <a:off x="4590288" y="4315968"/>
            <a:ext cx="1371600" cy="292608"/>
          </a:xfrm>
          <a:prstGeom prst="rect">
            <a:avLst/>
          </a:prstGeom>
          <a:noFill/>
          <a:ln/>
        </p:spPr>
        <p:txBody>
          <a:bodyPr wrap="square" lIns="0" tIns="0" rIns="0" bIns="0" rtlCol="0" anchor="ctr"/>
          <a:lstStyle/>
          <a:p>
            <a:pPr indent="0" marL="0">
              <a:buNone/>
            </a:pPr>
            <a:r>
              <a:rPr lang="en-US" sz="1500" b="1" dirty="0">
                <a:solidFill>
                  <a:srgbClr val="E8B45C"/>
                </a:solidFill>
                <a:latin typeface="Century Schoolbook" pitchFamily="34" charset="0"/>
                <a:ea typeface="Century Schoolbook" pitchFamily="34" charset="-122"/>
                <a:cs typeface="Century Schoolbook" pitchFamily="34" charset="-120"/>
              </a:rPr>
              <a:t>Bistró</a:t>
            </a:r>
            <a:endParaRPr lang="en-US" sz="1500" dirty="0"/>
          </a:p>
        </p:txBody>
      </p:sp>
      <p:sp>
        <p:nvSpPr>
          <p:cNvPr id="14" name="Text 11"/>
          <p:cNvSpPr/>
          <p:nvPr/>
        </p:nvSpPr>
        <p:spPr>
          <a:xfrm>
            <a:off x="4590288" y="4617720"/>
            <a:ext cx="1417320" cy="457200"/>
          </a:xfrm>
          <a:prstGeom prst="rect">
            <a:avLst/>
          </a:prstGeom>
          <a:noFill/>
          <a:ln/>
        </p:spPr>
        <p:txBody>
          <a:bodyPr wrap="square" lIns="0" tIns="0" rIns="0" bIns="0" rtlCol="0" anchor="ctr"/>
          <a:lstStyle/>
          <a:p>
            <a:pPr indent="0" marL="0">
              <a:lnSpc>
                <a:spcPts val="1400"/>
              </a:lnSpc>
              <a:buNone/>
            </a:pPr>
            <a:r>
              <a:rPr lang="en-US" sz="1100" dirty="0">
                <a:solidFill>
                  <a:srgbClr val="C4BCAC"/>
                </a:solidFill>
                <a:latin typeface="Calibri" pitchFamily="34" charset="0"/>
                <a:ea typeface="Calibri" pitchFamily="34" charset="-122"/>
                <a:cs typeface="Calibri" pitchFamily="34" charset="-120"/>
              </a:rPr>
              <a:t>Sartén y horno</a:t>
            </a:r>
            <a:endParaRPr lang="en-US" sz="1100" dirty="0"/>
          </a:p>
        </p:txBody>
      </p:sp>
      <p:sp>
        <p:nvSpPr>
          <p:cNvPr id="15" name="Shape 12"/>
          <p:cNvSpPr/>
          <p:nvPr/>
        </p:nvSpPr>
        <p:spPr>
          <a:xfrm>
            <a:off x="6272784" y="4160520"/>
            <a:ext cx="1691640" cy="1051560"/>
          </a:xfrm>
          <a:prstGeom prst="roundRect">
            <a:avLst>
              <a:gd name="adj" fmla="val 10435"/>
            </a:avLst>
          </a:prstGeom>
          <a:solidFill>
            <a:srgbClr val="2E2820"/>
          </a:solidFill>
          <a:ln w="12700">
            <a:solidFill>
              <a:srgbClr val="2E2820"/>
            </a:solidFill>
            <a:prstDash val="solid"/>
          </a:ln>
        </p:spPr>
      </p:sp>
      <p:sp>
        <p:nvSpPr>
          <p:cNvPr id="16" name="Text 13"/>
          <p:cNvSpPr/>
          <p:nvPr/>
        </p:nvSpPr>
        <p:spPr>
          <a:xfrm>
            <a:off x="6437376" y="4315968"/>
            <a:ext cx="1371600" cy="292608"/>
          </a:xfrm>
          <a:prstGeom prst="rect">
            <a:avLst/>
          </a:prstGeom>
          <a:noFill/>
          <a:ln/>
        </p:spPr>
        <p:txBody>
          <a:bodyPr wrap="square" lIns="0" tIns="0" rIns="0" bIns="0" rtlCol="0" anchor="ctr"/>
          <a:lstStyle/>
          <a:p>
            <a:pPr indent="0" marL="0">
              <a:buNone/>
            </a:pPr>
            <a:r>
              <a:rPr lang="en-US" sz="1500" b="1" dirty="0">
                <a:solidFill>
                  <a:srgbClr val="E8B45C"/>
                </a:solidFill>
                <a:latin typeface="Century Schoolbook" pitchFamily="34" charset="0"/>
                <a:ea typeface="Century Schoolbook" pitchFamily="34" charset="-122"/>
                <a:cs typeface="Century Schoolbook" pitchFamily="34" charset="-120"/>
              </a:rPr>
              <a:t>Sobremesa</a:t>
            </a:r>
            <a:endParaRPr lang="en-US" sz="1500" dirty="0"/>
          </a:p>
        </p:txBody>
      </p:sp>
      <p:sp>
        <p:nvSpPr>
          <p:cNvPr id="17" name="Text 14"/>
          <p:cNvSpPr/>
          <p:nvPr/>
        </p:nvSpPr>
        <p:spPr>
          <a:xfrm>
            <a:off x="6437376" y="4617720"/>
            <a:ext cx="1417320" cy="457200"/>
          </a:xfrm>
          <a:prstGeom prst="rect">
            <a:avLst/>
          </a:prstGeom>
          <a:noFill/>
          <a:ln/>
        </p:spPr>
        <p:txBody>
          <a:bodyPr wrap="square" lIns="0" tIns="0" rIns="0" bIns="0" rtlCol="0" anchor="ctr"/>
          <a:lstStyle/>
          <a:p>
            <a:pPr indent="0" marL="0">
              <a:lnSpc>
                <a:spcPts val="1400"/>
              </a:lnSpc>
              <a:buNone/>
            </a:pPr>
            <a:r>
              <a:rPr lang="en-US" sz="1100" dirty="0">
                <a:solidFill>
                  <a:srgbClr val="C4BCAC"/>
                </a:solidFill>
                <a:latin typeface="Calibri" pitchFamily="34" charset="0"/>
                <a:ea typeface="Calibri" pitchFamily="34" charset="-122"/>
                <a:cs typeface="Calibri" pitchFamily="34" charset="-120"/>
              </a:rPr>
              <a:t>Dulce y café</a:t>
            </a:r>
            <a:endParaRPr lang="en-US" sz="1100" dirty="0"/>
          </a:p>
        </p:txBody>
      </p:sp>
      <p:sp>
        <p:nvSpPr>
          <p:cNvPr id="18" name="Text 15"/>
          <p:cNvSpPr/>
          <p:nvPr/>
        </p:nvSpPr>
        <p:spPr>
          <a:xfrm>
            <a:off x="713232" y="5486400"/>
            <a:ext cx="6858000" cy="914400"/>
          </a:xfrm>
          <a:prstGeom prst="rect">
            <a:avLst/>
          </a:prstGeom>
          <a:noFill/>
          <a:ln/>
        </p:spPr>
        <p:txBody>
          <a:bodyPr wrap="square" lIns="0" tIns="0" rIns="0" bIns="0" rtlCol="0" anchor="t"/>
          <a:lstStyle/>
          <a:p>
            <a:pPr indent="0" marL="0">
              <a:lnSpc>
                <a:spcPts val="1950"/>
              </a:lnSpc>
              <a:buNone/>
            </a:pPr>
            <a:r>
              <a:rPr lang="en-US" sz="1300" dirty="0">
                <a:solidFill>
                  <a:srgbClr val="C4BCAC"/>
                </a:solidFill>
                <a:latin typeface="Calibri" pitchFamily="34" charset="0"/>
                <a:ea typeface="Calibri" pitchFamily="34" charset="-122"/>
                <a:cs typeface="Calibri" pitchFamily="34" charset="-120"/>
              </a:rPr>
              <a:t>El precio que se ve es el que cobra la caja: los dos salen de la misma lista, así que no pueden discrepar.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21E17"/>
        </a:solidFill>
      </p:bgPr>
    </p:bg>
    <p:spTree>
      <p:nvGrpSpPr>
        <p:cNvPr id="1" name=""/>
        <p:cNvGrpSpPr/>
        <p:nvPr/>
      </p:nvGrpSpPr>
      <p:grpSpPr>
        <a:xfrm>
          <a:off x="0" y="0"/>
          <a:ext cx="0" cy="0"/>
          <a:chOff x="0" y="0"/>
          <a:chExt cx="0" cy="0"/>
        </a:xfrm>
      </p:grpSpPr>
      <p:sp>
        <p:nvSpPr>
          <p:cNvPr id="2" name="Text 0"/>
          <p:cNvSpPr/>
          <p:nvPr/>
        </p:nvSpPr>
        <p:spPr>
          <a:xfrm>
            <a:off x="685800" y="749808"/>
            <a:ext cx="576072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2 · PEDIR</a:t>
            </a:r>
            <a:endParaRPr lang="en-US" sz="1100" dirty="0"/>
          </a:p>
        </p:txBody>
      </p:sp>
      <p:sp>
        <p:nvSpPr>
          <p:cNvPr id="3" name="Text 1"/>
          <p:cNvSpPr/>
          <p:nvPr/>
        </p:nvSpPr>
        <p:spPr>
          <a:xfrm>
            <a:off x="685800" y="1060704"/>
            <a:ext cx="576072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Encontrar el plato</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en dos toques</a:t>
            </a:r>
            <a:endParaRPr lang="en-US" sz="3400" dirty="0"/>
          </a:p>
        </p:txBody>
      </p:sp>
      <p:sp>
        <p:nvSpPr>
          <p:cNvPr id="4" name="Text 2"/>
          <p:cNvSpPr/>
          <p:nvPr/>
        </p:nvSpPr>
        <p:spPr>
          <a:xfrm>
            <a:off x="713232" y="2514600"/>
            <a:ext cx="576072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El buscador ignora las tildes —«cafe» encuentra «café»— y los cuatro filtros de momento dejan la carta en lo que de verdad se está buscando.</a:t>
            </a:r>
            <a:endParaRPr lang="en-US" sz="1450" dirty="0"/>
          </a:p>
        </p:txBody>
      </p:sp>
      <p:sp>
        <p:nvSpPr>
          <p:cNvPr id="5" name="Shape 3"/>
          <p:cNvSpPr/>
          <p:nvPr/>
        </p:nvSpPr>
        <p:spPr>
          <a:xfrm>
            <a:off x="777240" y="3877056"/>
            <a:ext cx="118872" cy="118872"/>
          </a:xfrm>
          <a:prstGeom prst="ellipse">
            <a:avLst/>
          </a:prstGeom>
          <a:solidFill>
            <a:srgbClr val="C08A2D"/>
          </a:solidFill>
          <a:ln/>
        </p:spPr>
      </p:sp>
      <p:sp>
        <p:nvSpPr>
          <p:cNvPr id="6" name="Text 4"/>
          <p:cNvSpPr/>
          <p:nvPr/>
        </p:nvSpPr>
        <p:spPr>
          <a:xfrm>
            <a:off x="1069848" y="3794760"/>
            <a:ext cx="537667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Busca sin tildes</a:t>
            </a:r>
            <a:endParaRPr lang="en-US" sz="1400" dirty="0"/>
          </a:p>
        </p:txBody>
      </p:sp>
      <p:sp>
        <p:nvSpPr>
          <p:cNvPr id="7" name="Text 5"/>
          <p:cNvSpPr/>
          <p:nvPr/>
        </p:nvSpPr>
        <p:spPr>
          <a:xfrm>
            <a:off x="1069848" y="4069080"/>
            <a:ext cx="537667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Nadie tiene que escribir bien el acento para encontrar su plato.</a:t>
            </a:r>
            <a:endParaRPr lang="en-US" sz="1250" dirty="0"/>
          </a:p>
        </p:txBody>
      </p:sp>
      <p:sp>
        <p:nvSpPr>
          <p:cNvPr id="8" name="Shape 6"/>
          <p:cNvSpPr/>
          <p:nvPr/>
        </p:nvSpPr>
        <p:spPr>
          <a:xfrm>
            <a:off x="777240" y="4809744"/>
            <a:ext cx="118872" cy="118872"/>
          </a:xfrm>
          <a:prstGeom prst="ellipse">
            <a:avLst/>
          </a:prstGeom>
          <a:solidFill>
            <a:srgbClr val="C08A2D"/>
          </a:solidFill>
          <a:ln/>
        </p:spPr>
      </p:sp>
      <p:sp>
        <p:nvSpPr>
          <p:cNvPr id="9" name="Text 7"/>
          <p:cNvSpPr/>
          <p:nvPr/>
        </p:nvSpPr>
        <p:spPr>
          <a:xfrm>
            <a:off x="1069848" y="4727448"/>
            <a:ext cx="537667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Insignias de la casa</a:t>
            </a:r>
            <a:endParaRPr lang="en-US" sz="1400" dirty="0"/>
          </a:p>
        </p:txBody>
      </p:sp>
      <p:sp>
        <p:nvSpPr>
          <p:cNvPr id="10" name="Text 8"/>
          <p:cNvSpPr/>
          <p:nvPr/>
        </p:nvSpPr>
        <p:spPr>
          <a:xfrm>
            <a:off x="1069848" y="5001768"/>
            <a:ext cx="537667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«De los más pedidos» destaca lo que conviene mover.</a:t>
            </a:r>
            <a:endParaRPr lang="en-US" sz="1250" dirty="0"/>
          </a:p>
        </p:txBody>
      </p:sp>
      <p:sp>
        <p:nvSpPr>
          <p:cNvPr id="11" name="Shape 9"/>
          <p:cNvSpPr/>
          <p:nvPr/>
        </p:nvSpPr>
        <p:spPr>
          <a:xfrm>
            <a:off x="777240" y="5742432"/>
            <a:ext cx="118872" cy="118872"/>
          </a:xfrm>
          <a:prstGeom prst="ellipse">
            <a:avLst/>
          </a:prstGeom>
          <a:solidFill>
            <a:srgbClr val="C08A2D"/>
          </a:solidFill>
          <a:ln/>
        </p:spPr>
      </p:sp>
      <p:sp>
        <p:nvSpPr>
          <p:cNvPr id="12" name="Text 10"/>
          <p:cNvSpPr/>
          <p:nvPr/>
        </p:nvSpPr>
        <p:spPr>
          <a:xfrm>
            <a:off x="1069848" y="5660136"/>
            <a:ext cx="537667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Contador en la pestaña</a:t>
            </a:r>
            <a:endParaRPr lang="en-US" sz="1400" dirty="0"/>
          </a:p>
        </p:txBody>
      </p:sp>
      <p:sp>
        <p:nvSpPr>
          <p:cNvPr id="13" name="Text 11"/>
          <p:cNvSpPr/>
          <p:nvPr/>
        </p:nvSpPr>
        <p:spPr>
          <a:xfrm>
            <a:off x="1069848" y="5934456"/>
            <a:ext cx="537667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Lo que va en el pedido se ve sin salir de la carta.</a:t>
            </a:r>
            <a:endParaRPr lang="en-US" sz="1250" dirty="0"/>
          </a:p>
        </p:txBody>
      </p:sp>
      <p:pic>
        <p:nvPicPr>
          <p:cNvPr id="14" name="Image 0" descr="./img/05c-buscador.png">    </p:cNvPr>
          <p:cNvPicPr>
            <a:picLocks noChangeAspect="1"/>
          </p:cNvPicPr>
          <p:nvPr/>
        </p:nvPicPr>
        <p:blipFill>
          <a:blip r:embed="rId1"/>
          <a:srcRect l="0" r="0" t="0" b="0"/>
          <a:stretch/>
        </p:blipFill>
        <p:spPr>
          <a:xfrm>
            <a:off x="6720840" y="777240"/>
            <a:ext cx="2468045" cy="5349240"/>
          </a:xfrm>
          <a:prstGeom prst="rect">
            <a:avLst/>
          </a:prstGeom>
          <a:effectLst>
            <a:outerShdw sx="100000" sy="100000" kx="0" ky="0" algn="bl" rotWithShape="0" blurRad="228600" dist="76200" dir="5400000">
              <a:srgbClr val="000000">
                <a:alpha val="55000"/>
              </a:srgbClr>
            </a:outerShdw>
          </a:effectLst>
        </p:spPr>
      </p:pic>
      <p:pic>
        <p:nvPicPr>
          <p:cNvPr id="15" name="Image 1" descr="./img/05-pedir.png">    </p:cNvPr>
          <p:cNvPicPr>
            <a:picLocks noChangeAspect="1"/>
          </p:cNvPicPr>
          <p:nvPr/>
        </p:nvPicPr>
        <p:blipFill>
          <a:blip r:embed="rId2"/>
          <a:srcRect l="0" r="0" t="0" b="0"/>
          <a:stretch/>
        </p:blipFill>
        <p:spPr>
          <a:xfrm>
            <a:off x="9464040" y="777240"/>
            <a:ext cx="2468045" cy="5349240"/>
          </a:xfrm>
          <a:prstGeom prst="rect">
            <a:avLst/>
          </a:prstGeom>
          <a:effectLst>
            <a:outerShdw sx="100000" sy="100000" kx="0" ky="0" algn="bl" rotWithShape="0" blurRad="228600" dist="76200" dir="5400000">
              <a:srgbClr val="000000">
                <a:alpha val="5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21E17"/>
        </a:solidFill>
      </p:bgPr>
    </p:bg>
    <p:spTree>
      <p:nvGrpSpPr>
        <p:cNvPr id="1" name=""/>
        <p:cNvGrpSpPr/>
        <p:nvPr/>
      </p:nvGrpSpPr>
      <p:grpSpPr>
        <a:xfrm>
          <a:off x="0" y="0"/>
          <a:ext cx="0" cy="0"/>
          <a:chOff x="0" y="0"/>
          <a:chExt cx="0" cy="0"/>
        </a:xfrm>
      </p:grpSpPr>
      <p:pic>
        <p:nvPicPr>
          <p:cNvPr id="2" name="Image 0" descr="./img/06-pedido.png">    </p:cNvPr>
          <p:cNvPicPr>
            <a:picLocks noChangeAspect="1"/>
          </p:cNvPicPr>
          <p:nvPr/>
        </p:nvPicPr>
        <p:blipFill>
          <a:blip r:embed="rId1"/>
          <a:srcRect l="0" r="0" t="0" b="0"/>
          <a:stretch/>
        </p:blipFill>
        <p:spPr>
          <a:xfrm>
            <a:off x="77724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4206240" y="749808"/>
            <a:ext cx="749808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2 · PEDIR · EL COBRO</a:t>
            </a:r>
            <a:endParaRPr lang="en-US" sz="1100" dirty="0"/>
          </a:p>
        </p:txBody>
      </p:sp>
      <p:sp>
        <p:nvSpPr>
          <p:cNvPr id="4" name="Text 1"/>
          <p:cNvSpPr/>
          <p:nvPr/>
        </p:nvSpPr>
        <p:spPr>
          <a:xfrm>
            <a:off x="4206240" y="1060704"/>
            <a:ext cx="749808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Se paga con la Cuenta de Casa</a:t>
            </a:r>
            <a:endParaRPr lang="en-US" sz="3400" dirty="0"/>
          </a:p>
        </p:txBody>
      </p:sp>
      <p:sp>
        <p:nvSpPr>
          <p:cNvPr id="5" name="Text 2"/>
          <p:cNvSpPr/>
          <p:nvPr/>
        </p:nvSpPr>
        <p:spPr>
          <a:xfrm>
            <a:off x="4233672" y="2240280"/>
            <a:ext cx="72237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El pedido se arma en una hoja que muestra el detalle, el total y cuánto queda en la cuenta. Al pagar, se descuenta del saldo y queda anotado a nombre del socio.</a:t>
            </a:r>
            <a:endParaRPr lang="en-US" sz="1450" dirty="0"/>
          </a:p>
        </p:txBody>
      </p:sp>
      <p:sp>
        <p:nvSpPr>
          <p:cNvPr id="6" name="Shape 3"/>
          <p:cNvSpPr/>
          <p:nvPr/>
        </p:nvSpPr>
        <p:spPr>
          <a:xfrm>
            <a:off x="4206240" y="3337560"/>
            <a:ext cx="7223760" cy="1325880"/>
          </a:xfrm>
          <a:prstGeom prst="roundRect">
            <a:avLst>
              <a:gd name="adj" fmla="val 8276"/>
            </a:avLst>
          </a:prstGeom>
          <a:solidFill>
            <a:srgbClr val="2E2820"/>
          </a:solidFill>
          <a:ln w="12700">
            <a:solidFill>
              <a:srgbClr val="2E2820"/>
            </a:solidFill>
            <a:prstDash val="solid"/>
          </a:ln>
        </p:spPr>
      </p:sp>
      <p:sp>
        <p:nvSpPr>
          <p:cNvPr id="7" name="Text 4"/>
          <p:cNvSpPr/>
          <p:nvPr/>
        </p:nvSpPr>
        <p:spPr>
          <a:xfrm>
            <a:off x="4526280" y="3493008"/>
            <a:ext cx="219456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C$ 540</a:t>
            </a:r>
            <a:endParaRPr lang="en-US" sz="4000" dirty="0"/>
          </a:p>
        </p:txBody>
      </p:sp>
      <p:sp>
        <p:nvSpPr>
          <p:cNvPr id="8" name="Text 5"/>
          <p:cNvSpPr/>
          <p:nvPr/>
        </p:nvSpPr>
        <p:spPr>
          <a:xfrm>
            <a:off x="4526280" y="4224528"/>
            <a:ext cx="219456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Total del pedido</a:t>
            </a:r>
            <a:endParaRPr lang="en-US" sz="1150" dirty="0"/>
          </a:p>
        </p:txBody>
      </p:sp>
      <p:sp>
        <p:nvSpPr>
          <p:cNvPr id="9" name="Text 6"/>
          <p:cNvSpPr/>
          <p:nvPr/>
        </p:nvSpPr>
        <p:spPr>
          <a:xfrm>
            <a:off x="6949440" y="3493008"/>
            <a:ext cx="237744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C$ 905</a:t>
            </a:r>
            <a:endParaRPr lang="en-US" sz="4000" dirty="0"/>
          </a:p>
        </p:txBody>
      </p:sp>
      <p:sp>
        <p:nvSpPr>
          <p:cNvPr id="10" name="Text 7"/>
          <p:cNvSpPr/>
          <p:nvPr/>
        </p:nvSpPr>
        <p:spPr>
          <a:xfrm>
            <a:off x="6949440" y="4224528"/>
            <a:ext cx="237744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Le queda en la cuenta</a:t>
            </a:r>
            <a:endParaRPr lang="en-US" sz="1150" dirty="0"/>
          </a:p>
        </p:txBody>
      </p:sp>
      <p:sp>
        <p:nvSpPr>
          <p:cNvPr id="11" name="Text 8"/>
          <p:cNvSpPr/>
          <p:nvPr/>
        </p:nvSpPr>
        <p:spPr>
          <a:xfrm>
            <a:off x="9326880" y="3493008"/>
            <a:ext cx="201168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0</a:t>
            </a:r>
            <a:endParaRPr lang="en-US" sz="4000" dirty="0"/>
          </a:p>
        </p:txBody>
      </p:sp>
      <p:sp>
        <p:nvSpPr>
          <p:cNvPr id="12" name="Text 9"/>
          <p:cNvSpPr/>
          <p:nvPr/>
        </p:nvSpPr>
        <p:spPr>
          <a:xfrm>
            <a:off x="9326880" y="4224528"/>
            <a:ext cx="201168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Veces que saca la billetera</a:t>
            </a:r>
            <a:endParaRPr lang="en-US" sz="1150" dirty="0"/>
          </a:p>
        </p:txBody>
      </p:sp>
      <p:sp>
        <p:nvSpPr>
          <p:cNvPr id="13" name="Shape 10"/>
          <p:cNvSpPr/>
          <p:nvPr/>
        </p:nvSpPr>
        <p:spPr>
          <a:xfrm>
            <a:off x="4279392" y="4974336"/>
            <a:ext cx="118872" cy="118872"/>
          </a:xfrm>
          <a:prstGeom prst="ellipse">
            <a:avLst/>
          </a:prstGeom>
          <a:solidFill>
            <a:srgbClr val="C08A2D"/>
          </a:solidFill>
          <a:ln/>
        </p:spPr>
      </p:sp>
      <p:sp>
        <p:nvSpPr>
          <p:cNvPr id="14" name="Text 11"/>
          <p:cNvSpPr/>
          <p:nvPr/>
        </p:nvSpPr>
        <p:spPr>
          <a:xfrm>
            <a:off x="4572000" y="4892040"/>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El precio lo pone el servidor</a:t>
            </a:r>
            <a:endParaRPr lang="en-US" sz="1400" dirty="0"/>
          </a:p>
        </p:txBody>
      </p:sp>
      <p:sp>
        <p:nvSpPr>
          <p:cNvPr id="15" name="Text 12"/>
          <p:cNvSpPr/>
          <p:nvPr/>
        </p:nvSpPr>
        <p:spPr>
          <a:xfrm>
            <a:off x="4572000" y="5166360"/>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La app no puede cobrarse de menos: el importe se calcula en la caja, no en el teléfono.</a:t>
            </a:r>
            <a:endParaRPr lang="en-US" sz="1250" dirty="0"/>
          </a:p>
        </p:txBody>
      </p:sp>
      <p:sp>
        <p:nvSpPr>
          <p:cNvPr id="16" name="Shape 13"/>
          <p:cNvSpPr/>
          <p:nvPr/>
        </p:nvSpPr>
        <p:spPr>
          <a:xfrm>
            <a:off x="4279392" y="5843016"/>
            <a:ext cx="118872" cy="118872"/>
          </a:xfrm>
          <a:prstGeom prst="ellipse">
            <a:avLst/>
          </a:prstGeom>
          <a:solidFill>
            <a:srgbClr val="C08A2D"/>
          </a:solidFill>
          <a:ln/>
        </p:spPr>
      </p:sp>
      <p:sp>
        <p:nvSpPr>
          <p:cNvPr id="17" name="Text 14"/>
          <p:cNvSpPr/>
          <p:nvPr/>
        </p:nvSpPr>
        <p:spPr>
          <a:xfrm>
            <a:off x="4572000" y="5760720"/>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Un toque, un cobro</a:t>
            </a:r>
            <a:endParaRPr lang="en-US" sz="1400" dirty="0"/>
          </a:p>
        </p:txBody>
      </p:sp>
      <p:sp>
        <p:nvSpPr>
          <p:cNvPr id="18" name="Text 15"/>
          <p:cNvSpPr/>
          <p:nvPr/>
        </p:nvSpPr>
        <p:spPr>
          <a:xfrm>
            <a:off x="4572000" y="6035040"/>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Si se va la señal y el socio reintenta, no se cobra dos veces.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21E17"/>
        </a:solidFill>
      </p:bgPr>
    </p:bg>
    <p:spTree>
      <p:nvGrpSpPr>
        <p:cNvPr id="1" name=""/>
        <p:cNvGrpSpPr/>
        <p:nvPr/>
      </p:nvGrpSpPr>
      <p:grpSpPr>
        <a:xfrm>
          <a:off x="0" y="0"/>
          <a:ext cx="0" cy="0"/>
          <a:chOff x="0" y="0"/>
          <a:chExt cx="0" cy="0"/>
        </a:xfrm>
      </p:grpSpPr>
      <p:pic>
        <p:nvPicPr>
          <p:cNvPr id="2" name="Image 0" descr="./img/07-tienda.png">    </p:cNvPr>
          <p:cNvPicPr>
            <a:picLocks noChangeAspect="1"/>
          </p:cNvPicPr>
          <p:nvPr/>
        </p:nvPicPr>
        <p:blipFill>
          <a:blip r:embed="rId1"/>
          <a:srcRect l="0" r="0" t="0" b="0"/>
          <a:stretch/>
        </p:blipFill>
        <p:spPr>
          <a:xfrm>
            <a:off x="836676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685800" y="749808"/>
            <a:ext cx="694944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3 · TIENDA</a:t>
            </a:r>
            <a:endParaRPr lang="en-US" sz="1100" dirty="0"/>
          </a:p>
        </p:txBody>
      </p:sp>
      <p:sp>
        <p:nvSpPr>
          <p:cNvPr id="4" name="Text 1"/>
          <p:cNvSpPr/>
          <p:nvPr/>
        </p:nvSpPr>
        <p:spPr>
          <a:xfrm>
            <a:off x="685800" y="1060704"/>
            <a:ext cx="694944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El café de la finca,</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con número propio</a:t>
            </a:r>
            <a:endParaRPr lang="en-US" sz="3400" dirty="0"/>
          </a:p>
        </p:txBody>
      </p:sp>
      <p:sp>
        <p:nvSpPr>
          <p:cNvPr id="5" name="Text 2"/>
          <p:cNvSpPr/>
          <p:nvPr/>
        </p:nvSpPr>
        <p:spPr>
          <a:xfrm>
            <a:off x="713232" y="2880360"/>
            <a:ext cx="67665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La Reserva de Cosecha es una bolsa numerada de 250 g del lote de la finca: se paga hoy y se retira recién tostada cuando entra la temporada. El número lo asigna el sistema, y no hay dos iguales.</a:t>
            </a:r>
            <a:endParaRPr lang="en-US" sz="1450" dirty="0"/>
          </a:p>
        </p:txBody>
      </p:sp>
      <p:sp>
        <p:nvSpPr>
          <p:cNvPr id="6" name="Shape 3"/>
          <p:cNvSpPr/>
          <p:nvPr/>
        </p:nvSpPr>
        <p:spPr>
          <a:xfrm>
            <a:off x="731520" y="4224528"/>
            <a:ext cx="3200400" cy="1280160"/>
          </a:xfrm>
          <a:prstGeom prst="roundRect">
            <a:avLst>
              <a:gd name="adj" fmla="val 8571"/>
            </a:avLst>
          </a:prstGeom>
          <a:solidFill>
            <a:srgbClr val="2E2820"/>
          </a:solidFill>
          <a:ln w="12700">
            <a:solidFill>
              <a:srgbClr val="2E2820"/>
            </a:solidFill>
            <a:prstDash val="solid"/>
          </a:ln>
        </p:spPr>
      </p:sp>
      <p:sp>
        <p:nvSpPr>
          <p:cNvPr id="7" name="Text 4"/>
          <p:cNvSpPr/>
          <p:nvPr/>
        </p:nvSpPr>
        <p:spPr>
          <a:xfrm>
            <a:off x="1005840" y="4370832"/>
            <a:ext cx="274320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34 de 150</a:t>
            </a:r>
            <a:endParaRPr lang="en-US" sz="4000" dirty="0"/>
          </a:p>
        </p:txBody>
      </p:sp>
      <p:sp>
        <p:nvSpPr>
          <p:cNvPr id="8" name="Text 5"/>
          <p:cNvSpPr/>
          <p:nvPr/>
        </p:nvSpPr>
        <p:spPr>
          <a:xfrm>
            <a:off x="1005840" y="5102352"/>
            <a:ext cx="274320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Bolsas sin apartar</a:t>
            </a:r>
            <a:endParaRPr lang="en-US" sz="1150" dirty="0"/>
          </a:p>
        </p:txBody>
      </p:sp>
      <p:sp>
        <p:nvSpPr>
          <p:cNvPr id="9" name="Shape 6"/>
          <p:cNvSpPr/>
          <p:nvPr/>
        </p:nvSpPr>
        <p:spPr>
          <a:xfrm>
            <a:off x="4114800" y="4224528"/>
            <a:ext cx="3566160" cy="1280160"/>
          </a:xfrm>
          <a:prstGeom prst="roundRect">
            <a:avLst>
              <a:gd name="adj" fmla="val 8571"/>
            </a:avLst>
          </a:prstGeom>
          <a:solidFill>
            <a:srgbClr val="2E2820"/>
          </a:solidFill>
          <a:ln w="12700">
            <a:solidFill>
              <a:srgbClr val="2E2820"/>
            </a:solidFill>
            <a:prstDash val="solid"/>
          </a:ln>
        </p:spPr>
      </p:sp>
      <p:sp>
        <p:nvSpPr>
          <p:cNvPr id="10" name="Text 7"/>
          <p:cNvSpPr/>
          <p:nvPr/>
        </p:nvSpPr>
        <p:spPr>
          <a:xfrm>
            <a:off x="4389120" y="4370832"/>
            <a:ext cx="310896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C$ 890</a:t>
            </a:r>
            <a:endParaRPr lang="en-US" sz="4000" dirty="0"/>
          </a:p>
        </p:txBody>
      </p:sp>
      <p:sp>
        <p:nvSpPr>
          <p:cNvPr id="11" name="Text 8"/>
          <p:cNvSpPr/>
          <p:nvPr/>
        </p:nvSpPr>
        <p:spPr>
          <a:xfrm>
            <a:off x="4389120" y="5102352"/>
            <a:ext cx="310896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Precio de la bolsa numerada</a:t>
            </a:r>
            <a:endParaRPr lang="en-US" sz="1150" dirty="0"/>
          </a:p>
        </p:txBody>
      </p:sp>
      <p:sp>
        <p:nvSpPr>
          <p:cNvPr id="12" name="Text 9"/>
          <p:cNvSpPr/>
          <p:nvPr/>
        </p:nvSpPr>
        <p:spPr>
          <a:xfrm>
            <a:off x="713232" y="5715000"/>
            <a:ext cx="6858000" cy="914400"/>
          </a:xfrm>
          <a:prstGeom prst="rect">
            <a:avLst/>
          </a:prstGeom>
          <a:noFill/>
          <a:ln/>
        </p:spPr>
        <p:txBody>
          <a:bodyPr wrap="square" lIns="0" tIns="0" rIns="0" bIns="0" rtlCol="0" anchor="t"/>
          <a:lstStyle/>
          <a:p>
            <a:pPr indent="0" marL="0">
              <a:lnSpc>
                <a:spcPts val="1950"/>
              </a:lnSpc>
              <a:buNone/>
            </a:pPr>
            <a:r>
              <a:rPr lang="en-US" sz="1300" dirty="0">
                <a:solidFill>
                  <a:srgbClr val="C4BCAC"/>
                </a:solidFill>
                <a:latin typeface="Calibri" pitchFamily="34" charset="0"/>
                <a:ea typeface="Calibri" pitchFamily="34" charset="-122"/>
                <a:cs typeface="Calibri" pitchFamily="34" charset="-120"/>
              </a:rPr>
              <a:t>Los encargos grandes —cajas de regalo y pedidos de oficina— salen a WhatsApp con el mensaje ya escrito: se cotizan con una persona, que es como se cotizan de verdad.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21E17"/>
        </a:solidFill>
      </p:bgPr>
    </p:bg>
    <p:spTree>
      <p:nvGrpSpPr>
        <p:cNvPr id="1" name=""/>
        <p:cNvGrpSpPr/>
        <p:nvPr/>
      </p:nvGrpSpPr>
      <p:grpSpPr>
        <a:xfrm>
          <a:off x="0" y="0"/>
          <a:ext cx="0" cy="0"/>
          <a:chOff x="0" y="0"/>
          <a:chExt cx="0" cy="0"/>
        </a:xfrm>
      </p:grpSpPr>
      <p:pic>
        <p:nvPicPr>
          <p:cNvPr id="2" name="Image 0" descr="./img/08-club.png">    </p:cNvPr>
          <p:cNvPicPr>
            <a:picLocks noChangeAspect="1"/>
          </p:cNvPicPr>
          <p:nvPr/>
        </p:nvPicPr>
        <p:blipFill>
          <a:blip r:embed="rId1"/>
          <a:srcRect l="0" r="0" t="0" b="0"/>
          <a:stretch/>
        </p:blipFill>
        <p:spPr>
          <a:xfrm>
            <a:off x="77724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4206240" y="749808"/>
            <a:ext cx="749808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4 · CLUB</a:t>
            </a:r>
            <a:endParaRPr lang="en-US" sz="1100" dirty="0"/>
          </a:p>
        </p:txBody>
      </p:sp>
      <p:sp>
        <p:nvSpPr>
          <p:cNvPr id="4" name="Text 1"/>
          <p:cNvSpPr/>
          <p:nvPr/>
        </p:nvSpPr>
        <p:spPr>
          <a:xfrm>
            <a:off x="4206240" y="1060704"/>
            <a:ext cx="749808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Mesa Fundadora:</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cien plazas y se acaban</a:t>
            </a:r>
            <a:endParaRPr lang="en-US" sz="3400" dirty="0"/>
          </a:p>
        </p:txBody>
      </p:sp>
      <p:sp>
        <p:nvSpPr>
          <p:cNvPr id="5" name="Text 2"/>
          <p:cNvSpPr/>
          <p:nvPr/>
        </p:nvSpPr>
        <p:spPr>
          <a:xfrm>
            <a:off x="4233672" y="2788920"/>
            <a:ext cx="72237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El Club es gratis para cualquiera que abra cuenta. La Mesa Fundadora es la membresía que se paga: cien plazas numeradas, con cuota mensual que se cobra de la Cuenta de Casa.</a:t>
            </a:r>
            <a:endParaRPr lang="en-US" sz="1450" dirty="0"/>
          </a:p>
        </p:txBody>
      </p:sp>
      <p:sp>
        <p:nvSpPr>
          <p:cNvPr id="6" name="Shape 3"/>
          <p:cNvSpPr/>
          <p:nvPr/>
        </p:nvSpPr>
        <p:spPr>
          <a:xfrm>
            <a:off x="4206240" y="4114800"/>
            <a:ext cx="3383280" cy="1325880"/>
          </a:xfrm>
          <a:prstGeom prst="roundRect">
            <a:avLst>
              <a:gd name="adj" fmla="val 8276"/>
            </a:avLst>
          </a:prstGeom>
          <a:solidFill>
            <a:srgbClr val="2E2820"/>
          </a:solidFill>
          <a:ln w="12700">
            <a:solidFill>
              <a:srgbClr val="2E2820"/>
            </a:solidFill>
            <a:prstDash val="solid"/>
          </a:ln>
        </p:spPr>
      </p:sp>
      <p:sp>
        <p:nvSpPr>
          <p:cNvPr id="7" name="Text 4"/>
          <p:cNvSpPr/>
          <p:nvPr/>
        </p:nvSpPr>
        <p:spPr>
          <a:xfrm>
            <a:off x="4480560" y="4279392"/>
            <a:ext cx="283464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100</a:t>
            </a:r>
            <a:endParaRPr lang="en-US" sz="4000" dirty="0"/>
          </a:p>
        </p:txBody>
      </p:sp>
      <p:sp>
        <p:nvSpPr>
          <p:cNvPr id="8" name="Text 5"/>
          <p:cNvSpPr/>
          <p:nvPr/>
        </p:nvSpPr>
        <p:spPr>
          <a:xfrm>
            <a:off x="4480560" y="5010912"/>
            <a:ext cx="283464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Plazas numeradas, ni una más</a:t>
            </a:r>
            <a:endParaRPr lang="en-US" sz="1150" dirty="0"/>
          </a:p>
        </p:txBody>
      </p:sp>
      <p:sp>
        <p:nvSpPr>
          <p:cNvPr id="9" name="Shape 6"/>
          <p:cNvSpPr/>
          <p:nvPr/>
        </p:nvSpPr>
        <p:spPr>
          <a:xfrm>
            <a:off x="7818120" y="4114800"/>
            <a:ext cx="3611880" cy="1325880"/>
          </a:xfrm>
          <a:prstGeom prst="roundRect">
            <a:avLst>
              <a:gd name="adj" fmla="val 8276"/>
            </a:avLst>
          </a:prstGeom>
          <a:solidFill>
            <a:srgbClr val="2E2820"/>
          </a:solidFill>
          <a:ln w="12700">
            <a:solidFill>
              <a:srgbClr val="2E2820"/>
            </a:solidFill>
            <a:prstDash val="solid"/>
          </a:ln>
        </p:spPr>
      </p:sp>
      <p:sp>
        <p:nvSpPr>
          <p:cNvPr id="10" name="Text 7"/>
          <p:cNvSpPr/>
          <p:nvPr/>
        </p:nvSpPr>
        <p:spPr>
          <a:xfrm>
            <a:off x="8092440" y="4279392"/>
            <a:ext cx="3017520" cy="749808"/>
          </a:xfrm>
          <a:prstGeom prst="rect">
            <a:avLst/>
          </a:prstGeom>
          <a:noFill/>
          <a:ln/>
        </p:spPr>
        <p:txBody>
          <a:bodyPr wrap="square" lIns="0" tIns="0" rIns="0" bIns="0" rtlCol="0" anchor="ctr"/>
          <a:lstStyle/>
          <a:p>
            <a:pPr indent="0" marL="0">
              <a:buNone/>
            </a:pPr>
            <a:r>
              <a:rPr lang="en-US" sz="4000" b="1" dirty="0">
                <a:solidFill>
                  <a:srgbClr val="E8B45C"/>
                </a:solidFill>
                <a:latin typeface="Century Schoolbook" pitchFamily="34" charset="0"/>
                <a:ea typeface="Century Schoolbook" pitchFamily="34" charset="-122"/>
                <a:cs typeface="Century Schoolbook" pitchFamily="34" charset="-120"/>
              </a:rPr>
              <a:t>#037</a:t>
            </a:r>
            <a:endParaRPr lang="en-US" sz="4000" dirty="0"/>
          </a:p>
        </p:txBody>
      </p:sp>
      <p:sp>
        <p:nvSpPr>
          <p:cNvPr id="11" name="Text 8"/>
          <p:cNvSpPr/>
          <p:nvPr/>
        </p:nvSpPr>
        <p:spPr>
          <a:xfrm>
            <a:off x="8092440" y="5010912"/>
            <a:ext cx="3017520" cy="457200"/>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El número es del socio</a:t>
            </a:r>
            <a:endParaRPr lang="en-US" sz="1150" dirty="0"/>
          </a:p>
        </p:txBody>
      </p:sp>
      <p:sp>
        <p:nvSpPr>
          <p:cNvPr id="12" name="Text 9"/>
          <p:cNvSpPr/>
          <p:nvPr/>
        </p:nvSpPr>
        <p:spPr>
          <a:xfrm>
            <a:off x="4233672" y="5669280"/>
            <a:ext cx="7132320" cy="914400"/>
          </a:xfrm>
          <a:prstGeom prst="rect">
            <a:avLst/>
          </a:prstGeom>
          <a:noFill/>
          <a:ln/>
        </p:spPr>
        <p:txBody>
          <a:bodyPr wrap="square" lIns="0" tIns="0" rIns="0" bIns="0" rtlCol="0" anchor="t"/>
          <a:lstStyle/>
          <a:p>
            <a:pPr indent="0" marL="0">
              <a:lnSpc>
                <a:spcPts val="1950"/>
              </a:lnSpc>
              <a:buNone/>
            </a:pPr>
            <a:r>
              <a:rPr lang="en-US" sz="1300" dirty="0">
                <a:solidFill>
                  <a:srgbClr val="C4BCAC"/>
                </a:solidFill>
                <a:latin typeface="Calibri" pitchFamily="34" charset="0"/>
                <a:ea typeface="Calibri" pitchFamily="34" charset="-122"/>
                <a:cs typeface="Calibri" pitchFamily="34" charset="-120"/>
              </a:rPr>
              <a:t>El número de socio ES el cupo: la base impide que exista el ciento uno.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21E17"/>
        </a:solidFill>
      </p:bgPr>
    </p:bg>
    <p:spTree>
      <p:nvGrpSpPr>
        <p:cNvPr id="1" name=""/>
        <p:cNvGrpSpPr/>
        <p:nvPr/>
      </p:nvGrpSpPr>
      <p:grpSpPr>
        <a:xfrm>
          <a:off x="0" y="0"/>
          <a:ext cx="0" cy="0"/>
          <a:chOff x="0" y="0"/>
          <a:chExt cx="0" cy="0"/>
        </a:xfrm>
      </p:grpSpPr>
      <p:pic>
        <p:nvPicPr>
          <p:cNvPr id="2" name="Image 0" descr="./img/09b-beneficios.png">    </p:cNvPr>
          <p:cNvPicPr>
            <a:picLocks noChangeAspect="1"/>
          </p:cNvPicPr>
          <p:nvPr/>
        </p:nvPicPr>
        <p:blipFill>
          <a:blip r:embed="rId1"/>
          <a:srcRect l="0" r="0" t="0" b="0"/>
          <a:stretch/>
        </p:blipFill>
        <p:spPr>
          <a:xfrm>
            <a:off x="836676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685800" y="749808"/>
            <a:ext cx="694944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4 · CLUB</a:t>
            </a:r>
            <a:endParaRPr lang="en-US" sz="1100" dirty="0"/>
          </a:p>
        </p:txBody>
      </p:sp>
      <p:sp>
        <p:nvSpPr>
          <p:cNvPr id="4" name="Text 1"/>
          <p:cNvSpPr/>
          <p:nvPr/>
        </p:nvSpPr>
        <p:spPr>
          <a:xfrm>
            <a:off x="685800" y="1060704"/>
            <a:ext cx="694944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Cinco beneficios;</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dos se canjean solos</a:t>
            </a:r>
            <a:endParaRPr lang="en-US" sz="3400" dirty="0"/>
          </a:p>
        </p:txBody>
      </p:sp>
      <p:sp>
        <p:nvSpPr>
          <p:cNvPr id="5" name="Text 2"/>
          <p:cNvSpPr/>
          <p:nvPr/>
        </p:nvSpPr>
        <p:spPr>
          <a:xfrm>
            <a:off x="713232" y="2880360"/>
            <a:ext cx="67665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La app distingue lo que puede resolver sola de lo que aplica una persona en la barra. Un botón que no hace nada es peor que ningún botón.</a:t>
            </a:r>
            <a:endParaRPr lang="en-US" sz="1450" dirty="0"/>
          </a:p>
        </p:txBody>
      </p:sp>
      <p:sp>
        <p:nvSpPr>
          <p:cNvPr id="6" name="Shape 3"/>
          <p:cNvSpPr/>
          <p:nvPr/>
        </p:nvSpPr>
        <p:spPr>
          <a:xfrm>
            <a:off x="777240" y="3730752"/>
            <a:ext cx="118872" cy="118872"/>
          </a:xfrm>
          <a:prstGeom prst="ellipse">
            <a:avLst/>
          </a:prstGeom>
          <a:solidFill>
            <a:srgbClr val="5A9B75"/>
          </a:solidFill>
          <a:ln/>
        </p:spPr>
      </p:sp>
      <p:sp>
        <p:nvSpPr>
          <p:cNvPr id="7" name="Text 4"/>
          <p:cNvSpPr/>
          <p:nvPr/>
        </p:nvSpPr>
        <p:spPr>
          <a:xfrm>
            <a:off x="1069848" y="3639312"/>
            <a:ext cx="6035040" cy="256032"/>
          </a:xfrm>
          <a:prstGeom prst="rect">
            <a:avLst/>
          </a:prstGeom>
          <a:noFill/>
          <a:ln/>
        </p:spPr>
        <p:txBody>
          <a:bodyPr wrap="square" lIns="0" tIns="0" rIns="0" bIns="0" rtlCol="0" anchor="ctr"/>
          <a:lstStyle/>
          <a:p>
            <a:pPr indent="0" marL="0">
              <a:buNone/>
            </a:pPr>
            <a:r>
              <a:rPr lang="en-US" sz="1350" b="1" dirty="0">
                <a:solidFill>
                  <a:srgbClr val="F6F3EC"/>
                </a:solidFill>
                <a:latin typeface="Calibri" pitchFamily="34" charset="0"/>
                <a:ea typeface="Calibri" pitchFamily="34" charset="-122"/>
                <a:cs typeface="Calibri" pitchFamily="34" charset="-120"/>
              </a:rPr>
              <a:t>Bolsa del mes · 250 g del lote</a:t>
            </a:r>
            <a:endParaRPr lang="en-US" sz="1350" dirty="0"/>
          </a:p>
        </p:txBody>
      </p:sp>
      <p:sp>
        <p:nvSpPr>
          <p:cNvPr id="8" name="Text 5"/>
          <p:cNvSpPr/>
          <p:nvPr/>
        </p:nvSpPr>
        <p:spPr>
          <a:xfrm>
            <a:off x="1069848" y="3895344"/>
            <a:ext cx="6035040" cy="237744"/>
          </a:xfrm>
          <a:prstGeom prst="rect">
            <a:avLst/>
          </a:prstGeom>
          <a:noFill/>
          <a:ln/>
        </p:spPr>
        <p:txBody>
          <a:bodyPr wrap="square" lIns="0" tIns="0" rIns="0" bIns="0" rtlCol="0" anchor="ctr"/>
          <a:lstStyle/>
          <a:p>
            <a:pPr indent="0" marL="0">
              <a:buNone/>
            </a:pPr>
            <a:r>
              <a:rPr lang="en-US" sz="1150" dirty="0">
                <a:solidFill>
                  <a:srgbClr val="8C8578"/>
                </a:solidFill>
                <a:latin typeface="Calibri" pitchFamily="34" charset="0"/>
                <a:ea typeface="Calibri" pitchFamily="34" charset="-122"/>
                <a:cs typeface="Calibri" pitchFamily="34" charset="-120"/>
              </a:rPr>
              <a:t>Se canjea desde la app, una vez al mes</a:t>
            </a:r>
            <a:endParaRPr lang="en-US" sz="1150" dirty="0"/>
          </a:p>
        </p:txBody>
      </p:sp>
      <p:sp>
        <p:nvSpPr>
          <p:cNvPr id="9" name="Shape 6"/>
          <p:cNvSpPr/>
          <p:nvPr/>
        </p:nvSpPr>
        <p:spPr>
          <a:xfrm>
            <a:off x="777240" y="4261104"/>
            <a:ext cx="118872" cy="118872"/>
          </a:xfrm>
          <a:prstGeom prst="ellipse">
            <a:avLst/>
          </a:prstGeom>
          <a:solidFill>
            <a:srgbClr val="5A9B75"/>
          </a:solidFill>
          <a:ln/>
        </p:spPr>
      </p:sp>
      <p:sp>
        <p:nvSpPr>
          <p:cNvPr id="10" name="Text 7"/>
          <p:cNvSpPr/>
          <p:nvPr/>
        </p:nvSpPr>
        <p:spPr>
          <a:xfrm>
            <a:off x="1069848" y="4169664"/>
            <a:ext cx="6035040" cy="256032"/>
          </a:xfrm>
          <a:prstGeom prst="rect">
            <a:avLst/>
          </a:prstGeom>
          <a:noFill/>
          <a:ln/>
        </p:spPr>
        <p:txBody>
          <a:bodyPr wrap="square" lIns="0" tIns="0" rIns="0" bIns="0" rtlCol="0" anchor="ctr"/>
          <a:lstStyle/>
          <a:p>
            <a:pPr indent="0" marL="0">
              <a:buNone/>
            </a:pPr>
            <a:r>
              <a:rPr lang="en-US" sz="1350" b="1" dirty="0">
                <a:solidFill>
                  <a:srgbClr val="F6F3EC"/>
                </a:solidFill>
                <a:latin typeface="Calibri" pitchFamily="34" charset="0"/>
                <a:ea typeface="Calibri" pitchFamily="34" charset="-122"/>
                <a:cs typeface="Calibri" pitchFamily="34" charset="-120"/>
              </a:rPr>
              <a:t>Un café filtrado por visita</a:t>
            </a:r>
            <a:endParaRPr lang="en-US" sz="1350" dirty="0"/>
          </a:p>
        </p:txBody>
      </p:sp>
      <p:sp>
        <p:nvSpPr>
          <p:cNvPr id="11" name="Text 8"/>
          <p:cNvSpPr/>
          <p:nvPr/>
        </p:nvSpPr>
        <p:spPr>
          <a:xfrm>
            <a:off x="1069848" y="4425696"/>
            <a:ext cx="6035040" cy="237744"/>
          </a:xfrm>
          <a:prstGeom prst="rect">
            <a:avLst/>
          </a:prstGeom>
          <a:noFill/>
          <a:ln/>
        </p:spPr>
        <p:txBody>
          <a:bodyPr wrap="square" lIns="0" tIns="0" rIns="0" bIns="0" rtlCol="0" anchor="ctr"/>
          <a:lstStyle/>
          <a:p>
            <a:pPr indent="0" marL="0">
              <a:buNone/>
            </a:pPr>
            <a:r>
              <a:rPr lang="en-US" sz="1150" dirty="0">
                <a:solidFill>
                  <a:srgbClr val="8C8578"/>
                </a:solidFill>
                <a:latin typeface="Calibri" pitchFamily="34" charset="0"/>
                <a:ea typeface="Calibri" pitchFamily="34" charset="-122"/>
                <a:cs typeface="Calibri" pitchFamily="34" charset="-120"/>
              </a:rPr>
              <a:t>Se canjea desde la app, una vez al día</a:t>
            </a:r>
            <a:endParaRPr lang="en-US" sz="1150" dirty="0"/>
          </a:p>
        </p:txBody>
      </p:sp>
      <p:sp>
        <p:nvSpPr>
          <p:cNvPr id="12" name="Shape 9"/>
          <p:cNvSpPr/>
          <p:nvPr/>
        </p:nvSpPr>
        <p:spPr>
          <a:xfrm>
            <a:off x="777240" y="4791456"/>
            <a:ext cx="118872" cy="118872"/>
          </a:xfrm>
          <a:prstGeom prst="ellipse">
            <a:avLst/>
          </a:prstGeom>
          <a:solidFill>
            <a:srgbClr val="C08A2D"/>
          </a:solidFill>
          <a:ln/>
        </p:spPr>
      </p:sp>
      <p:sp>
        <p:nvSpPr>
          <p:cNvPr id="13" name="Text 10"/>
          <p:cNvSpPr/>
          <p:nvPr/>
        </p:nvSpPr>
        <p:spPr>
          <a:xfrm>
            <a:off x="1069848" y="4700016"/>
            <a:ext cx="6035040" cy="256032"/>
          </a:xfrm>
          <a:prstGeom prst="rect">
            <a:avLst/>
          </a:prstGeom>
          <a:noFill/>
          <a:ln/>
        </p:spPr>
        <p:txBody>
          <a:bodyPr wrap="square" lIns="0" tIns="0" rIns="0" bIns="0" rtlCol="0" anchor="ctr"/>
          <a:lstStyle/>
          <a:p>
            <a:pPr indent="0" marL="0">
              <a:buNone/>
            </a:pPr>
            <a:r>
              <a:rPr lang="en-US" sz="1350" b="1" dirty="0">
                <a:solidFill>
                  <a:srgbClr val="F6F3EC"/>
                </a:solidFill>
                <a:latin typeface="Calibri" pitchFamily="34" charset="0"/>
                <a:ea typeface="Calibri" pitchFamily="34" charset="-122"/>
                <a:cs typeface="Calibri" pitchFamily="34" charset="-120"/>
              </a:rPr>
              <a:t>15 % en toda la repostería</a:t>
            </a:r>
            <a:endParaRPr lang="en-US" sz="1350" dirty="0"/>
          </a:p>
        </p:txBody>
      </p:sp>
      <p:sp>
        <p:nvSpPr>
          <p:cNvPr id="14" name="Text 11"/>
          <p:cNvSpPr/>
          <p:nvPr/>
        </p:nvSpPr>
        <p:spPr>
          <a:xfrm>
            <a:off x="1069848" y="4956048"/>
            <a:ext cx="6035040" cy="237744"/>
          </a:xfrm>
          <a:prstGeom prst="rect">
            <a:avLst/>
          </a:prstGeom>
          <a:noFill/>
          <a:ln/>
        </p:spPr>
        <p:txBody>
          <a:bodyPr wrap="square" lIns="0" tIns="0" rIns="0" bIns="0" rtlCol="0" anchor="ctr"/>
          <a:lstStyle/>
          <a:p>
            <a:pPr indent="0" marL="0">
              <a:buNone/>
            </a:pPr>
            <a:r>
              <a:rPr lang="en-US" sz="1150" dirty="0">
                <a:solidFill>
                  <a:srgbClr val="8C8578"/>
                </a:solidFill>
                <a:latin typeface="Calibri" pitchFamily="34" charset="0"/>
                <a:ea typeface="Calibri" pitchFamily="34" charset="-122"/>
                <a:cs typeface="Calibri" pitchFamily="34" charset="-120"/>
              </a:rPr>
              <a:t>Lo aplica quien atiende</a:t>
            </a:r>
            <a:endParaRPr lang="en-US" sz="1150" dirty="0"/>
          </a:p>
        </p:txBody>
      </p:sp>
      <p:sp>
        <p:nvSpPr>
          <p:cNvPr id="15" name="Shape 12"/>
          <p:cNvSpPr/>
          <p:nvPr/>
        </p:nvSpPr>
        <p:spPr>
          <a:xfrm>
            <a:off x="777240" y="5321808"/>
            <a:ext cx="118872" cy="118872"/>
          </a:xfrm>
          <a:prstGeom prst="ellipse">
            <a:avLst/>
          </a:prstGeom>
          <a:solidFill>
            <a:srgbClr val="C08A2D"/>
          </a:solidFill>
          <a:ln/>
        </p:spPr>
      </p:sp>
      <p:sp>
        <p:nvSpPr>
          <p:cNvPr id="16" name="Text 13"/>
          <p:cNvSpPr/>
          <p:nvPr/>
        </p:nvSpPr>
        <p:spPr>
          <a:xfrm>
            <a:off x="1069848" y="5230368"/>
            <a:ext cx="6035040" cy="256032"/>
          </a:xfrm>
          <a:prstGeom prst="rect">
            <a:avLst/>
          </a:prstGeom>
          <a:noFill/>
          <a:ln/>
        </p:spPr>
        <p:txBody>
          <a:bodyPr wrap="square" lIns="0" tIns="0" rIns="0" bIns="0" rtlCol="0" anchor="ctr"/>
          <a:lstStyle/>
          <a:p>
            <a:pPr indent="0" marL="0">
              <a:buNone/>
            </a:pPr>
            <a:r>
              <a:rPr lang="en-US" sz="1350" b="1" dirty="0">
                <a:solidFill>
                  <a:srgbClr val="F6F3EC"/>
                </a:solidFill>
                <a:latin typeface="Calibri" pitchFamily="34" charset="0"/>
                <a:ea typeface="Calibri" pitchFamily="34" charset="-122"/>
                <a:cs typeface="Calibri" pitchFamily="34" charset="-120"/>
              </a:rPr>
              <a:t>Prioridad de horario en Salón VIP</a:t>
            </a:r>
            <a:endParaRPr lang="en-US" sz="1350" dirty="0"/>
          </a:p>
        </p:txBody>
      </p:sp>
      <p:sp>
        <p:nvSpPr>
          <p:cNvPr id="17" name="Text 14"/>
          <p:cNvSpPr/>
          <p:nvPr/>
        </p:nvSpPr>
        <p:spPr>
          <a:xfrm>
            <a:off x="1069848" y="5486400"/>
            <a:ext cx="6035040" cy="237744"/>
          </a:xfrm>
          <a:prstGeom prst="rect">
            <a:avLst/>
          </a:prstGeom>
          <a:noFill/>
          <a:ln/>
        </p:spPr>
        <p:txBody>
          <a:bodyPr wrap="square" lIns="0" tIns="0" rIns="0" bIns="0" rtlCol="0" anchor="ctr"/>
          <a:lstStyle/>
          <a:p>
            <a:pPr indent="0" marL="0">
              <a:buNone/>
            </a:pPr>
            <a:r>
              <a:rPr lang="en-US" sz="1150" dirty="0">
                <a:solidFill>
                  <a:srgbClr val="8C8578"/>
                </a:solidFill>
                <a:latin typeface="Calibri" pitchFamily="34" charset="0"/>
                <a:ea typeface="Calibri" pitchFamily="34" charset="-122"/>
                <a:cs typeface="Calibri" pitchFamily="34" charset="-120"/>
              </a:rPr>
              <a:t>Lo aplica quien atiende</a:t>
            </a:r>
            <a:endParaRPr lang="en-US" sz="1150" dirty="0"/>
          </a:p>
        </p:txBody>
      </p:sp>
      <p:sp>
        <p:nvSpPr>
          <p:cNvPr id="18" name="Shape 15"/>
          <p:cNvSpPr/>
          <p:nvPr/>
        </p:nvSpPr>
        <p:spPr>
          <a:xfrm>
            <a:off x="777240" y="5852160"/>
            <a:ext cx="118872" cy="118872"/>
          </a:xfrm>
          <a:prstGeom prst="ellipse">
            <a:avLst/>
          </a:prstGeom>
          <a:solidFill>
            <a:srgbClr val="C08A2D"/>
          </a:solidFill>
          <a:ln/>
        </p:spPr>
      </p:sp>
      <p:sp>
        <p:nvSpPr>
          <p:cNvPr id="19" name="Text 16"/>
          <p:cNvSpPr/>
          <p:nvPr/>
        </p:nvSpPr>
        <p:spPr>
          <a:xfrm>
            <a:off x="1069848" y="5760720"/>
            <a:ext cx="6035040" cy="256032"/>
          </a:xfrm>
          <a:prstGeom prst="rect">
            <a:avLst/>
          </a:prstGeom>
          <a:noFill/>
          <a:ln/>
        </p:spPr>
        <p:txBody>
          <a:bodyPr wrap="square" lIns="0" tIns="0" rIns="0" bIns="0" rtlCol="0" anchor="ctr"/>
          <a:lstStyle/>
          <a:p>
            <a:pPr indent="0" marL="0">
              <a:buNone/>
            </a:pPr>
            <a:r>
              <a:rPr lang="en-US" sz="1350" b="1" dirty="0">
                <a:solidFill>
                  <a:srgbClr val="F6F3EC"/>
                </a:solidFill>
                <a:latin typeface="Calibri" pitchFamily="34" charset="0"/>
                <a:ea typeface="Calibri" pitchFamily="34" charset="-122"/>
                <a:cs typeface="Calibri" pitchFamily="34" charset="-120"/>
              </a:rPr>
              <a:t>Experiencias 48 h antes</a:t>
            </a:r>
            <a:endParaRPr lang="en-US" sz="1350" dirty="0"/>
          </a:p>
        </p:txBody>
      </p:sp>
      <p:sp>
        <p:nvSpPr>
          <p:cNvPr id="20" name="Text 17"/>
          <p:cNvSpPr/>
          <p:nvPr/>
        </p:nvSpPr>
        <p:spPr>
          <a:xfrm>
            <a:off x="1069848" y="6016752"/>
            <a:ext cx="6035040" cy="237744"/>
          </a:xfrm>
          <a:prstGeom prst="rect">
            <a:avLst/>
          </a:prstGeom>
          <a:noFill/>
          <a:ln/>
        </p:spPr>
        <p:txBody>
          <a:bodyPr wrap="square" lIns="0" tIns="0" rIns="0" bIns="0" rtlCol="0" anchor="ctr"/>
          <a:lstStyle/>
          <a:p>
            <a:pPr indent="0" marL="0">
              <a:buNone/>
            </a:pPr>
            <a:r>
              <a:rPr lang="en-US" sz="1150" dirty="0">
                <a:solidFill>
                  <a:srgbClr val="8C8578"/>
                </a:solidFill>
                <a:latin typeface="Calibri" pitchFamily="34" charset="0"/>
                <a:ea typeface="Calibri" pitchFamily="34" charset="-122"/>
                <a:cs typeface="Calibri" pitchFamily="34" charset="-120"/>
              </a:rPr>
              <a:t>Lo aplica quien atiende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21E17"/>
        </a:solidFill>
      </p:bgPr>
    </p:bg>
    <p:spTree>
      <p:nvGrpSpPr>
        <p:cNvPr id="1" name=""/>
        <p:cNvGrpSpPr/>
        <p:nvPr/>
      </p:nvGrpSpPr>
      <p:grpSpPr>
        <a:xfrm>
          <a:off x="0" y="0"/>
          <a:ext cx="0" cy="0"/>
          <a:chOff x="0" y="0"/>
          <a:chExt cx="0" cy="0"/>
        </a:xfrm>
      </p:grpSpPr>
      <p:pic>
        <p:nvPicPr>
          <p:cNvPr id="2" name="Image 0" descr="./img/salon.jpg">    </p:cNvPr>
          <p:cNvPicPr>
            <a:picLocks noChangeAspect="1"/>
          </p:cNvPicPr>
          <p:nvPr/>
        </p:nvPicPr>
        <p:blipFill>
          <a:blip r:embed="rId1"/>
          <a:srcRect l="0" r="0" t="0" b="0"/>
          <a:stretch/>
        </p:blipFill>
        <p:spPr>
          <a:xfrm>
            <a:off x="7818120" y="0"/>
            <a:ext cx="4343400" cy="6858000"/>
          </a:xfrm>
          <a:prstGeom prst="rect">
            <a:avLst/>
          </a:prstGeom>
        </p:spPr>
      </p:pic>
      <p:sp>
        <p:nvSpPr>
          <p:cNvPr id="3" name="Shape 0"/>
          <p:cNvSpPr/>
          <p:nvPr/>
        </p:nvSpPr>
        <p:spPr>
          <a:xfrm>
            <a:off x="7818120" y="0"/>
            <a:ext cx="4343400" cy="6858000"/>
          </a:xfrm>
          <a:prstGeom prst="rect">
            <a:avLst/>
          </a:prstGeom>
          <a:solidFill>
            <a:srgbClr val="221E17">
              <a:alpha val="55000"/>
            </a:srgbClr>
          </a:solidFill>
          <a:ln/>
        </p:spPr>
      </p:sp>
      <p:pic>
        <p:nvPicPr>
          <p:cNvPr id="4" name="Image 1" descr="./img/10-club-experiencias.png">    </p:cNvPr>
          <p:cNvPicPr>
            <a:picLocks noChangeAspect="1"/>
          </p:cNvPicPr>
          <p:nvPr/>
        </p:nvPicPr>
        <p:blipFill>
          <a:blip r:embed="rId2"/>
          <a:srcRect l="0" r="0" t="0" b="0"/>
          <a:stretch/>
        </p:blipFill>
        <p:spPr>
          <a:xfrm>
            <a:off x="6537960" y="685800"/>
            <a:ext cx="2531328" cy="5486400"/>
          </a:xfrm>
          <a:prstGeom prst="rect">
            <a:avLst/>
          </a:prstGeom>
          <a:effectLst>
            <a:outerShdw sx="100000" sy="100000" kx="0" ky="0" algn="bl" rotWithShape="0" blurRad="228600" dist="76200" dir="5400000">
              <a:srgbClr val="000000">
                <a:alpha val="55000"/>
              </a:srgbClr>
            </a:outerShdw>
          </a:effectLst>
        </p:spPr>
      </p:pic>
      <p:sp>
        <p:nvSpPr>
          <p:cNvPr id="5" name="Text 1"/>
          <p:cNvSpPr/>
          <p:nvPr/>
        </p:nvSpPr>
        <p:spPr>
          <a:xfrm>
            <a:off x="685800" y="749808"/>
            <a:ext cx="548640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4 · CLUB</a:t>
            </a:r>
            <a:endParaRPr lang="en-US" sz="1100" dirty="0"/>
          </a:p>
        </p:txBody>
      </p:sp>
      <p:sp>
        <p:nvSpPr>
          <p:cNvPr id="6" name="Text 2"/>
          <p:cNvSpPr/>
          <p:nvPr/>
        </p:nvSpPr>
        <p:spPr>
          <a:xfrm>
            <a:off x="685800" y="1060704"/>
            <a:ext cx="5486400" cy="1051560"/>
          </a:xfrm>
          <a:prstGeom prst="rect">
            <a:avLst/>
          </a:prstGeom>
          <a:noFill/>
          <a:ln/>
        </p:spPr>
        <p:txBody>
          <a:bodyPr wrap="square" lIns="0" tIns="0" rIns="0" bIns="0" rtlCol="0" anchor="ctr"/>
          <a:lstStyle/>
          <a:p>
            <a:pPr indent="0" marL="0">
              <a:lnSpc>
                <a:spcPts val="3584"/>
              </a:lnSpc>
              <a:buNone/>
            </a:pPr>
            <a:r>
              <a:rPr lang="en-US" sz="3200" b="1" dirty="0">
                <a:solidFill>
                  <a:srgbClr val="F6F3EC"/>
                </a:solidFill>
                <a:latin typeface="Century Schoolbook" pitchFamily="34" charset="0"/>
                <a:ea typeface="Century Schoolbook" pitchFamily="34" charset="-122"/>
                <a:cs typeface="Century Schoolbook" pitchFamily="34" charset="-120"/>
              </a:rPr>
              <a:t>Experiencias con cupo</a:t>
            </a:r>
            <a:endParaRPr lang="en-US" sz="3200" dirty="0"/>
          </a:p>
          <a:p>
            <a:pPr indent="0" marL="0">
              <a:lnSpc>
                <a:spcPts val="3584"/>
              </a:lnSpc>
              <a:buNone/>
            </a:pPr>
            <a:r>
              <a:rPr lang="en-US" sz="3200" b="1" dirty="0">
                <a:solidFill>
                  <a:srgbClr val="F6F3EC"/>
                </a:solidFill>
                <a:latin typeface="Century Schoolbook" pitchFamily="34" charset="0"/>
                <a:ea typeface="Century Schoolbook" pitchFamily="34" charset="-122"/>
                <a:cs typeface="Century Schoolbook" pitchFamily="34" charset="-120"/>
              </a:rPr>
              <a:t>contado</a:t>
            </a:r>
            <a:endParaRPr lang="en-US" sz="3200" dirty="0"/>
          </a:p>
        </p:txBody>
      </p:sp>
      <p:sp>
        <p:nvSpPr>
          <p:cNvPr id="7" name="Text 3"/>
          <p:cNvSpPr/>
          <p:nvPr/>
        </p:nvSpPr>
        <p:spPr>
          <a:xfrm>
            <a:off x="713232" y="2880360"/>
            <a:ext cx="5394960" cy="914400"/>
          </a:xfrm>
          <a:prstGeom prst="rect">
            <a:avLst/>
          </a:prstGeom>
          <a:noFill/>
          <a:ln/>
        </p:spPr>
        <p:txBody>
          <a:bodyPr wrap="square" lIns="0" tIns="0" rIns="0" bIns="0" rtlCol="0" anchor="t"/>
          <a:lstStyle/>
          <a:p>
            <a:pPr indent="0" marL="0">
              <a:lnSpc>
                <a:spcPts val="2100"/>
              </a:lnSpc>
              <a:buNone/>
            </a:pPr>
            <a:r>
              <a:rPr lang="en-US" sz="1400" dirty="0">
                <a:solidFill>
                  <a:srgbClr val="C4BCAC"/>
                </a:solidFill>
                <a:latin typeface="Calibri" pitchFamily="34" charset="0"/>
                <a:ea typeface="Calibri" pitchFamily="34" charset="-122"/>
                <a:cs typeface="Calibri" pitchFamily="34" charset="-120"/>
              </a:rPr>
              <a:t>Catas, mesas del tostador y el tour a la finca. Cada una con su fecha, su precio y las butacas que quedan; la butaca se aparta y se paga desde la app.</a:t>
            </a:r>
            <a:endParaRPr lang="en-US" sz="1400" dirty="0"/>
          </a:p>
        </p:txBody>
      </p:sp>
      <p:sp>
        <p:nvSpPr>
          <p:cNvPr id="8" name="Shape 4"/>
          <p:cNvSpPr/>
          <p:nvPr/>
        </p:nvSpPr>
        <p:spPr>
          <a:xfrm>
            <a:off x="777240" y="3995928"/>
            <a:ext cx="118872" cy="118872"/>
          </a:xfrm>
          <a:prstGeom prst="ellipse">
            <a:avLst/>
          </a:prstGeom>
          <a:solidFill>
            <a:srgbClr val="C08A2D"/>
          </a:solidFill>
          <a:ln/>
        </p:spPr>
      </p:sp>
      <p:sp>
        <p:nvSpPr>
          <p:cNvPr id="9" name="Text 5"/>
          <p:cNvSpPr/>
          <p:nvPr/>
        </p:nvSpPr>
        <p:spPr>
          <a:xfrm>
            <a:off x="1069848" y="3913632"/>
            <a:ext cx="50109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La butaca la elige el sistema</a:t>
            </a:r>
            <a:endParaRPr lang="en-US" sz="1400" dirty="0"/>
          </a:p>
        </p:txBody>
      </p:sp>
      <p:sp>
        <p:nvSpPr>
          <p:cNvPr id="10" name="Text 6"/>
          <p:cNvSpPr/>
          <p:nvPr/>
        </p:nvSpPr>
        <p:spPr>
          <a:xfrm>
            <a:off x="1069848" y="4187952"/>
            <a:ext cx="50109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Dos personas no pueden apartar la misma, ni con el mismo toque.</a:t>
            </a:r>
            <a:endParaRPr lang="en-US" sz="1250" dirty="0"/>
          </a:p>
        </p:txBody>
      </p:sp>
      <p:sp>
        <p:nvSpPr>
          <p:cNvPr id="11" name="Shape 7"/>
          <p:cNvSpPr/>
          <p:nvPr/>
        </p:nvSpPr>
        <p:spPr>
          <a:xfrm>
            <a:off x="777240" y="4882896"/>
            <a:ext cx="118872" cy="118872"/>
          </a:xfrm>
          <a:prstGeom prst="ellipse">
            <a:avLst/>
          </a:prstGeom>
          <a:solidFill>
            <a:srgbClr val="C08A2D"/>
          </a:solidFill>
          <a:ln/>
        </p:spPr>
      </p:sp>
      <p:sp>
        <p:nvSpPr>
          <p:cNvPr id="12" name="Text 8"/>
          <p:cNvSpPr/>
          <p:nvPr/>
        </p:nvSpPr>
        <p:spPr>
          <a:xfrm>
            <a:off x="1069848" y="4800600"/>
            <a:ext cx="50109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Se paga con la Cuenta de Casa</a:t>
            </a:r>
            <a:endParaRPr lang="en-US" sz="1400" dirty="0"/>
          </a:p>
        </p:txBody>
      </p:sp>
      <p:sp>
        <p:nvSpPr>
          <p:cNvPr id="13" name="Text 9"/>
          <p:cNvSpPr/>
          <p:nvPr/>
        </p:nvSpPr>
        <p:spPr>
          <a:xfrm>
            <a:off x="1069848" y="5074920"/>
            <a:ext cx="50109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Y si no alcanza, dice cuánto falta.</a:t>
            </a:r>
            <a:endParaRPr lang="en-US" sz="1250" dirty="0"/>
          </a:p>
        </p:txBody>
      </p:sp>
      <p:sp>
        <p:nvSpPr>
          <p:cNvPr id="14" name="Shape 10"/>
          <p:cNvSpPr/>
          <p:nvPr/>
        </p:nvSpPr>
        <p:spPr>
          <a:xfrm>
            <a:off x="777240" y="5769864"/>
            <a:ext cx="118872" cy="118872"/>
          </a:xfrm>
          <a:prstGeom prst="ellipse">
            <a:avLst/>
          </a:prstGeom>
          <a:solidFill>
            <a:srgbClr val="C08A2D"/>
          </a:solidFill>
          <a:ln/>
        </p:spPr>
      </p:sp>
      <p:sp>
        <p:nvSpPr>
          <p:cNvPr id="15" name="Text 11"/>
          <p:cNvSpPr/>
          <p:nvPr/>
        </p:nvSpPr>
        <p:spPr>
          <a:xfrm>
            <a:off x="1069848" y="5687568"/>
            <a:ext cx="50109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Cuando se llena, se dice</a:t>
            </a:r>
            <a:endParaRPr lang="en-US" sz="1400" dirty="0"/>
          </a:p>
        </p:txBody>
      </p:sp>
      <p:sp>
        <p:nvSpPr>
          <p:cNvPr id="16" name="Text 12"/>
          <p:cNvSpPr/>
          <p:nvPr/>
        </p:nvSpPr>
        <p:spPr>
          <a:xfrm>
            <a:off x="1069848" y="5961888"/>
            <a:ext cx="50109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El botón se apaga con su razón a la vista.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21E17"/>
        </a:solidFill>
      </p:bgPr>
    </p:bg>
    <p:spTree>
      <p:nvGrpSpPr>
        <p:cNvPr id="1" name=""/>
        <p:cNvGrpSpPr/>
        <p:nvPr/>
      </p:nvGrpSpPr>
      <p:grpSpPr>
        <a:xfrm>
          <a:off x="0" y="0"/>
          <a:ext cx="0" cy="0"/>
          <a:chOff x="0" y="0"/>
          <a:chExt cx="0" cy="0"/>
        </a:xfrm>
      </p:grpSpPr>
      <p:pic>
        <p:nvPicPr>
          <p:cNvPr id="2" name="Image 0" descr="./img/11-reservar.png">    </p:cNvPr>
          <p:cNvPicPr>
            <a:picLocks noChangeAspect="1"/>
          </p:cNvPicPr>
          <p:nvPr/>
        </p:nvPicPr>
        <p:blipFill>
          <a:blip r:embed="rId1"/>
          <a:srcRect l="0" r="0" t="0" b="0"/>
          <a:stretch/>
        </p:blipFill>
        <p:spPr>
          <a:xfrm>
            <a:off x="777240" y="685800"/>
            <a:ext cx="2531328" cy="5486400"/>
          </a:xfrm>
          <a:prstGeom prst="rect">
            <a:avLst/>
          </a:prstGeom>
          <a:effectLst>
            <a:outerShdw sx="100000" sy="100000" kx="0" ky="0" algn="bl" rotWithShape="0" blurRad="228600" dist="76200" dir="5400000">
              <a:srgbClr val="000000">
                <a:alpha val="55000"/>
              </a:srgbClr>
            </a:outerShdw>
          </a:effectLst>
        </p:spPr>
      </p:pic>
      <p:sp>
        <p:nvSpPr>
          <p:cNvPr id="3" name="Text 0"/>
          <p:cNvSpPr/>
          <p:nvPr/>
        </p:nvSpPr>
        <p:spPr>
          <a:xfrm>
            <a:off x="4206240" y="749808"/>
            <a:ext cx="749808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4 · CLUB</a:t>
            </a:r>
            <a:endParaRPr lang="en-US" sz="1100" dirty="0"/>
          </a:p>
        </p:txBody>
      </p:sp>
      <p:sp>
        <p:nvSpPr>
          <p:cNvPr id="4" name="Text 1"/>
          <p:cNvSpPr/>
          <p:nvPr/>
        </p:nvSpPr>
        <p:spPr>
          <a:xfrm>
            <a:off x="4206240" y="1060704"/>
            <a:ext cx="749808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Reservar mesa, con zona</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y hora</a:t>
            </a:r>
            <a:endParaRPr lang="en-US" sz="3400" dirty="0"/>
          </a:p>
        </p:txBody>
      </p:sp>
      <p:sp>
        <p:nvSpPr>
          <p:cNvPr id="5" name="Text 2"/>
          <p:cNvSpPr/>
          <p:nvPr/>
        </p:nvSpPr>
        <p:spPr>
          <a:xfrm>
            <a:off x="4233672" y="2788920"/>
            <a:ext cx="722376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El socio elige día, hora y zona del salón. El Salón VIP lleva depósito, y el depósito se descuenta de la Cuenta de Casa igual que todo lo demás.</a:t>
            </a:r>
            <a:endParaRPr lang="en-US" sz="1450" dirty="0"/>
          </a:p>
        </p:txBody>
      </p:sp>
      <p:sp>
        <p:nvSpPr>
          <p:cNvPr id="6" name="Shape 3"/>
          <p:cNvSpPr/>
          <p:nvPr/>
        </p:nvSpPr>
        <p:spPr>
          <a:xfrm>
            <a:off x="4279392" y="4059936"/>
            <a:ext cx="118872" cy="118872"/>
          </a:xfrm>
          <a:prstGeom prst="ellipse">
            <a:avLst/>
          </a:prstGeom>
          <a:solidFill>
            <a:srgbClr val="C08A2D"/>
          </a:solidFill>
          <a:ln/>
        </p:spPr>
      </p:sp>
      <p:sp>
        <p:nvSpPr>
          <p:cNvPr id="7" name="Text 4"/>
          <p:cNvSpPr/>
          <p:nvPr/>
        </p:nvSpPr>
        <p:spPr>
          <a:xfrm>
            <a:off x="4572000" y="3977640"/>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Una mesa, una reserva</a:t>
            </a:r>
            <a:endParaRPr lang="en-US" sz="1400" dirty="0"/>
          </a:p>
        </p:txBody>
      </p:sp>
      <p:sp>
        <p:nvSpPr>
          <p:cNvPr id="8" name="Text 5"/>
          <p:cNvSpPr/>
          <p:nvPr/>
        </p:nvSpPr>
        <p:spPr>
          <a:xfrm>
            <a:off x="4572000" y="4251960"/>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La base impide que el Salón VIP quede tomado dos veces a la misma hora.</a:t>
            </a:r>
            <a:endParaRPr lang="en-US" sz="1250" dirty="0"/>
          </a:p>
        </p:txBody>
      </p:sp>
      <p:sp>
        <p:nvSpPr>
          <p:cNvPr id="9" name="Shape 6"/>
          <p:cNvSpPr/>
          <p:nvPr/>
        </p:nvSpPr>
        <p:spPr>
          <a:xfrm>
            <a:off x="4279392" y="4928616"/>
            <a:ext cx="118872" cy="118872"/>
          </a:xfrm>
          <a:prstGeom prst="ellipse">
            <a:avLst/>
          </a:prstGeom>
          <a:solidFill>
            <a:srgbClr val="C08A2D"/>
          </a:solidFill>
          <a:ln/>
        </p:spPr>
      </p:sp>
      <p:sp>
        <p:nvSpPr>
          <p:cNvPr id="10" name="Text 7"/>
          <p:cNvSpPr/>
          <p:nvPr/>
        </p:nvSpPr>
        <p:spPr>
          <a:xfrm>
            <a:off x="4572000" y="4846320"/>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El depósito queda a favor</a:t>
            </a:r>
            <a:endParaRPr lang="en-US" sz="1400" dirty="0"/>
          </a:p>
        </p:txBody>
      </p:sp>
      <p:sp>
        <p:nvSpPr>
          <p:cNvPr id="11" name="Text 8"/>
          <p:cNvSpPr/>
          <p:nvPr/>
        </p:nvSpPr>
        <p:spPr>
          <a:xfrm>
            <a:off x="4572000" y="5120640"/>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No es un cargo aparte: es saldo del socio que se aplica a la visita.</a:t>
            </a:r>
            <a:endParaRPr lang="en-US" sz="1250" dirty="0"/>
          </a:p>
        </p:txBody>
      </p:sp>
      <p:sp>
        <p:nvSpPr>
          <p:cNvPr id="12" name="Shape 9"/>
          <p:cNvSpPr/>
          <p:nvPr/>
        </p:nvSpPr>
        <p:spPr>
          <a:xfrm>
            <a:off x="4279392" y="5797296"/>
            <a:ext cx="118872" cy="118872"/>
          </a:xfrm>
          <a:prstGeom prst="ellipse">
            <a:avLst/>
          </a:prstGeom>
          <a:solidFill>
            <a:srgbClr val="C08A2D"/>
          </a:solidFill>
          <a:ln/>
        </p:spPr>
      </p:sp>
      <p:sp>
        <p:nvSpPr>
          <p:cNvPr id="13" name="Text 10"/>
          <p:cNvSpPr/>
          <p:nvPr/>
        </p:nvSpPr>
        <p:spPr>
          <a:xfrm>
            <a:off x="4572000" y="5715000"/>
            <a:ext cx="683971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Queda anotada a su nombre</a:t>
            </a:r>
            <a:endParaRPr lang="en-US" sz="1400" dirty="0"/>
          </a:p>
        </p:txBody>
      </p:sp>
      <p:sp>
        <p:nvSpPr>
          <p:cNvPr id="14" name="Text 11"/>
          <p:cNvSpPr/>
          <p:nvPr/>
        </p:nvSpPr>
        <p:spPr>
          <a:xfrm>
            <a:off x="4572000" y="5989320"/>
            <a:ext cx="683971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La casa ve quién viene, cuándo y a qué zona.</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21E17"/>
        </a:solidFill>
      </p:bgPr>
    </p:bg>
    <p:spTree>
      <p:nvGrpSpPr>
        <p:cNvPr id="1" name=""/>
        <p:cNvGrpSpPr/>
        <p:nvPr/>
      </p:nvGrpSpPr>
      <p:grpSpPr>
        <a:xfrm>
          <a:off x="0" y="0"/>
          <a:ext cx="0" cy="0"/>
          <a:chOff x="0" y="0"/>
          <a:chExt cx="0" cy="0"/>
        </a:xfrm>
      </p:grpSpPr>
      <p:sp>
        <p:nvSpPr>
          <p:cNvPr id="2" name="Text 0"/>
          <p:cNvSpPr/>
          <p:nvPr/>
        </p:nvSpPr>
        <p:spPr>
          <a:xfrm>
            <a:off x="685800" y="749808"/>
            <a:ext cx="576072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MÓDULO 5 · PERFIL</a:t>
            </a:r>
            <a:endParaRPr lang="en-US" sz="1100" dirty="0"/>
          </a:p>
        </p:txBody>
      </p:sp>
      <p:sp>
        <p:nvSpPr>
          <p:cNvPr id="3" name="Text 1"/>
          <p:cNvSpPr/>
          <p:nvPr/>
        </p:nvSpPr>
        <p:spPr>
          <a:xfrm>
            <a:off x="685800" y="1060704"/>
            <a:ext cx="5760720" cy="1051560"/>
          </a:xfrm>
          <a:prstGeom prst="rect">
            <a:avLst/>
          </a:prstGeom>
          <a:noFill/>
          <a:ln/>
        </p:spPr>
        <p:txBody>
          <a:bodyPr wrap="square" lIns="0" tIns="0" rIns="0" bIns="0" rtlCol="0" anchor="ctr"/>
          <a:lstStyle/>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Lo que la casa recuerda</a:t>
            </a:r>
            <a:endParaRPr lang="en-US" sz="3400" dirty="0"/>
          </a:p>
          <a:p>
            <a:pPr indent="0" marL="0">
              <a:lnSpc>
                <a:spcPts val="3808"/>
              </a:lnSpc>
              <a:buNone/>
            </a:pPr>
            <a:r>
              <a:rPr lang="en-US" sz="3400" b="1" dirty="0">
                <a:solidFill>
                  <a:srgbClr val="F6F3EC"/>
                </a:solidFill>
                <a:latin typeface="Century Schoolbook" pitchFamily="34" charset="0"/>
                <a:ea typeface="Century Schoolbook" pitchFamily="34" charset="-122"/>
                <a:cs typeface="Century Schoolbook" pitchFamily="34" charset="-120"/>
              </a:rPr>
              <a:t>del socio</a:t>
            </a:r>
            <a:endParaRPr lang="en-US" sz="3400" dirty="0"/>
          </a:p>
        </p:txBody>
      </p:sp>
      <p:sp>
        <p:nvSpPr>
          <p:cNvPr id="4" name="Text 2"/>
          <p:cNvSpPr/>
          <p:nvPr/>
        </p:nvSpPr>
        <p:spPr>
          <a:xfrm>
            <a:off x="713232" y="2514600"/>
            <a:ext cx="576072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Su bebida de siempre, sus alergias y su cumpleaños. Es la ficha que hace que el barista lo salude por su nombre y no le sirva lo que le hace daño.</a:t>
            </a:r>
            <a:endParaRPr lang="en-US" sz="1450" dirty="0"/>
          </a:p>
        </p:txBody>
      </p:sp>
      <p:sp>
        <p:nvSpPr>
          <p:cNvPr id="5" name="Shape 3"/>
          <p:cNvSpPr/>
          <p:nvPr/>
        </p:nvSpPr>
        <p:spPr>
          <a:xfrm>
            <a:off x="777240" y="3694176"/>
            <a:ext cx="118872" cy="118872"/>
          </a:xfrm>
          <a:prstGeom prst="ellipse">
            <a:avLst/>
          </a:prstGeom>
          <a:solidFill>
            <a:srgbClr val="C08A2D"/>
          </a:solidFill>
          <a:ln/>
        </p:spPr>
      </p:sp>
      <p:sp>
        <p:nvSpPr>
          <p:cNvPr id="6" name="Text 4"/>
          <p:cNvSpPr/>
          <p:nvPr/>
        </p:nvSpPr>
        <p:spPr>
          <a:xfrm>
            <a:off x="1069848" y="3611880"/>
            <a:ext cx="528523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La bebida de siempre</a:t>
            </a:r>
            <a:endParaRPr lang="en-US" sz="1400" dirty="0"/>
          </a:p>
        </p:txBody>
      </p:sp>
      <p:sp>
        <p:nvSpPr>
          <p:cNvPr id="7" name="Text 5"/>
          <p:cNvSpPr/>
          <p:nvPr/>
        </p:nvSpPr>
        <p:spPr>
          <a:xfrm>
            <a:off x="1069848" y="3886200"/>
            <a:ext cx="528523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«Cappuccino con leche de almendra»: lo sabe la casa, no hay que repetirlo.</a:t>
            </a:r>
            <a:endParaRPr lang="en-US" sz="1250" dirty="0"/>
          </a:p>
        </p:txBody>
      </p:sp>
      <p:sp>
        <p:nvSpPr>
          <p:cNvPr id="8" name="Shape 6"/>
          <p:cNvSpPr/>
          <p:nvPr/>
        </p:nvSpPr>
        <p:spPr>
          <a:xfrm>
            <a:off x="777240" y="4407408"/>
            <a:ext cx="118872" cy="118872"/>
          </a:xfrm>
          <a:prstGeom prst="ellipse">
            <a:avLst/>
          </a:prstGeom>
          <a:solidFill>
            <a:srgbClr val="C08A2D"/>
          </a:solidFill>
          <a:ln/>
        </p:spPr>
      </p:sp>
      <p:sp>
        <p:nvSpPr>
          <p:cNvPr id="9" name="Text 7"/>
          <p:cNvSpPr/>
          <p:nvPr/>
        </p:nvSpPr>
        <p:spPr>
          <a:xfrm>
            <a:off x="1069848" y="4325112"/>
            <a:ext cx="528523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Alergias, en alerta</a:t>
            </a:r>
            <a:endParaRPr lang="en-US" sz="1400" dirty="0"/>
          </a:p>
        </p:txBody>
      </p:sp>
      <p:sp>
        <p:nvSpPr>
          <p:cNvPr id="10" name="Text 8"/>
          <p:cNvSpPr/>
          <p:nvPr/>
        </p:nvSpPr>
        <p:spPr>
          <a:xfrm>
            <a:off x="1069848" y="4599432"/>
            <a:ext cx="528523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Información clínica, marcada para que se lea rápido.</a:t>
            </a:r>
            <a:endParaRPr lang="en-US" sz="1250" dirty="0"/>
          </a:p>
        </p:txBody>
      </p:sp>
      <p:sp>
        <p:nvSpPr>
          <p:cNvPr id="11" name="Shape 9"/>
          <p:cNvSpPr/>
          <p:nvPr/>
        </p:nvSpPr>
        <p:spPr>
          <a:xfrm>
            <a:off x="777240" y="5120640"/>
            <a:ext cx="118872" cy="118872"/>
          </a:xfrm>
          <a:prstGeom prst="ellipse">
            <a:avLst/>
          </a:prstGeom>
          <a:solidFill>
            <a:srgbClr val="C08A2D"/>
          </a:solidFill>
          <a:ln/>
        </p:spPr>
      </p:sp>
      <p:sp>
        <p:nvSpPr>
          <p:cNvPr id="12" name="Text 10"/>
          <p:cNvSpPr/>
          <p:nvPr/>
        </p:nvSpPr>
        <p:spPr>
          <a:xfrm>
            <a:off x="1069848" y="5038344"/>
            <a:ext cx="528523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El cumpleaños</a:t>
            </a:r>
            <a:endParaRPr lang="en-US" sz="1400" dirty="0"/>
          </a:p>
        </p:txBody>
      </p:sp>
      <p:sp>
        <p:nvSpPr>
          <p:cNvPr id="13" name="Text 11"/>
          <p:cNvSpPr/>
          <p:nvPr/>
        </p:nvSpPr>
        <p:spPr>
          <a:xfrm>
            <a:off x="1069848" y="5312664"/>
            <a:ext cx="528523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Con el regalo activado desde una semana antes.</a:t>
            </a:r>
            <a:endParaRPr lang="en-US" sz="1250" dirty="0"/>
          </a:p>
        </p:txBody>
      </p:sp>
      <p:sp>
        <p:nvSpPr>
          <p:cNvPr id="14" name="Shape 12"/>
          <p:cNvSpPr/>
          <p:nvPr/>
        </p:nvSpPr>
        <p:spPr>
          <a:xfrm>
            <a:off x="777240" y="5833872"/>
            <a:ext cx="118872" cy="118872"/>
          </a:xfrm>
          <a:prstGeom prst="ellipse">
            <a:avLst/>
          </a:prstGeom>
          <a:solidFill>
            <a:srgbClr val="C08A2D"/>
          </a:solidFill>
          <a:ln/>
        </p:spPr>
      </p:sp>
      <p:sp>
        <p:nvSpPr>
          <p:cNvPr id="15" name="Text 13"/>
          <p:cNvSpPr/>
          <p:nvPr/>
        </p:nvSpPr>
        <p:spPr>
          <a:xfrm>
            <a:off x="1069848" y="5751576"/>
            <a:ext cx="5285232" cy="274320"/>
          </a:xfrm>
          <a:prstGeom prst="rect">
            <a:avLst/>
          </a:prstGeom>
          <a:noFill/>
          <a:ln/>
        </p:spPr>
        <p:txBody>
          <a:bodyPr wrap="square" lIns="0" tIns="0" rIns="0" bIns="0" rtlCol="0" anchor="ctr"/>
          <a:lstStyle/>
          <a:p>
            <a:pPr indent="0" marL="0">
              <a:buNone/>
            </a:pPr>
            <a:r>
              <a:rPr lang="en-US" sz="1400" b="1" dirty="0">
                <a:solidFill>
                  <a:srgbClr val="F6F3EC"/>
                </a:solidFill>
                <a:latin typeface="Calibri" pitchFamily="34" charset="0"/>
                <a:ea typeface="Calibri" pitchFamily="34" charset="-122"/>
                <a:cs typeface="Calibri" pitchFamily="34" charset="-120"/>
              </a:rPr>
              <a:t>Sus movimientos</a:t>
            </a:r>
            <a:endParaRPr lang="en-US" sz="1400" dirty="0"/>
          </a:p>
        </p:txBody>
      </p:sp>
      <p:sp>
        <p:nvSpPr>
          <p:cNvPr id="16" name="Text 14"/>
          <p:cNvSpPr/>
          <p:nvPr/>
        </p:nvSpPr>
        <p:spPr>
          <a:xfrm>
            <a:off x="1069848" y="6025896"/>
            <a:ext cx="5285232" cy="566928"/>
          </a:xfrm>
          <a:prstGeom prst="rect">
            <a:avLst/>
          </a:prstGeom>
          <a:noFill/>
          <a:ln/>
        </p:spPr>
        <p:txBody>
          <a:bodyPr wrap="square" lIns="0" tIns="0" rIns="0" bIns="0" rtlCol="0" anchor="ctr"/>
          <a:lstStyle/>
          <a:p>
            <a:pPr indent="0" marL="0">
              <a:lnSpc>
                <a:spcPts val="1800"/>
              </a:lnSpc>
              <a:buNone/>
            </a:pPr>
            <a:r>
              <a:rPr lang="en-US" sz="1250" dirty="0">
                <a:solidFill>
                  <a:srgbClr val="C4BCAC"/>
                </a:solidFill>
                <a:latin typeface="Calibri" pitchFamily="34" charset="0"/>
                <a:ea typeface="Calibri" pitchFamily="34" charset="-122"/>
                <a:cs typeface="Calibri" pitchFamily="34" charset="-120"/>
              </a:rPr>
              <a:t>Cada recarga y cada consumo, con fecha y concepto.</a:t>
            </a:r>
            <a:endParaRPr lang="en-US" sz="1250" dirty="0"/>
          </a:p>
        </p:txBody>
      </p:sp>
      <p:pic>
        <p:nvPicPr>
          <p:cNvPr id="17" name="Image 0" descr="./img/12-perfil.png">    </p:cNvPr>
          <p:cNvPicPr>
            <a:picLocks noChangeAspect="1"/>
          </p:cNvPicPr>
          <p:nvPr/>
        </p:nvPicPr>
        <p:blipFill>
          <a:blip r:embed="rId1"/>
          <a:srcRect l="0" r="0" t="0" b="0"/>
          <a:stretch/>
        </p:blipFill>
        <p:spPr>
          <a:xfrm>
            <a:off x="6720840" y="777240"/>
            <a:ext cx="2468045" cy="5349240"/>
          </a:xfrm>
          <a:prstGeom prst="rect">
            <a:avLst/>
          </a:prstGeom>
          <a:effectLst>
            <a:outerShdw sx="100000" sy="100000" kx="0" ky="0" algn="bl" rotWithShape="0" blurRad="228600" dist="76200" dir="5400000">
              <a:srgbClr val="000000">
                <a:alpha val="55000"/>
              </a:srgbClr>
            </a:outerShdw>
          </a:effectLst>
        </p:spPr>
      </p:pic>
      <p:pic>
        <p:nvPicPr>
          <p:cNvPr id="18" name="Image 1" descr="./img/13-perfil-cuenta.png">    </p:cNvPr>
          <p:cNvPicPr>
            <a:picLocks noChangeAspect="1"/>
          </p:cNvPicPr>
          <p:nvPr/>
        </p:nvPicPr>
        <p:blipFill>
          <a:blip r:embed="rId2"/>
          <a:srcRect l="0" r="0" t="0" b="0"/>
          <a:stretch/>
        </p:blipFill>
        <p:spPr>
          <a:xfrm>
            <a:off x="9464040" y="777240"/>
            <a:ext cx="2468045" cy="5349240"/>
          </a:xfrm>
          <a:prstGeom prst="rect">
            <a:avLst/>
          </a:prstGeom>
          <a:effectLst>
            <a:outerShdw sx="100000" sy="100000" kx="0" ky="0" algn="bl" rotWithShape="0" blurRad="228600" dist="76200" dir="5400000">
              <a:srgbClr val="000000">
                <a:alpha val="55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1E17"/>
        </a:solidFill>
      </p:bgPr>
    </p:bg>
    <p:spTree>
      <p:nvGrpSpPr>
        <p:cNvPr id="1" name=""/>
        <p:cNvGrpSpPr/>
        <p:nvPr/>
      </p:nvGrpSpPr>
      <p:grpSpPr>
        <a:xfrm>
          <a:off x="0" y="0"/>
          <a:ext cx="0" cy="0"/>
          <a:chOff x="0" y="0"/>
          <a:chExt cx="0" cy="0"/>
        </a:xfrm>
      </p:grpSpPr>
      <p:pic>
        <p:nvPicPr>
          <p:cNvPr id="2" name="Image 0" descr="./img/latte.jpg">    </p:cNvPr>
          <p:cNvPicPr>
            <a:picLocks noChangeAspect="1"/>
          </p:cNvPicPr>
          <p:nvPr/>
        </p:nvPicPr>
        <p:blipFill>
          <a:blip r:embed="rId1"/>
          <a:srcRect l="0" r="0" t="0" b="0"/>
          <a:stretch/>
        </p:blipFill>
        <p:spPr>
          <a:xfrm>
            <a:off x="0" y="0"/>
            <a:ext cx="4754880" cy="6858000"/>
          </a:xfrm>
          <a:prstGeom prst="rect">
            <a:avLst/>
          </a:prstGeom>
        </p:spPr>
      </p:pic>
      <p:sp>
        <p:nvSpPr>
          <p:cNvPr id="3" name="Shape 0"/>
          <p:cNvSpPr/>
          <p:nvPr/>
        </p:nvSpPr>
        <p:spPr>
          <a:xfrm>
            <a:off x="0" y="0"/>
            <a:ext cx="4754880" cy="6858000"/>
          </a:xfrm>
          <a:prstGeom prst="rect">
            <a:avLst/>
          </a:prstGeom>
          <a:solidFill>
            <a:srgbClr val="221E17">
              <a:alpha val="65000"/>
            </a:srgbClr>
          </a:solidFill>
          <a:ln/>
        </p:spPr>
      </p:sp>
      <p:sp>
        <p:nvSpPr>
          <p:cNvPr id="4" name="Text 1"/>
          <p:cNvSpPr/>
          <p:nvPr/>
        </p:nvSpPr>
        <p:spPr>
          <a:xfrm>
            <a:off x="5349240" y="777240"/>
            <a:ext cx="621792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EL NEGOCIO</a:t>
            </a:r>
            <a:endParaRPr lang="en-US" sz="1100" dirty="0"/>
          </a:p>
        </p:txBody>
      </p:sp>
      <p:sp>
        <p:nvSpPr>
          <p:cNvPr id="5" name="Text 2"/>
          <p:cNvSpPr/>
          <p:nvPr/>
        </p:nvSpPr>
        <p:spPr>
          <a:xfrm>
            <a:off x="5349240" y="1088136"/>
            <a:ext cx="6217920" cy="1051560"/>
          </a:xfrm>
          <a:prstGeom prst="rect">
            <a:avLst/>
          </a:prstGeom>
          <a:noFill/>
          <a:ln/>
        </p:spPr>
        <p:txBody>
          <a:bodyPr wrap="square" lIns="0" tIns="0" rIns="0" bIns="0" rtlCol="0" anchor="ctr"/>
          <a:lstStyle/>
          <a:p>
            <a:pPr indent="0" marL="0">
              <a:lnSpc>
                <a:spcPts val="4032"/>
              </a:lnSpc>
              <a:buNone/>
            </a:pPr>
            <a:r>
              <a:rPr lang="en-US" sz="3600" b="1" dirty="0">
                <a:solidFill>
                  <a:srgbClr val="F6F3EC"/>
                </a:solidFill>
                <a:latin typeface="Century Schoolbook" pitchFamily="34" charset="0"/>
                <a:ea typeface="Century Schoolbook" pitchFamily="34" charset="-122"/>
                <a:cs typeface="Century Schoolbook" pitchFamily="34" charset="-120"/>
              </a:rPr>
              <a:t>Por qué la Cuenta de Casa</a:t>
            </a:r>
            <a:endParaRPr lang="en-US" sz="3600" dirty="0"/>
          </a:p>
        </p:txBody>
      </p:sp>
      <p:sp>
        <p:nvSpPr>
          <p:cNvPr id="6" name="Text 3"/>
          <p:cNvSpPr/>
          <p:nvPr/>
        </p:nvSpPr>
        <p:spPr>
          <a:xfrm>
            <a:off x="5376672" y="2670048"/>
            <a:ext cx="612648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Todo lo que se compra en la app —el pedido, la bolsa numerada, la butaca, la membresía— se descuenta de un saldo que el socio dejó antes en la caja. Esa es la palanca: el dinero entra primero y la visita viene después.</a:t>
            </a:r>
            <a:endParaRPr lang="en-US" sz="1450" dirty="0"/>
          </a:p>
        </p:txBody>
      </p:sp>
      <p:sp>
        <p:nvSpPr>
          <p:cNvPr id="7" name="Shape 4"/>
          <p:cNvSpPr/>
          <p:nvPr/>
        </p:nvSpPr>
        <p:spPr>
          <a:xfrm>
            <a:off x="5349240" y="3794760"/>
            <a:ext cx="6172200" cy="868680"/>
          </a:xfrm>
          <a:prstGeom prst="roundRect">
            <a:avLst>
              <a:gd name="adj" fmla="val 12632"/>
            </a:avLst>
          </a:prstGeom>
          <a:solidFill>
            <a:srgbClr val="2E2820"/>
          </a:solidFill>
          <a:ln w="12700">
            <a:solidFill>
              <a:srgbClr val="2E2820"/>
            </a:solidFill>
            <a:prstDash val="solid"/>
          </a:ln>
        </p:spPr>
      </p:sp>
      <p:sp>
        <p:nvSpPr>
          <p:cNvPr id="8" name="Text 5"/>
          <p:cNvSpPr/>
          <p:nvPr/>
        </p:nvSpPr>
        <p:spPr>
          <a:xfrm>
            <a:off x="5623560" y="3913632"/>
            <a:ext cx="5669280" cy="256032"/>
          </a:xfrm>
          <a:prstGeom prst="rect">
            <a:avLst/>
          </a:prstGeom>
          <a:noFill/>
          <a:ln/>
        </p:spPr>
        <p:txBody>
          <a:bodyPr wrap="square" lIns="0" tIns="0" rIns="0" bIns="0" rtlCol="0" anchor="ctr"/>
          <a:lstStyle/>
          <a:p>
            <a:pPr indent="0" marL="0">
              <a:buNone/>
            </a:pPr>
            <a:r>
              <a:rPr lang="en-US" sz="1350" b="1" dirty="0">
                <a:solidFill>
                  <a:srgbClr val="E8B45C"/>
                </a:solidFill>
                <a:latin typeface="Calibri" pitchFamily="34" charset="0"/>
                <a:ea typeface="Calibri" pitchFamily="34" charset="-122"/>
                <a:cs typeface="Calibri" pitchFamily="34" charset="-120"/>
              </a:rPr>
              <a:t>Flujo por adelantado</a:t>
            </a:r>
            <a:endParaRPr lang="en-US" sz="1350" dirty="0"/>
          </a:p>
        </p:txBody>
      </p:sp>
      <p:sp>
        <p:nvSpPr>
          <p:cNvPr id="9" name="Text 6"/>
          <p:cNvSpPr/>
          <p:nvPr/>
        </p:nvSpPr>
        <p:spPr>
          <a:xfrm>
            <a:off x="5623560" y="4178808"/>
            <a:ext cx="5669280" cy="384048"/>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El socio recarga en caja y esa plata ya está en el negocio antes de la primera taza.</a:t>
            </a:r>
            <a:endParaRPr lang="en-US" sz="1150" dirty="0"/>
          </a:p>
        </p:txBody>
      </p:sp>
      <p:sp>
        <p:nvSpPr>
          <p:cNvPr id="10" name="Shape 7"/>
          <p:cNvSpPr/>
          <p:nvPr/>
        </p:nvSpPr>
        <p:spPr>
          <a:xfrm>
            <a:off x="5349240" y="4800600"/>
            <a:ext cx="6172200" cy="868680"/>
          </a:xfrm>
          <a:prstGeom prst="roundRect">
            <a:avLst>
              <a:gd name="adj" fmla="val 12632"/>
            </a:avLst>
          </a:prstGeom>
          <a:solidFill>
            <a:srgbClr val="2E2820"/>
          </a:solidFill>
          <a:ln w="12700">
            <a:solidFill>
              <a:srgbClr val="2E2820"/>
            </a:solidFill>
            <a:prstDash val="solid"/>
          </a:ln>
        </p:spPr>
      </p:sp>
      <p:sp>
        <p:nvSpPr>
          <p:cNvPr id="11" name="Text 8"/>
          <p:cNvSpPr/>
          <p:nvPr/>
        </p:nvSpPr>
        <p:spPr>
          <a:xfrm>
            <a:off x="5623560" y="4919472"/>
            <a:ext cx="5669280" cy="256032"/>
          </a:xfrm>
          <a:prstGeom prst="rect">
            <a:avLst/>
          </a:prstGeom>
          <a:noFill/>
          <a:ln/>
        </p:spPr>
        <p:txBody>
          <a:bodyPr wrap="square" lIns="0" tIns="0" rIns="0" bIns="0" rtlCol="0" anchor="ctr"/>
          <a:lstStyle/>
          <a:p>
            <a:pPr indent="0" marL="0">
              <a:buNone/>
            </a:pPr>
            <a:r>
              <a:rPr lang="en-US" sz="1350" b="1" dirty="0">
                <a:solidFill>
                  <a:srgbClr val="E8B45C"/>
                </a:solidFill>
                <a:latin typeface="Calibri" pitchFamily="34" charset="0"/>
                <a:ea typeface="Calibri" pitchFamily="34" charset="-122"/>
                <a:cs typeface="Calibri" pitchFamily="34" charset="-120"/>
              </a:rPr>
              <a:t>Motivo para volver</a:t>
            </a:r>
            <a:endParaRPr lang="en-US" sz="1350" dirty="0"/>
          </a:p>
        </p:txBody>
      </p:sp>
      <p:sp>
        <p:nvSpPr>
          <p:cNvPr id="12" name="Text 9"/>
          <p:cNvSpPr/>
          <p:nvPr/>
        </p:nvSpPr>
        <p:spPr>
          <a:xfrm>
            <a:off x="5623560" y="5184648"/>
            <a:ext cx="5669280" cy="384048"/>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Con saldo dentro, la próxima taza ya está pagada: volver cuesta menos que decidir.</a:t>
            </a:r>
            <a:endParaRPr lang="en-US" sz="1150" dirty="0"/>
          </a:p>
        </p:txBody>
      </p:sp>
      <p:sp>
        <p:nvSpPr>
          <p:cNvPr id="13" name="Shape 10"/>
          <p:cNvSpPr/>
          <p:nvPr/>
        </p:nvSpPr>
        <p:spPr>
          <a:xfrm>
            <a:off x="5349240" y="5806440"/>
            <a:ext cx="6172200" cy="868680"/>
          </a:xfrm>
          <a:prstGeom prst="roundRect">
            <a:avLst>
              <a:gd name="adj" fmla="val 12632"/>
            </a:avLst>
          </a:prstGeom>
          <a:solidFill>
            <a:srgbClr val="2E2820"/>
          </a:solidFill>
          <a:ln w="12700">
            <a:solidFill>
              <a:srgbClr val="2E2820"/>
            </a:solidFill>
            <a:prstDash val="solid"/>
          </a:ln>
        </p:spPr>
      </p:sp>
      <p:sp>
        <p:nvSpPr>
          <p:cNvPr id="14" name="Text 11"/>
          <p:cNvSpPr/>
          <p:nvPr/>
        </p:nvSpPr>
        <p:spPr>
          <a:xfrm>
            <a:off x="5623560" y="5925312"/>
            <a:ext cx="5669280" cy="256032"/>
          </a:xfrm>
          <a:prstGeom prst="rect">
            <a:avLst/>
          </a:prstGeom>
          <a:noFill/>
          <a:ln/>
        </p:spPr>
        <p:txBody>
          <a:bodyPr wrap="square" lIns="0" tIns="0" rIns="0" bIns="0" rtlCol="0" anchor="ctr"/>
          <a:lstStyle/>
          <a:p>
            <a:pPr indent="0" marL="0">
              <a:buNone/>
            </a:pPr>
            <a:r>
              <a:rPr lang="en-US" sz="1350" b="1" dirty="0">
                <a:solidFill>
                  <a:srgbClr val="E8B45C"/>
                </a:solidFill>
                <a:latin typeface="Calibri" pitchFamily="34" charset="0"/>
                <a:ea typeface="Calibri" pitchFamily="34" charset="-122"/>
                <a:cs typeface="Calibri" pitchFamily="34" charset="-120"/>
              </a:rPr>
              <a:t>Un libro que cuadra</a:t>
            </a:r>
            <a:endParaRPr lang="en-US" sz="1350" dirty="0"/>
          </a:p>
        </p:txBody>
      </p:sp>
      <p:sp>
        <p:nvSpPr>
          <p:cNvPr id="15" name="Text 12"/>
          <p:cNvSpPr/>
          <p:nvPr/>
        </p:nvSpPr>
        <p:spPr>
          <a:xfrm>
            <a:off x="5623560" y="6190488"/>
            <a:ext cx="5669280" cy="384048"/>
          </a:xfrm>
          <a:prstGeom prst="rect">
            <a:avLst/>
          </a:prstGeom>
          <a:noFill/>
          <a:ln/>
        </p:spPr>
        <p:txBody>
          <a:bodyPr wrap="square" lIns="0" tIns="0" rIns="0" bIns="0" rtlCol="0" anchor="ctr"/>
          <a:lstStyle/>
          <a:p>
            <a:pPr indent="0" marL="0">
              <a:lnSpc>
                <a:spcPts val="1500"/>
              </a:lnSpc>
              <a:buNone/>
            </a:pPr>
            <a:r>
              <a:rPr lang="en-US" sz="1150" dirty="0">
                <a:solidFill>
                  <a:srgbClr val="C4BCAC"/>
                </a:solidFill>
                <a:latin typeface="Calibri" pitchFamily="34" charset="0"/>
                <a:ea typeface="Calibri" pitchFamily="34" charset="-122"/>
                <a:cs typeface="Calibri" pitchFamily="34" charset="-120"/>
              </a:rPr>
              <a:t>Cada recarga y cada consumo quedan escritos y no se pueden borrar. La caja siempre cuadra.</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21E17"/>
        </a:solidFill>
      </p:bgPr>
    </p:bg>
    <p:spTree>
      <p:nvGrpSpPr>
        <p:cNvPr id="1" name=""/>
        <p:cNvGrpSpPr/>
        <p:nvPr/>
      </p:nvGrpSpPr>
      <p:grpSpPr>
        <a:xfrm>
          <a:off x="0" y="0"/>
          <a:ext cx="0" cy="0"/>
          <a:chOff x="0" y="0"/>
          <a:chExt cx="0" cy="0"/>
        </a:xfrm>
      </p:grpSpPr>
      <p:sp>
        <p:nvSpPr>
          <p:cNvPr id="2" name="Text 0"/>
          <p:cNvSpPr/>
          <p:nvPr/>
        </p:nvSpPr>
        <p:spPr>
          <a:xfrm>
            <a:off x="685800" y="658368"/>
            <a:ext cx="8686800" cy="256032"/>
          </a:xfrm>
          <a:prstGeom prst="rect">
            <a:avLst/>
          </a:prstGeom>
          <a:noFill/>
          <a:ln/>
        </p:spPr>
        <p:txBody>
          <a:bodyPr wrap="square" lIns="0" tIns="0" rIns="0" bIns="0" rtlCol="0" anchor="ctr"/>
          <a:lstStyle/>
          <a:p>
            <a:pPr indent="0" marL="0">
              <a:buNone/>
            </a:pPr>
            <a:r>
              <a:rPr lang="en-US" sz="1100" b="1" spc="220" kern="0" dirty="0">
                <a:solidFill>
                  <a:srgbClr val="E8B45C"/>
                </a:solidFill>
                <a:latin typeface="Calibri" pitchFamily="34" charset="0"/>
                <a:ea typeface="Calibri" pitchFamily="34" charset="-122"/>
                <a:cs typeface="Calibri" pitchFamily="34" charset="-120"/>
              </a:rPr>
              <a:t>ESTADO</a:t>
            </a:r>
            <a:endParaRPr lang="en-US" sz="1100" dirty="0"/>
          </a:p>
        </p:txBody>
      </p:sp>
      <p:sp>
        <p:nvSpPr>
          <p:cNvPr id="3" name="Text 1"/>
          <p:cNvSpPr/>
          <p:nvPr/>
        </p:nvSpPr>
        <p:spPr>
          <a:xfrm>
            <a:off x="685800" y="969264"/>
            <a:ext cx="8686800" cy="1051560"/>
          </a:xfrm>
          <a:prstGeom prst="rect">
            <a:avLst/>
          </a:prstGeom>
          <a:noFill/>
          <a:ln/>
        </p:spPr>
        <p:txBody>
          <a:bodyPr wrap="square" lIns="0" tIns="0" rIns="0" bIns="0" rtlCol="0" anchor="ctr"/>
          <a:lstStyle/>
          <a:p>
            <a:pPr indent="0" marL="0">
              <a:lnSpc>
                <a:spcPts val="4032"/>
              </a:lnSpc>
              <a:buNone/>
            </a:pPr>
            <a:r>
              <a:rPr lang="en-US" sz="3600" b="1" dirty="0">
                <a:solidFill>
                  <a:srgbClr val="F6F3EC"/>
                </a:solidFill>
                <a:latin typeface="Century Schoolbook" pitchFamily="34" charset="0"/>
                <a:ea typeface="Century Schoolbook" pitchFamily="34" charset="-122"/>
                <a:cs typeface="Century Schoolbook" pitchFamily="34" charset="-120"/>
              </a:rPr>
              <a:t>Qué funciona hoy y qué sigue</a:t>
            </a:r>
            <a:endParaRPr lang="en-US" sz="3600" dirty="0"/>
          </a:p>
        </p:txBody>
      </p:sp>
      <p:sp>
        <p:nvSpPr>
          <p:cNvPr id="4" name="Text 2"/>
          <p:cNvSpPr/>
          <p:nvPr/>
        </p:nvSpPr>
        <p:spPr>
          <a:xfrm>
            <a:off x="713232" y="1920240"/>
            <a:ext cx="10515600" cy="914400"/>
          </a:xfrm>
          <a:prstGeom prst="rect">
            <a:avLst/>
          </a:prstGeom>
          <a:noFill/>
          <a:ln/>
        </p:spPr>
        <p:txBody>
          <a:bodyPr wrap="square" lIns="0" tIns="0" rIns="0" bIns="0" rtlCol="0" anchor="t"/>
          <a:lstStyle/>
          <a:p>
            <a:pPr indent="0" marL="0">
              <a:lnSpc>
                <a:spcPts val="2175"/>
              </a:lnSpc>
              <a:buNone/>
            </a:pPr>
            <a:r>
              <a:rPr lang="en-US" sz="1450" dirty="0">
                <a:solidFill>
                  <a:srgbClr val="C4BCAC"/>
                </a:solidFill>
                <a:latin typeface="Calibri" pitchFamily="34" charset="0"/>
                <a:ea typeface="Calibri" pitchFamily="34" charset="-122"/>
                <a:cs typeface="Calibri" pitchFamily="34" charset="-120"/>
              </a:rPr>
              <a:t>La app está publicada y todo lo que se ve en estas láminas es real: sale de la base de datos de la casa, no de un archivo de ejemplo.</a:t>
            </a:r>
            <a:endParaRPr lang="en-US" sz="1450" dirty="0"/>
          </a:p>
        </p:txBody>
      </p:sp>
      <p:sp>
        <p:nvSpPr>
          <p:cNvPr id="5" name="Shape 3"/>
          <p:cNvSpPr/>
          <p:nvPr/>
        </p:nvSpPr>
        <p:spPr>
          <a:xfrm>
            <a:off x="685800" y="2788920"/>
            <a:ext cx="5440680" cy="3246120"/>
          </a:xfrm>
          <a:prstGeom prst="roundRect">
            <a:avLst>
              <a:gd name="adj" fmla="val 3380"/>
            </a:avLst>
          </a:prstGeom>
          <a:solidFill>
            <a:srgbClr val="2E2820"/>
          </a:solidFill>
          <a:ln w="12700">
            <a:solidFill>
              <a:srgbClr val="2E2820"/>
            </a:solidFill>
            <a:prstDash val="solid"/>
          </a:ln>
        </p:spPr>
      </p:sp>
      <p:sp>
        <p:nvSpPr>
          <p:cNvPr id="6" name="Text 4"/>
          <p:cNvSpPr/>
          <p:nvPr/>
        </p:nvSpPr>
        <p:spPr>
          <a:xfrm>
            <a:off x="1005840" y="3063240"/>
            <a:ext cx="4754880" cy="274320"/>
          </a:xfrm>
          <a:prstGeom prst="rect">
            <a:avLst/>
          </a:prstGeom>
          <a:noFill/>
          <a:ln/>
        </p:spPr>
        <p:txBody>
          <a:bodyPr wrap="square" lIns="0" tIns="0" rIns="0" bIns="0" rtlCol="0" anchor="ctr"/>
          <a:lstStyle/>
          <a:p>
            <a:pPr indent="0" marL="0">
              <a:buNone/>
            </a:pPr>
            <a:r>
              <a:rPr lang="en-US" sz="1150" b="1" spc="220" kern="0" dirty="0">
                <a:solidFill>
                  <a:srgbClr val="5A9B75"/>
                </a:solidFill>
                <a:latin typeface="Calibri" pitchFamily="34" charset="0"/>
                <a:ea typeface="Calibri" pitchFamily="34" charset="-122"/>
                <a:cs typeface="Calibri" pitchFamily="34" charset="-120"/>
              </a:rPr>
              <a:t>FUNCIONA HOY</a:t>
            </a:r>
            <a:endParaRPr lang="en-US" sz="1150" dirty="0"/>
          </a:p>
        </p:txBody>
      </p:sp>
      <p:sp>
        <p:nvSpPr>
          <p:cNvPr id="7" name="Shape 5"/>
          <p:cNvSpPr/>
          <p:nvPr/>
        </p:nvSpPr>
        <p:spPr>
          <a:xfrm>
            <a:off x="1024128" y="3584448"/>
            <a:ext cx="100584" cy="100584"/>
          </a:xfrm>
          <a:prstGeom prst="ellipse">
            <a:avLst/>
          </a:prstGeom>
          <a:solidFill>
            <a:srgbClr val="5A9B75"/>
          </a:solidFill>
          <a:ln/>
        </p:spPr>
      </p:sp>
      <p:sp>
        <p:nvSpPr>
          <p:cNvPr id="8" name="Text 6"/>
          <p:cNvSpPr/>
          <p:nvPr/>
        </p:nvSpPr>
        <p:spPr>
          <a:xfrm>
            <a:off x="1298448" y="3502152"/>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Entrar y ver el carnet, el saldo y la tanda</a:t>
            </a:r>
            <a:endParaRPr lang="en-US" sz="1250" dirty="0"/>
          </a:p>
        </p:txBody>
      </p:sp>
      <p:sp>
        <p:nvSpPr>
          <p:cNvPr id="9" name="Shape 7"/>
          <p:cNvSpPr/>
          <p:nvPr/>
        </p:nvSpPr>
        <p:spPr>
          <a:xfrm>
            <a:off x="1024128" y="3931920"/>
            <a:ext cx="100584" cy="100584"/>
          </a:xfrm>
          <a:prstGeom prst="ellipse">
            <a:avLst/>
          </a:prstGeom>
          <a:solidFill>
            <a:srgbClr val="5A9B75"/>
          </a:solidFill>
          <a:ln/>
        </p:spPr>
      </p:sp>
      <p:sp>
        <p:nvSpPr>
          <p:cNvPr id="10" name="Text 8"/>
          <p:cNvSpPr/>
          <p:nvPr/>
        </p:nvSpPr>
        <p:spPr>
          <a:xfrm>
            <a:off x="1298448" y="3849624"/>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La carta completa, buscar y armar el pedido</a:t>
            </a:r>
            <a:endParaRPr lang="en-US" sz="1250" dirty="0"/>
          </a:p>
        </p:txBody>
      </p:sp>
      <p:sp>
        <p:nvSpPr>
          <p:cNvPr id="11" name="Shape 9"/>
          <p:cNvSpPr/>
          <p:nvPr/>
        </p:nvSpPr>
        <p:spPr>
          <a:xfrm>
            <a:off x="1024128" y="4279392"/>
            <a:ext cx="100584" cy="100584"/>
          </a:xfrm>
          <a:prstGeom prst="ellipse">
            <a:avLst/>
          </a:prstGeom>
          <a:solidFill>
            <a:srgbClr val="5A9B75"/>
          </a:solidFill>
          <a:ln/>
        </p:spPr>
      </p:sp>
      <p:sp>
        <p:nvSpPr>
          <p:cNvPr id="12" name="Text 10"/>
          <p:cNvSpPr/>
          <p:nvPr/>
        </p:nvSpPr>
        <p:spPr>
          <a:xfrm>
            <a:off x="1298448" y="4197096"/>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Pagar con la Cuenta de Casa</a:t>
            </a:r>
            <a:endParaRPr lang="en-US" sz="1250" dirty="0"/>
          </a:p>
        </p:txBody>
      </p:sp>
      <p:sp>
        <p:nvSpPr>
          <p:cNvPr id="13" name="Shape 11"/>
          <p:cNvSpPr/>
          <p:nvPr/>
        </p:nvSpPr>
        <p:spPr>
          <a:xfrm>
            <a:off x="1024128" y="4626864"/>
            <a:ext cx="100584" cy="100584"/>
          </a:xfrm>
          <a:prstGeom prst="ellipse">
            <a:avLst/>
          </a:prstGeom>
          <a:solidFill>
            <a:srgbClr val="5A9B75"/>
          </a:solidFill>
          <a:ln/>
        </p:spPr>
      </p:sp>
      <p:sp>
        <p:nvSpPr>
          <p:cNvPr id="14" name="Text 12"/>
          <p:cNvSpPr/>
          <p:nvPr/>
        </p:nvSpPr>
        <p:spPr>
          <a:xfrm>
            <a:off x="1298448" y="4544568"/>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Apartar la bolsa numerada de la finca</a:t>
            </a:r>
            <a:endParaRPr lang="en-US" sz="1250" dirty="0"/>
          </a:p>
        </p:txBody>
      </p:sp>
      <p:sp>
        <p:nvSpPr>
          <p:cNvPr id="15" name="Shape 13"/>
          <p:cNvSpPr/>
          <p:nvPr/>
        </p:nvSpPr>
        <p:spPr>
          <a:xfrm>
            <a:off x="1024128" y="4974336"/>
            <a:ext cx="100584" cy="100584"/>
          </a:xfrm>
          <a:prstGeom prst="ellipse">
            <a:avLst/>
          </a:prstGeom>
          <a:solidFill>
            <a:srgbClr val="5A9B75"/>
          </a:solidFill>
          <a:ln/>
        </p:spPr>
      </p:sp>
      <p:sp>
        <p:nvSpPr>
          <p:cNvPr id="16" name="Text 14"/>
          <p:cNvSpPr/>
          <p:nvPr/>
        </p:nvSpPr>
        <p:spPr>
          <a:xfrm>
            <a:off x="1298448" y="4892040"/>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Tomar plaza en la Mesa Fundadora y canjear beneficios</a:t>
            </a:r>
            <a:endParaRPr lang="en-US" sz="1250" dirty="0"/>
          </a:p>
        </p:txBody>
      </p:sp>
      <p:sp>
        <p:nvSpPr>
          <p:cNvPr id="17" name="Shape 15"/>
          <p:cNvSpPr/>
          <p:nvPr/>
        </p:nvSpPr>
        <p:spPr>
          <a:xfrm>
            <a:off x="1024128" y="5321808"/>
            <a:ext cx="100584" cy="100584"/>
          </a:xfrm>
          <a:prstGeom prst="ellipse">
            <a:avLst/>
          </a:prstGeom>
          <a:solidFill>
            <a:srgbClr val="5A9B75"/>
          </a:solidFill>
          <a:ln/>
        </p:spPr>
      </p:sp>
      <p:sp>
        <p:nvSpPr>
          <p:cNvPr id="18" name="Text 16"/>
          <p:cNvSpPr/>
          <p:nvPr/>
        </p:nvSpPr>
        <p:spPr>
          <a:xfrm>
            <a:off x="1298448" y="5239512"/>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Apartar butaca en las experiencias</a:t>
            </a:r>
            <a:endParaRPr lang="en-US" sz="1250" dirty="0"/>
          </a:p>
        </p:txBody>
      </p:sp>
      <p:sp>
        <p:nvSpPr>
          <p:cNvPr id="19" name="Shape 17"/>
          <p:cNvSpPr/>
          <p:nvPr/>
        </p:nvSpPr>
        <p:spPr>
          <a:xfrm>
            <a:off x="1024128" y="5669280"/>
            <a:ext cx="100584" cy="100584"/>
          </a:xfrm>
          <a:prstGeom prst="ellipse">
            <a:avLst/>
          </a:prstGeom>
          <a:solidFill>
            <a:srgbClr val="5A9B75"/>
          </a:solidFill>
          <a:ln/>
        </p:spPr>
      </p:sp>
      <p:sp>
        <p:nvSpPr>
          <p:cNvPr id="20" name="Text 18"/>
          <p:cNvSpPr/>
          <p:nvPr/>
        </p:nvSpPr>
        <p:spPr>
          <a:xfrm>
            <a:off x="1298448" y="5586984"/>
            <a:ext cx="457200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Reservar mesa con zona y hora</a:t>
            </a:r>
            <a:endParaRPr lang="en-US" sz="1250" dirty="0"/>
          </a:p>
        </p:txBody>
      </p:sp>
      <p:sp>
        <p:nvSpPr>
          <p:cNvPr id="21" name="Shape 19"/>
          <p:cNvSpPr/>
          <p:nvPr/>
        </p:nvSpPr>
        <p:spPr>
          <a:xfrm>
            <a:off x="6400800" y="2788920"/>
            <a:ext cx="5074920" cy="3246120"/>
          </a:xfrm>
          <a:prstGeom prst="roundRect">
            <a:avLst>
              <a:gd name="adj" fmla="val 3380"/>
            </a:avLst>
          </a:prstGeom>
          <a:solidFill>
            <a:srgbClr val="2E2820"/>
          </a:solidFill>
          <a:ln w="12700">
            <a:solidFill>
              <a:srgbClr val="2E2820"/>
            </a:solidFill>
            <a:prstDash val="solid"/>
          </a:ln>
        </p:spPr>
      </p:sp>
      <p:sp>
        <p:nvSpPr>
          <p:cNvPr id="22" name="Text 20"/>
          <p:cNvSpPr/>
          <p:nvPr/>
        </p:nvSpPr>
        <p:spPr>
          <a:xfrm>
            <a:off x="6720840" y="3063240"/>
            <a:ext cx="4572000" cy="274320"/>
          </a:xfrm>
          <a:prstGeom prst="rect">
            <a:avLst/>
          </a:prstGeom>
          <a:noFill/>
          <a:ln/>
        </p:spPr>
        <p:txBody>
          <a:bodyPr wrap="square" lIns="0" tIns="0" rIns="0" bIns="0" rtlCol="0" anchor="ctr"/>
          <a:lstStyle/>
          <a:p>
            <a:pPr indent="0" marL="0">
              <a:buNone/>
            </a:pPr>
            <a:r>
              <a:rPr lang="en-US" sz="1150" b="1" spc="220" kern="0" dirty="0">
                <a:solidFill>
                  <a:srgbClr val="E8B45C"/>
                </a:solidFill>
                <a:latin typeface="Calibri" pitchFamily="34" charset="0"/>
                <a:ea typeface="Calibri" pitchFamily="34" charset="-122"/>
                <a:cs typeface="Calibri" pitchFamily="34" charset="-120"/>
              </a:rPr>
              <a:t>LO SIGUIENTE</a:t>
            </a:r>
            <a:endParaRPr lang="en-US" sz="1150" dirty="0"/>
          </a:p>
        </p:txBody>
      </p:sp>
      <p:sp>
        <p:nvSpPr>
          <p:cNvPr id="23" name="Shape 21"/>
          <p:cNvSpPr/>
          <p:nvPr/>
        </p:nvSpPr>
        <p:spPr>
          <a:xfrm>
            <a:off x="6739128" y="3584448"/>
            <a:ext cx="100584" cy="100584"/>
          </a:xfrm>
          <a:prstGeom prst="ellipse">
            <a:avLst/>
          </a:prstGeom>
          <a:solidFill>
            <a:srgbClr val="C08A2D"/>
          </a:solidFill>
          <a:ln/>
        </p:spPr>
      </p:sp>
      <p:sp>
        <p:nvSpPr>
          <p:cNvPr id="24" name="Text 22"/>
          <p:cNvSpPr/>
          <p:nvPr/>
        </p:nvSpPr>
        <p:spPr>
          <a:xfrm>
            <a:off x="7013448" y="3502152"/>
            <a:ext cx="420624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El código por WhatsApp, para entrar sin la cuenta de muestra</a:t>
            </a:r>
            <a:endParaRPr lang="en-US" sz="1250" dirty="0"/>
          </a:p>
        </p:txBody>
      </p:sp>
      <p:sp>
        <p:nvSpPr>
          <p:cNvPr id="25" name="Shape 23"/>
          <p:cNvSpPr/>
          <p:nvPr/>
        </p:nvSpPr>
        <p:spPr>
          <a:xfrm>
            <a:off x="6739128" y="4059936"/>
            <a:ext cx="100584" cy="100584"/>
          </a:xfrm>
          <a:prstGeom prst="ellipse">
            <a:avLst/>
          </a:prstGeom>
          <a:solidFill>
            <a:srgbClr val="C08A2D"/>
          </a:solidFill>
          <a:ln/>
        </p:spPr>
      </p:sp>
      <p:sp>
        <p:nvSpPr>
          <p:cNvPr id="26" name="Text 24"/>
          <p:cNvSpPr/>
          <p:nvPr/>
        </p:nvSpPr>
        <p:spPr>
          <a:xfrm>
            <a:off x="7013448" y="3977640"/>
            <a:ext cx="420624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El pedido llegando solo a la pantalla del barista</a:t>
            </a:r>
            <a:endParaRPr lang="en-US" sz="1250" dirty="0"/>
          </a:p>
        </p:txBody>
      </p:sp>
      <p:sp>
        <p:nvSpPr>
          <p:cNvPr id="27" name="Shape 25"/>
          <p:cNvSpPr/>
          <p:nvPr/>
        </p:nvSpPr>
        <p:spPr>
          <a:xfrm>
            <a:off x="6739128" y="4535424"/>
            <a:ext cx="100584" cy="100584"/>
          </a:xfrm>
          <a:prstGeom prst="ellipse">
            <a:avLst/>
          </a:prstGeom>
          <a:solidFill>
            <a:srgbClr val="C08A2D"/>
          </a:solidFill>
          <a:ln/>
        </p:spPr>
      </p:sp>
      <p:sp>
        <p:nvSpPr>
          <p:cNvPr id="28" name="Text 26"/>
          <p:cNvSpPr/>
          <p:nvPr/>
        </p:nvSpPr>
        <p:spPr>
          <a:xfrm>
            <a:off x="7013448" y="4453128"/>
            <a:ext cx="420624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Puntos y niveles, para premiar más que la tanda</a:t>
            </a:r>
            <a:endParaRPr lang="en-US" sz="1250" dirty="0"/>
          </a:p>
        </p:txBody>
      </p:sp>
      <p:sp>
        <p:nvSpPr>
          <p:cNvPr id="29" name="Shape 27"/>
          <p:cNvSpPr/>
          <p:nvPr/>
        </p:nvSpPr>
        <p:spPr>
          <a:xfrm>
            <a:off x="6739128" y="5010912"/>
            <a:ext cx="100584" cy="100584"/>
          </a:xfrm>
          <a:prstGeom prst="ellipse">
            <a:avLst/>
          </a:prstGeom>
          <a:solidFill>
            <a:srgbClr val="C08A2D"/>
          </a:solidFill>
          <a:ln/>
        </p:spPr>
      </p:sp>
      <p:sp>
        <p:nvSpPr>
          <p:cNvPr id="30" name="Text 28"/>
          <p:cNvSpPr/>
          <p:nvPr/>
        </p:nvSpPr>
        <p:spPr>
          <a:xfrm>
            <a:off x="7013448" y="4928616"/>
            <a:ext cx="420624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Referidos: traer a alguien y que los dos ganen</a:t>
            </a:r>
            <a:endParaRPr lang="en-US" sz="1250" dirty="0"/>
          </a:p>
        </p:txBody>
      </p:sp>
      <p:sp>
        <p:nvSpPr>
          <p:cNvPr id="31" name="Shape 29"/>
          <p:cNvSpPr/>
          <p:nvPr/>
        </p:nvSpPr>
        <p:spPr>
          <a:xfrm>
            <a:off x="6739128" y="5486400"/>
            <a:ext cx="100584" cy="100584"/>
          </a:xfrm>
          <a:prstGeom prst="ellipse">
            <a:avLst/>
          </a:prstGeom>
          <a:solidFill>
            <a:srgbClr val="C08A2D"/>
          </a:solidFill>
          <a:ln/>
        </p:spPr>
      </p:sp>
      <p:sp>
        <p:nvSpPr>
          <p:cNvPr id="32" name="Text 30"/>
          <p:cNvSpPr/>
          <p:nvPr/>
        </p:nvSpPr>
        <p:spPr>
          <a:xfrm>
            <a:off x="7013448" y="5404104"/>
            <a:ext cx="4206240" cy="292608"/>
          </a:xfrm>
          <a:prstGeom prst="rect">
            <a:avLst/>
          </a:prstGeom>
          <a:noFill/>
          <a:ln/>
        </p:spPr>
        <p:txBody>
          <a:bodyPr wrap="square" lIns="0" tIns="0" rIns="0" bIns="0" rtlCol="0" anchor="ctr"/>
          <a:lstStyle/>
          <a:p>
            <a:pPr indent="0" marL="0">
              <a:buNone/>
            </a:pPr>
            <a:r>
              <a:rPr lang="en-US" sz="1250" dirty="0">
                <a:solidFill>
                  <a:srgbClr val="F6F3EC"/>
                </a:solidFill>
                <a:latin typeface="Calibri" pitchFamily="34" charset="0"/>
                <a:ea typeface="Calibri" pitchFamily="34" charset="-122"/>
                <a:cs typeface="Calibri" pitchFamily="34" charset="-120"/>
              </a:rPr>
              <a:t>El panel de la casa: caja, sellos y analítica</a:t>
            </a:r>
            <a:endParaRPr lang="en-US" sz="1250" dirty="0"/>
          </a:p>
        </p:txBody>
      </p:sp>
      <p:sp>
        <p:nvSpPr>
          <p:cNvPr id="33" name="Text 31"/>
          <p:cNvSpPr/>
          <p:nvPr/>
        </p:nvSpPr>
        <p:spPr>
          <a:xfrm>
            <a:off x="713232" y="6263640"/>
            <a:ext cx="7315200" cy="274320"/>
          </a:xfrm>
          <a:prstGeom prst="rect">
            <a:avLst/>
          </a:prstGeom>
          <a:noFill/>
          <a:ln/>
        </p:spPr>
        <p:txBody>
          <a:bodyPr wrap="square" lIns="0" tIns="0" rIns="0" bIns="0" rtlCol="0" anchor="ctr"/>
          <a:lstStyle/>
          <a:p>
            <a:pPr indent="0" marL="0">
              <a:buNone/>
            </a:pPr>
            <a:r>
              <a:rPr lang="en-US" sz="1200" dirty="0">
                <a:solidFill>
                  <a:srgbClr val="8C8578"/>
                </a:solidFill>
                <a:latin typeface="Calibri" pitchFamily="34" charset="0"/>
                <a:ea typeface="Calibri" pitchFamily="34" charset="-122"/>
                <a:cs typeface="Calibri" pitchFamily="34" charset="-120"/>
              </a:rPr>
              <a:t>club-lupita.el-molino.workers.dev</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Club Lupita — recorrido funcional</dc:title>
  <dc:subject>PptxGenJS Presentation</dc:subject>
  <dc:creator>La Bella Lupita</dc:creator>
  <cp:lastModifiedBy>La Bella Lupita</cp:lastModifiedBy>
  <cp:revision>1</cp:revision>
  <dcterms:created xsi:type="dcterms:W3CDTF">2026-08-25T16:38:05Z</dcterms:created>
  <dcterms:modified xsi:type="dcterms:W3CDTF">2026-08-25T16:38:05Z</dcterms:modified>
</cp:coreProperties>
</file>